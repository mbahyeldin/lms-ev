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45"/>
  </p:notesMasterIdLst>
  <p:handoutMasterIdLst>
    <p:handoutMasterId r:id="rId46"/>
  </p:handoutMasterIdLst>
  <p:sldIdLst>
    <p:sldId id="256" r:id="rId5"/>
    <p:sldId id="329" r:id="rId6"/>
    <p:sldId id="330" r:id="rId7"/>
    <p:sldId id="331" r:id="rId8"/>
    <p:sldId id="332" r:id="rId9"/>
    <p:sldId id="334" r:id="rId10"/>
    <p:sldId id="335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387" r:id="rId31"/>
    <p:sldId id="394" r:id="rId32"/>
    <p:sldId id="395" r:id="rId33"/>
    <p:sldId id="396" r:id="rId34"/>
    <p:sldId id="388" r:id="rId35"/>
    <p:sldId id="389" r:id="rId36"/>
    <p:sldId id="390" r:id="rId37"/>
    <p:sldId id="391" r:id="rId38"/>
    <p:sldId id="392" r:id="rId39"/>
    <p:sldId id="393" r:id="rId40"/>
    <p:sldId id="397" r:id="rId41"/>
    <p:sldId id="398" r:id="rId42"/>
    <p:sldId id="399" r:id="rId43"/>
    <p:sldId id="328" r:id="rId4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4D7FE53-884E-FB44-BA47-7F4DC794B0F8}">
          <p14:sldIdLst>
            <p14:sldId id="256"/>
          </p14:sldIdLst>
        </p14:section>
        <p14:section name="Slides" id="{FDC05B97-ECA3-814E-A7AC-D49BEC64439C}">
          <p14:sldIdLst>
            <p14:sldId id="329"/>
            <p14:sldId id="330"/>
            <p14:sldId id="331"/>
            <p14:sldId id="332"/>
            <p14:sldId id="334"/>
            <p14:sldId id="335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94"/>
            <p14:sldId id="395"/>
            <p14:sldId id="396"/>
            <p14:sldId id="388"/>
            <p14:sldId id="389"/>
            <p14:sldId id="390"/>
            <p14:sldId id="391"/>
            <p14:sldId id="392"/>
            <p14:sldId id="393"/>
            <p14:sldId id="397"/>
            <p14:sldId id="398"/>
            <p14:sldId id="399"/>
          </p14:sldIdLst>
        </p14:section>
        <p14:section name="Wrap-Up" id="{F53CF82D-9C9C-C848-AE6E-43FCDA4A19F2}">
          <p14:sldIdLst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6" autoAdjust="0"/>
    <p:restoredTop sz="81745" autoAdjust="0"/>
  </p:normalViewPr>
  <p:slideViewPr>
    <p:cSldViewPr snapToGrid="0" snapToObjects="1">
      <p:cViewPr varScale="1">
        <p:scale>
          <a:sx n="191" d="100"/>
          <a:sy n="191" d="100"/>
        </p:scale>
        <p:origin x="976" y="184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1" d="100"/>
          <a:sy n="101" d="100"/>
        </p:scale>
        <p:origin x="3552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handoutMaster" Target="handoutMasters/handoutMaster1.xml"/><Relationship Id="rId47" Type="http://schemas.openxmlformats.org/officeDocument/2006/relationships/commentAuthors" Target="commentAuthors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9" Type="http://schemas.openxmlformats.org/officeDocument/2006/relationships/slide" Target="slides/slide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3/14/18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3/14/18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825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14 March 2018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14 March 2018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3/14/18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Lab 4: Component Library</a:t>
            </a:r>
            <a:endParaRPr lang="en-US" dirty="0"/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22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we’ll be making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698" y="1130734"/>
            <a:ext cx="4243849" cy="401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80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we’ll be making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Link component</a:t>
            </a:r>
          </a:p>
          <a:p>
            <a:r>
              <a:rPr lang="en-GB" dirty="0" smtClean="0"/>
              <a:t>Primary Navigation component</a:t>
            </a:r>
          </a:p>
          <a:p>
            <a:r>
              <a:rPr lang="en-GB" dirty="0" smtClean="0"/>
              <a:t>Header component</a:t>
            </a:r>
          </a:p>
          <a:p>
            <a:r>
              <a:rPr lang="en-GB" dirty="0" smtClean="0"/>
              <a:t>Footer component</a:t>
            </a:r>
          </a:p>
          <a:p>
            <a:r>
              <a:rPr lang="en-GB" dirty="0" smtClean="0"/>
              <a:t>Site wrapper</a:t>
            </a:r>
          </a:p>
          <a:p>
            <a:r>
              <a:rPr lang="en-GB" dirty="0" smtClean="0"/>
              <a:t>Article component</a:t>
            </a:r>
          </a:p>
          <a:p>
            <a:r>
              <a:rPr lang="en-GB" dirty="0" smtClean="0"/>
              <a:t>Article template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89202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Header component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96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Planning our Header and Footer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Header needs:</a:t>
            </a:r>
          </a:p>
          <a:p>
            <a:pPr lvl="1"/>
            <a:r>
              <a:rPr lang="en-GB" dirty="0" smtClean="0"/>
              <a:t>Logo</a:t>
            </a:r>
          </a:p>
          <a:p>
            <a:pPr lvl="2"/>
            <a:r>
              <a:rPr lang="en-GB" dirty="0" err="1" smtClean="0"/>
              <a:t>Src</a:t>
            </a:r>
            <a:endParaRPr lang="en-GB" dirty="0" smtClean="0"/>
          </a:p>
          <a:p>
            <a:pPr lvl="1"/>
            <a:r>
              <a:rPr lang="en-GB" dirty="0" smtClean="0"/>
              <a:t>Primary Navigation</a:t>
            </a:r>
          </a:p>
          <a:p>
            <a:pPr lvl="2"/>
            <a:r>
              <a:rPr lang="en-GB" dirty="0" smtClean="0"/>
              <a:t>List of…</a:t>
            </a:r>
          </a:p>
          <a:p>
            <a:pPr lvl="3"/>
            <a:r>
              <a:rPr lang="en-GB" dirty="0" smtClean="0"/>
              <a:t>Link</a:t>
            </a:r>
          </a:p>
          <a:p>
            <a:pPr lvl="4"/>
            <a:r>
              <a:rPr lang="en-GB" dirty="0" smtClean="0"/>
              <a:t>Text</a:t>
            </a:r>
          </a:p>
          <a:p>
            <a:pPr lvl="4"/>
            <a:r>
              <a:rPr lang="en-GB" dirty="0" err="1" smtClean="0"/>
              <a:t>Href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Footer needs:</a:t>
            </a:r>
          </a:p>
          <a:p>
            <a:pPr lvl="1"/>
            <a:r>
              <a:rPr lang="en-GB" dirty="0" smtClean="0"/>
              <a:t>Footer Navigation</a:t>
            </a:r>
          </a:p>
          <a:p>
            <a:pPr lvl="2"/>
            <a:r>
              <a:rPr lang="en-GB" dirty="0" smtClean="0"/>
              <a:t>List of</a:t>
            </a:r>
            <a:r>
              <a:rPr lang="mr-IN" dirty="0" smtClean="0"/>
              <a:t>…</a:t>
            </a:r>
            <a:endParaRPr lang="en-US" dirty="0" smtClean="0"/>
          </a:p>
          <a:p>
            <a:pPr lvl="3"/>
            <a:r>
              <a:rPr lang="en-US" dirty="0" smtClean="0"/>
              <a:t>Link</a:t>
            </a:r>
          </a:p>
          <a:p>
            <a:pPr lvl="4"/>
            <a:r>
              <a:rPr lang="en-US" dirty="0" smtClean="0"/>
              <a:t>Text</a:t>
            </a:r>
          </a:p>
          <a:p>
            <a:pPr lvl="4"/>
            <a:r>
              <a:rPr lang="en-US" dirty="0" err="1" smtClean="0"/>
              <a:t>Href</a:t>
            </a:r>
            <a:endParaRPr lang="en-GB" dirty="0" smtClean="0"/>
          </a:p>
          <a:p>
            <a:pPr lvl="1"/>
            <a:r>
              <a:rPr lang="en-GB" dirty="0" smtClean="0"/>
              <a:t>Copyright message</a:t>
            </a:r>
          </a:p>
          <a:p>
            <a:pPr lvl="2"/>
            <a:r>
              <a:rPr lang="en-GB" dirty="0" smtClean="0"/>
              <a:t>Text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09" y="1036636"/>
            <a:ext cx="7942881" cy="4627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89" y="1600598"/>
            <a:ext cx="8001001" cy="31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7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Starting our Header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First we need our </a:t>
            </a:r>
            <a:r>
              <a:rPr lang="en-GB" dirty="0" err="1" smtClean="0"/>
              <a:t>markup</a:t>
            </a:r>
            <a:endParaRPr lang="en-GB" i="1" dirty="0"/>
          </a:p>
          <a:p>
            <a:r>
              <a:rPr lang="en-GB" dirty="0" smtClean="0"/>
              <a:t>Copy it from the site</a:t>
            </a:r>
          </a:p>
          <a:p>
            <a:r>
              <a:rPr lang="en-GB" dirty="0" smtClean="0"/>
              <a:t>Look for component patterns</a:t>
            </a:r>
          </a:p>
          <a:p>
            <a:pPr lvl="1"/>
            <a:r>
              <a:rPr lang="en-GB" dirty="0" smtClean="0"/>
              <a:t>Primary Navigation</a:t>
            </a:r>
          </a:p>
          <a:p>
            <a:pPr lvl="1"/>
            <a:r>
              <a:rPr lang="en-GB" dirty="0" smtClean="0"/>
              <a:t>Link</a:t>
            </a:r>
          </a:p>
          <a:p>
            <a:pPr lvl="1"/>
            <a:r>
              <a:rPr lang="en-GB" dirty="0" smtClean="0"/>
              <a:t>Image</a:t>
            </a:r>
          </a:p>
          <a:p>
            <a:endParaRPr lang="en-GB" dirty="0" smtClean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921" y="1369219"/>
            <a:ext cx="5149085" cy="3263504"/>
          </a:xfrm>
        </p:spPr>
      </p:pic>
      <p:sp>
        <p:nvSpPr>
          <p:cNvPr id="7" name="Rectangle 6"/>
          <p:cNvSpPr/>
          <p:nvPr/>
        </p:nvSpPr>
        <p:spPr>
          <a:xfrm>
            <a:off x="4341091" y="2733964"/>
            <a:ext cx="4008582" cy="16163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98473" y="3020291"/>
            <a:ext cx="1385454" cy="15701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5523345" y="2415311"/>
            <a:ext cx="1764146" cy="15701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99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Starting our Header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Easiest to start lowest</a:t>
            </a:r>
          </a:p>
          <a:p>
            <a:r>
              <a:rPr lang="en-GB" dirty="0" smtClean="0"/>
              <a:t>Start with a link</a:t>
            </a:r>
          </a:p>
          <a:p>
            <a:pPr lvl="1"/>
            <a:r>
              <a:rPr lang="en-GB" dirty="0" smtClean="0"/>
              <a:t>Contains </a:t>
            </a:r>
            <a:r>
              <a:rPr lang="en-GB" dirty="0" err="1" smtClean="0"/>
              <a:t>Href</a:t>
            </a:r>
            <a:endParaRPr lang="en-GB" dirty="0" smtClean="0"/>
          </a:p>
          <a:p>
            <a:pPr lvl="1"/>
            <a:r>
              <a:rPr lang="en-GB" dirty="0" smtClean="0"/>
              <a:t>And Text</a:t>
            </a:r>
          </a:p>
          <a:p>
            <a:pPr lvl="1"/>
            <a:r>
              <a:rPr lang="en-GB" dirty="0" smtClean="0"/>
              <a:t>These are Core components</a:t>
            </a:r>
          </a:p>
          <a:p>
            <a:r>
              <a:rPr lang="en-GB" dirty="0" smtClean="0"/>
              <a:t>Isolate the </a:t>
            </a:r>
            <a:r>
              <a:rPr lang="en-GB" dirty="0" err="1" smtClean="0"/>
              <a:t>markup</a:t>
            </a:r>
            <a:r>
              <a:rPr lang="en-GB" dirty="0" smtClean="0"/>
              <a:t> for a link</a:t>
            </a:r>
          </a:p>
          <a:p>
            <a:pPr lvl="1"/>
            <a:r>
              <a:rPr lang="en-GB" dirty="0"/>
              <a:t>&lt;a </a:t>
            </a:r>
            <a:r>
              <a:rPr lang="en-GB" dirty="0" err="1" smtClean="0"/>
              <a:t>href</a:t>
            </a:r>
            <a:r>
              <a:rPr lang="en-GB" dirty="0" smtClean="0"/>
              <a:t>="home.html"&gt;</a:t>
            </a:r>
            <a:r>
              <a:rPr lang="en-GB" dirty="0"/>
              <a:t>Home&lt;/a&gt;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smtClean="0"/>
              <a:t>Convert component items into fields</a:t>
            </a:r>
          </a:p>
          <a:p>
            <a:r>
              <a:rPr lang="en-GB" dirty="0" smtClean="0"/>
              <a:t>We use moustache syntax</a:t>
            </a:r>
          </a:p>
          <a:p>
            <a:pPr lvl="1"/>
            <a:r>
              <a:rPr lang="en-GB" dirty="0" smtClean="0"/>
              <a:t>&lt;a </a:t>
            </a:r>
            <a:r>
              <a:rPr lang="en-GB" dirty="0" err="1" smtClean="0"/>
              <a:t>href</a:t>
            </a:r>
            <a:r>
              <a:rPr lang="en-GB" dirty="0" smtClean="0"/>
              <a:t>="{</a:t>
            </a:r>
            <a:r>
              <a:rPr lang="en-GB" dirty="0" err="1" smtClean="0"/>
              <a:t>href</a:t>
            </a:r>
            <a:r>
              <a:rPr lang="en-GB" dirty="0" smtClean="0"/>
              <a:t>}"&gt;{name}&lt;/a&gt;</a:t>
            </a:r>
          </a:p>
          <a:p>
            <a:r>
              <a:rPr lang="en-GB" dirty="0" smtClean="0"/>
              <a:t>Now it’s ready to be a component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426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Link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In V3, navigate to /Training Sandbox /Component Library /Component Project /Component Library /Component Definitions</a:t>
            </a:r>
          </a:p>
          <a:p>
            <a:r>
              <a:rPr lang="en-GB" dirty="0" smtClean="0"/>
              <a:t>Go into your named folder</a:t>
            </a:r>
          </a:p>
          <a:p>
            <a:r>
              <a:rPr lang="en-GB" dirty="0" smtClean="0"/>
              <a:t>Choose File &gt; New &gt; Component</a:t>
            </a:r>
          </a:p>
          <a:p>
            <a:pPr lvl="1"/>
            <a:r>
              <a:rPr lang="en-GB" dirty="0" smtClean="0"/>
              <a:t>Name it “</a:t>
            </a:r>
            <a:r>
              <a:rPr lang="en-GB" i="1" dirty="0"/>
              <a:t>Y</a:t>
            </a:r>
            <a:r>
              <a:rPr lang="en-GB" i="1" dirty="0" smtClean="0"/>
              <a:t>our Name</a:t>
            </a:r>
            <a:r>
              <a:rPr lang="en-GB" dirty="0" smtClean="0"/>
              <a:t> Link”</a:t>
            </a:r>
          </a:p>
          <a:p>
            <a:pPr lvl="1"/>
            <a:r>
              <a:rPr lang="en-GB" dirty="0" smtClean="0"/>
              <a:t>Names MUST be unique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69219"/>
            <a:ext cx="3886200" cy="22703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503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Link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Go to the Form view</a:t>
            </a:r>
          </a:p>
          <a:p>
            <a:r>
              <a:rPr lang="en-GB" dirty="0" smtClean="0"/>
              <a:t>Type the </a:t>
            </a:r>
            <a:r>
              <a:rPr lang="en-GB" dirty="0" err="1" smtClean="0"/>
              <a:t>markup</a:t>
            </a:r>
            <a:endParaRPr lang="en-GB" dirty="0" smtClean="0"/>
          </a:p>
          <a:p>
            <a:pPr lvl="1"/>
            <a:r>
              <a:rPr lang="en-GB" dirty="0"/>
              <a:t>&lt;a </a:t>
            </a:r>
            <a:r>
              <a:rPr lang="en-GB" dirty="0" err="1"/>
              <a:t>href</a:t>
            </a:r>
            <a:r>
              <a:rPr lang="en-GB" dirty="0" smtClean="0"/>
              <a:t>="{</a:t>
            </a:r>
            <a:r>
              <a:rPr lang="en-GB" dirty="0" err="1" smtClean="0"/>
              <a:t>href</a:t>
            </a:r>
            <a:r>
              <a:rPr lang="en-GB" dirty="0" smtClean="0"/>
              <a:t>}"&gt;{name}&lt;/</a:t>
            </a:r>
            <a:r>
              <a:rPr lang="en-GB" dirty="0"/>
              <a:t>a</a:t>
            </a:r>
            <a:r>
              <a:rPr lang="en-GB" dirty="0" smtClean="0"/>
              <a:t>&gt;</a:t>
            </a:r>
          </a:p>
          <a:p>
            <a:r>
              <a:rPr lang="en-GB" dirty="0" smtClean="0"/>
              <a:t>Click Save</a:t>
            </a:r>
          </a:p>
          <a:p>
            <a:pPr lvl="1"/>
            <a:r>
              <a:rPr lang="en-GB" dirty="0" smtClean="0"/>
              <a:t>Wait for the green box</a:t>
            </a:r>
          </a:p>
          <a:p>
            <a:r>
              <a:rPr lang="en-GB" dirty="0" smtClean="0"/>
              <a:t>Click     to reload the view</a:t>
            </a:r>
          </a:p>
          <a:p>
            <a:pPr lvl="1"/>
            <a:r>
              <a:rPr lang="en-GB" dirty="0" smtClean="0"/>
              <a:t>Scroll to the bottom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526464"/>
            <a:ext cx="3886200" cy="16061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859" y="3695700"/>
            <a:ext cx="190500" cy="19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726" y="3289855"/>
            <a:ext cx="3938323" cy="16869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992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Link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Component Library has analysed the </a:t>
            </a:r>
            <a:r>
              <a:rPr lang="en-GB" dirty="0" err="1" smtClean="0"/>
              <a:t>markup</a:t>
            </a:r>
            <a:r>
              <a:rPr lang="en-GB" dirty="0" smtClean="0"/>
              <a:t> that we pasted</a:t>
            </a:r>
          </a:p>
          <a:p>
            <a:r>
              <a:rPr lang="en-GB" dirty="0" smtClean="0"/>
              <a:t>It found two components</a:t>
            </a:r>
          </a:p>
          <a:p>
            <a:pPr lvl="1"/>
            <a:r>
              <a:rPr lang="en-GB" dirty="0" smtClean="0"/>
              <a:t>Expand “</a:t>
            </a:r>
            <a:r>
              <a:rPr lang="en-GB" dirty="0" err="1" smtClean="0"/>
              <a:t>href</a:t>
            </a:r>
            <a:r>
              <a:rPr lang="en-GB" dirty="0" smtClean="0"/>
              <a:t> Text Component”</a:t>
            </a:r>
          </a:p>
          <a:p>
            <a:pPr lvl="1"/>
            <a:r>
              <a:rPr lang="en-GB" dirty="0" smtClean="0"/>
              <a:t>All are initially core: Text</a:t>
            </a:r>
          </a:p>
          <a:p>
            <a:pPr lvl="1"/>
            <a:r>
              <a:rPr lang="en-GB" dirty="0" smtClean="0"/>
              <a:t>Change it to “core: </a:t>
            </a:r>
            <a:r>
              <a:rPr lang="en-GB" dirty="0" err="1" smtClean="0"/>
              <a:t>Href</a:t>
            </a:r>
            <a:r>
              <a:rPr lang="en-GB" dirty="0" smtClean="0"/>
              <a:t>”</a:t>
            </a:r>
          </a:p>
          <a:p>
            <a:pPr lvl="1"/>
            <a:r>
              <a:rPr lang="en-GB" dirty="0" smtClean="0"/>
              <a:t>Name should be of type Text</a:t>
            </a:r>
          </a:p>
          <a:p>
            <a:pPr lvl="1"/>
            <a:r>
              <a:rPr lang="en-GB" dirty="0" smtClean="0"/>
              <a:t>So nothing to do there</a:t>
            </a:r>
          </a:p>
          <a:p>
            <a:r>
              <a:rPr lang="en-GB" dirty="0" smtClean="0"/>
              <a:t>Click Save and then      to reload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900" y="1370013"/>
            <a:ext cx="3194699" cy="3262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605" y="4231409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9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Link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Go to the Preview Content tab</a:t>
            </a:r>
          </a:p>
          <a:p>
            <a:r>
              <a:rPr lang="en-GB" dirty="0" smtClean="0"/>
              <a:t>This shows a preview of the component input</a:t>
            </a:r>
          </a:p>
          <a:p>
            <a:pPr lvl="1"/>
            <a:r>
              <a:rPr lang="en-GB" dirty="0" smtClean="0"/>
              <a:t>Also uses this data for a preview</a:t>
            </a:r>
          </a:p>
          <a:p>
            <a:r>
              <a:rPr lang="en-GB" dirty="0" smtClean="0"/>
              <a:t>Try out the </a:t>
            </a:r>
            <a:r>
              <a:rPr lang="en-GB" dirty="0" err="1" smtClean="0"/>
              <a:t>Href</a:t>
            </a:r>
            <a:r>
              <a:rPr lang="en-GB" dirty="0" smtClean="0"/>
              <a:t> component</a:t>
            </a:r>
          </a:p>
          <a:p>
            <a:pPr lvl="1"/>
            <a:r>
              <a:rPr lang="en-GB" dirty="0" smtClean="0"/>
              <a:t>Choice of Internal/External</a:t>
            </a:r>
          </a:p>
          <a:p>
            <a:pPr lvl="1"/>
            <a:r>
              <a:rPr lang="en-GB" dirty="0" smtClean="0"/>
              <a:t>Internal gives an asset picker</a:t>
            </a:r>
          </a:p>
          <a:p>
            <a:pPr lvl="1"/>
            <a:r>
              <a:rPr lang="en-GB" dirty="0" smtClean="0"/>
              <a:t>External gives a text box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369219"/>
            <a:ext cx="3886200" cy="19568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020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Primary Navigation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link is ready to be used</a:t>
            </a:r>
          </a:p>
          <a:p>
            <a:r>
              <a:rPr lang="en-GB" dirty="0"/>
              <a:t>Choose File &gt; New &gt; Component</a:t>
            </a:r>
          </a:p>
          <a:p>
            <a:pPr lvl="1"/>
            <a:r>
              <a:rPr lang="en-GB" dirty="0"/>
              <a:t>Name it </a:t>
            </a:r>
            <a:r>
              <a:rPr lang="en-GB" dirty="0" smtClean="0"/>
              <a:t>“</a:t>
            </a:r>
            <a:r>
              <a:rPr lang="en-GB" i="1" dirty="0"/>
              <a:t>Y</a:t>
            </a:r>
            <a:r>
              <a:rPr lang="en-GB" i="1" dirty="0" smtClean="0"/>
              <a:t>our Name</a:t>
            </a:r>
            <a:r>
              <a:rPr lang="en-GB" dirty="0" smtClean="0"/>
              <a:t> Primary </a:t>
            </a:r>
            <a:r>
              <a:rPr lang="en-GB" dirty="0" err="1" smtClean="0"/>
              <a:t>Nav</a:t>
            </a:r>
            <a:r>
              <a:rPr lang="en-GB" dirty="0" smtClean="0"/>
              <a:t>”</a:t>
            </a:r>
            <a:endParaRPr lang="en-GB" dirty="0"/>
          </a:p>
          <a:p>
            <a:r>
              <a:rPr lang="en-GB" dirty="0" smtClean="0"/>
              <a:t>Go to the Form view</a:t>
            </a:r>
          </a:p>
          <a:p>
            <a:pPr lvl="1"/>
            <a:r>
              <a:rPr lang="en-GB" dirty="0" smtClean="0"/>
              <a:t>Type the following </a:t>
            </a:r>
            <a:r>
              <a:rPr lang="en-GB" dirty="0" err="1" smtClean="0"/>
              <a:t>markup</a:t>
            </a:r>
            <a:endParaRPr lang="en-GB" dirty="0" smtClean="0"/>
          </a:p>
          <a:p>
            <a:r>
              <a:rPr lang="en-GB" dirty="0"/>
              <a:t>&lt;</a:t>
            </a:r>
            <a:r>
              <a:rPr lang="en-GB" dirty="0" err="1"/>
              <a:t>cp</a:t>
            </a:r>
            <a:r>
              <a:rPr lang="en-GB" dirty="0"/>
              <a:t>-list&gt; is special </a:t>
            </a:r>
            <a:r>
              <a:rPr lang="en-GB" dirty="0" err="1"/>
              <a:t>markup</a:t>
            </a:r>
            <a:endParaRPr lang="en-GB" dirty="0"/>
          </a:p>
          <a:p>
            <a:pPr lvl="1"/>
            <a:r>
              <a:rPr lang="en-GB" dirty="0"/>
              <a:t>Contents go into a panel</a:t>
            </a:r>
          </a:p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&lt;</a:t>
            </a:r>
            <a:r>
              <a:rPr lang="en-GB" sz="1600" b="1" dirty="0" err="1">
                <a:solidFill>
                  <a:schemeClr val="tx1"/>
                </a:solidFill>
              </a:rPr>
              <a:t>ul</a:t>
            </a:r>
            <a:r>
              <a:rPr lang="en-GB" sz="1600" b="1" dirty="0">
                <a:solidFill>
                  <a:schemeClr val="tx1"/>
                </a:solidFill>
              </a:rPr>
              <a:t> class="</a:t>
            </a:r>
            <a:r>
              <a:rPr lang="en-GB" sz="1600" b="1" dirty="0" err="1">
                <a:solidFill>
                  <a:schemeClr val="tx1"/>
                </a:solidFill>
              </a:rPr>
              <a:t>nav</a:t>
            </a:r>
            <a:r>
              <a:rPr lang="en-GB" sz="1600" b="1" dirty="0">
                <a:solidFill>
                  <a:schemeClr val="tx1"/>
                </a:solidFill>
              </a:rPr>
              <a:t> </a:t>
            </a:r>
            <a:r>
              <a:rPr lang="en-GB" sz="1600" b="1" dirty="0" err="1">
                <a:solidFill>
                  <a:schemeClr val="tx1"/>
                </a:solidFill>
              </a:rPr>
              <a:t>navbar-nav</a:t>
            </a:r>
            <a:r>
              <a:rPr lang="en-GB" sz="1600" b="1" dirty="0">
                <a:solidFill>
                  <a:schemeClr val="tx1"/>
                </a:solidFill>
              </a:rPr>
              <a:t> </a:t>
            </a:r>
            <a:r>
              <a:rPr lang="en-GB" sz="1600" b="1" dirty="0" err="1">
                <a:solidFill>
                  <a:schemeClr val="tx1"/>
                </a:solidFill>
              </a:rPr>
              <a:t>navbar</a:t>
            </a:r>
            <a:r>
              <a:rPr lang="en-GB" sz="1600" b="1" dirty="0">
                <a:solidFill>
                  <a:schemeClr val="tx1"/>
                </a:solidFill>
              </a:rPr>
              <a:t>-right</a:t>
            </a:r>
            <a:r>
              <a:rPr lang="en-GB" sz="1600" b="1" dirty="0" smtClean="0">
                <a:solidFill>
                  <a:schemeClr val="tx1"/>
                </a:solidFill>
              </a:rPr>
              <a:t>"&gt;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&lt;</a:t>
            </a:r>
            <a:r>
              <a:rPr lang="en-GB" sz="1600" b="1" dirty="0" err="1">
                <a:solidFill>
                  <a:schemeClr val="tx1"/>
                </a:solidFill>
              </a:rPr>
              <a:t>cp</a:t>
            </a:r>
            <a:r>
              <a:rPr lang="en-GB" sz="1600" b="1" dirty="0">
                <a:solidFill>
                  <a:schemeClr val="tx1"/>
                </a:solidFill>
              </a:rPr>
              <a:t>-list name="</a:t>
            </a:r>
            <a:r>
              <a:rPr lang="en-GB" sz="1600" b="1" dirty="0" err="1">
                <a:solidFill>
                  <a:schemeClr val="tx1"/>
                </a:solidFill>
              </a:rPr>
              <a:t>nav_list</a:t>
            </a:r>
            <a:r>
              <a:rPr lang="en-GB" sz="1600" b="1" dirty="0" smtClean="0">
                <a:solidFill>
                  <a:schemeClr val="tx1"/>
                </a:solidFill>
              </a:rPr>
              <a:t>"&gt;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&lt;li</a:t>
            </a:r>
            <a:r>
              <a:rPr lang="en-GB" sz="1600" b="1" dirty="0" smtClean="0">
                <a:solidFill>
                  <a:schemeClr val="tx1"/>
                </a:solidFill>
              </a:rPr>
              <a:t>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          </a:t>
            </a:r>
            <a:r>
              <a:rPr lang="en-GB" sz="1600" b="1" dirty="0">
                <a:solidFill>
                  <a:schemeClr val="tx1"/>
                </a:solidFill>
              </a:rPr>
              <a:t>{</a:t>
            </a:r>
            <a:r>
              <a:rPr lang="en-GB" sz="1600" b="1" dirty="0" smtClean="0">
                <a:solidFill>
                  <a:schemeClr val="tx1"/>
                </a:solidFill>
              </a:rPr>
              <a:t>item}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&lt;/li</a:t>
            </a:r>
            <a:r>
              <a:rPr lang="en-GB" sz="1600" b="1" dirty="0" smtClean="0">
                <a:solidFill>
                  <a:schemeClr val="tx1"/>
                </a:solidFill>
              </a:rPr>
              <a:t>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&lt;/</a:t>
            </a:r>
            <a:r>
              <a:rPr lang="en-GB" sz="1600" b="1" dirty="0" err="1">
                <a:solidFill>
                  <a:schemeClr val="tx1"/>
                </a:solidFill>
              </a:rPr>
              <a:t>cp</a:t>
            </a:r>
            <a:r>
              <a:rPr lang="en-GB" sz="1600" b="1" dirty="0">
                <a:solidFill>
                  <a:schemeClr val="tx1"/>
                </a:solidFill>
              </a:rPr>
              <a:t>-list</a:t>
            </a:r>
            <a:r>
              <a:rPr lang="en-GB" sz="1600" b="1" dirty="0" smtClean="0">
                <a:solidFill>
                  <a:schemeClr val="tx1"/>
                </a:solidFill>
              </a:rPr>
              <a:t>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&lt;/</a:t>
            </a:r>
            <a:r>
              <a:rPr lang="en-GB" sz="1600" b="1" dirty="0" err="1">
                <a:solidFill>
                  <a:schemeClr val="tx1"/>
                </a:solidFill>
              </a:rPr>
              <a:t>ul</a:t>
            </a:r>
            <a:r>
              <a:rPr lang="en-GB" sz="1600" b="1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8606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Primary Navigation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Save and reload the view</a:t>
            </a:r>
          </a:p>
          <a:p>
            <a:r>
              <a:rPr lang="en-GB" dirty="0" smtClean="0"/>
              <a:t>Expand the </a:t>
            </a:r>
            <a:r>
              <a:rPr lang="en-GB" dirty="0" err="1" smtClean="0"/>
              <a:t>nav_list</a:t>
            </a:r>
            <a:r>
              <a:rPr lang="en-GB" dirty="0" smtClean="0"/>
              <a:t> List panel</a:t>
            </a:r>
          </a:p>
          <a:p>
            <a:r>
              <a:rPr lang="en-GB" dirty="0" smtClean="0"/>
              <a:t>Expand the </a:t>
            </a:r>
            <a:r>
              <a:rPr lang="en-GB" dirty="0" err="1" smtClean="0"/>
              <a:t>nav_list</a:t>
            </a:r>
            <a:r>
              <a:rPr lang="en-GB" dirty="0" smtClean="0"/>
              <a:t> sub components</a:t>
            </a:r>
          </a:p>
          <a:p>
            <a:pPr lvl="1"/>
            <a:r>
              <a:rPr lang="en-GB" dirty="0" smtClean="0"/>
              <a:t>Change the type to</a:t>
            </a:r>
          </a:p>
          <a:p>
            <a:pPr lvl="1"/>
            <a:r>
              <a:rPr lang="en-GB" i="1" dirty="0" smtClean="0"/>
              <a:t>Your Name</a:t>
            </a:r>
            <a:r>
              <a:rPr lang="en-GB" dirty="0" smtClean="0"/>
              <a:t>: </a:t>
            </a:r>
            <a:r>
              <a:rPr lang="en-GB" i="1" dirty="0" err="1" smtClean="0"/>
              <a:t>YourName</a:t>
            </a:r>
            <a:r>
              <a:rPr lang="en-GB" dirty="0" err="1" smtClean="0"/>
              <a:t>Link</a:t>
            </a:r>
            <a:endParaRPr lang="en-GB" dirty="0" smtClean="0"/>
          </a:p>
          <a:p>
            <a:pPr lvl="1"/>
            <a:r>
              <a:rPr lang="en-GB" dirty="0" smtClean="0"/>
              <a:t>(Spaces are removed from names)</a:t>
            </a:r>
          </a:p>
          <a:p>
            <a:r>
              <a:rPr lang="en-GB" dirty="0" smtClean="0"/>
              <a:t>Save and refresh the view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268016"/>
            <a:ext cx="3886200" cy="25278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27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Primary Navigation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Go to the Preview Content tab</a:t>
            </a:r>
          </a:p>
          <a:p>
            <a:r>
              <a:rPr lang="en-GB" dirty="0" smtClean="0"/>
              <a:t>The link component’s input is shown</a:t>
            </a:r>
          </a:p>
          <a:p>
            <a:r>
              <a:rPr lang="en-GB" dirty="0" smtClean="0"/>
              <a:t>And we have controls to add more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369219"/>
            <a:ext cx="4139624" cy="22712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952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Header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The Primary Navigation is ready</a:t>
            </a:r>
          </a:p>
          <a:p>
            <a:r>
              <a:rPr lang="en-GB" dirty="0" smtClean="0"/>
              <a:t>Choose File &gt; New &gt; Component</a:t>
            </a:r>
          </a:p>
          <a:p>
            <a:pPr lvl="1"/>
            <a:r>
              <a:rPr lang="en-GB" dirty="0" smtClean="0"/>
              <a:t>Name it “Y</a:t>
            </a:r>
            <a:r>
              <a:rPr lang="en-GB" i="1" dirty="0" smtClean="0"/>
              <a:t>our Name</a:t>
            </a:r>
            <a:r>
              <a:rPr lang="en-GB" dirty="0" smtClean="0"/>
              <a:t> Header”</a:t>
            </a:r>
          </a:p>
          <a:p>
            <a:r>
              <a:rPr lang="en-GB" dirty="0" smtClean="0"/>
              <a:t>Go to the Form view</a:t>
            </a:r>
          </a:p>
          <a:p>
            <a:pPr lvl="1"/>
            <a:r>
              <a:rPr lang="en-GB" dirty="0" smtClean="0"/>
              <a:t>Add the following </a:t>
            </a:r>
            <a:r>
              <a:rPr lang="en-GB" dirty="0" err="1" smtClean="0"/>
              <a:t>markup</a:t>
            </a:r>
            <a:endParaRPr lang="en-GB" dirty="0" smtClean="0"/>
          </a:p>
          <a:p>
            <a:r>
              <a:rPr lang="en-GB" dirty="0" smtClean="0"/>
              <a:t>The {name : type} syntax is new</a:t>
            </a:r>
          </a:p>
          <a:p>
            <a:pPr lvl="1"/>
            <a:r>
              <a:rPr lang="en-GB" dirty="0" smtClean="0"/>
              <a:t>Tells the CL the type we want</a:t>
            </a:r>
          </a:p>
          <a:p>
            <a:pPr lvl="1"/>
            <a:r>
              <a:rPr lang="en-GB" dirty="0" smtClean="0"/>
              <a:t>Case sensitive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473" y="1268016"/>
            <a:ext cx="4922444" cy="3015863"/>
          </a:xfrm>
        </p:spPr>
      </p:pic>
    </p:spTree>
    <p:extLst>
      <p:ext uri="{BB962C8B-B14F-4D97-AF65-F5344CB8AC3E}">
        <p14:creationId xmlns:p14="http://schemas.microsoft.com/office/powerpoint/2010/main" val="138279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Header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Save and reload the view</a:t>
            </a:r>
          </a:p>
          <a:p>
            <a:r>
              <a:rPr lang="en-GB" dirty="0" smtClean="0"/>
              <a:t>Go to the Preview Content tab</a:t>
            </a:r>
          </a:p>
          <a:p>
            <a:r>
              <a:rPr lang="en-GB" dirty="0" smtClean="0"/>
              <a:t>Working well</a:t>
            </a:r>
          </a:p>
          <a:p>
            <a:pPr lvl="1"/>
            <a:r>
              <a:rPr lang="en-GB" dirty="0" smtClean="0"/>
              <a:t>Multiple inputs can get confusing</a:t>
            </a:r>
          </a:p>
          <a:p>
            <a:pPr lvl="1"/>
            <a:r>
              <a:rPr lang="en-GB" dirty="0" smtClean="0"/>
              <a:t>Could use some clues for the user</a:t>
            </a:r>
          </a:p>
          <a:p>
            <a:r>
              <a:rPr lang="en-GB" dirty="0" smtClean="0"/>
              <a:t>Expand the </a:t>
            </a:r>
            <a:r>
              <a:rPr lang="en-GB" i="1" dirty="0" err="1" smtClean="0"/>
              <a:t>Name</a:t>
            </a:r>
            <a:r>
              <a:rPr lang="en-GB" dirty="0" err="1" smtClean="0"/>
              <a:t>PrimaryNav</a:t>
            </a:r>
            <a:r>
              <a:rPr lang="en-GB" dirty="0" smtClean="0"/>
              <a:t> panel</a:t>
            </a:r>
          </a:p>
          <a:p>
            <a:pPr lvl="1"/>
            <a:r>
              <a:rPr lang="en-GB" dirty="0" smtClean="0"/>
              <a:t>Enter “Primary Navigation” in the Message Field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433534"/>
            <a:ext cx="3886200" cy="313526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881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Header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Save and reload the view</a:t>
            </a:r>
          </a:p>
          <a:p>
            <a:r>
              <a:rPr lang="en-GB" dirty="0" smtClean="0"/>
              <a:t>Go to the Preview Content tab</a:t>
            </a:r>
          </a:p>
          <a:p>
            <a:r>
              <a:rPr lang="en-GB" dirty="0" smtClean="0"/>
              <a:t>Now we have some separation</a:t>
            </a:r>
          </a:p>
          <a:p>
            <a:pPr lvl="1"/>
            <a:r>
              <a:rPr lang="en-GB" dirty="0" smtClean="0"/>
              <a:t>Add more if you wish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386599"/>
            <a:ext cx="3886200" cy="32291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598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Footer component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03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Footer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Choose File &gt; New &gt; Component</a:t>
            </a:r>
          </a:p>
          <a:p>
            <a:pPr lvl="1"/>
            <a:r>
              <a:rPr lang="en-GB" dirty="0"/>
              <a:t>Name it </a:t>
            </a:r>
            <a:r>
              <a:rPr lang="en-GB" dirty="0" smtClean="0"/>
              <a:t>“Y</a:t>
            </a:r>
            <a:r>
              <a:rPr lang="en-GB" i="1" dirty="0" smtClean="0"/>
              <a:t>our Name</a:t>
            </a:r>
            <a:r>
              <a:rPr lang="en-GB" dirty="0" smtClean="0"/>
              <a:t> Footer”</a:t>
            </a:r>
          </a:p>
          <a:p>
            <a:r>
              <a:rPr lang="en-GB" dirty="0" smtClean="0"/>
              <a:t>Go to Form view</a:t>
            </a:r>
          </a:p>
          <a:p>
            <a:r>
              <a:rPr lang="en-GB" dirty="0" smtClean="0"/>
              <a:t>Add the following </a:t>
            </a:r>
            <a:r>
              <a:rPr lang="en-GB" dirty="0" err="1" smtClean="0"/>
              <a:t>markup</a:t>
            </a:r>
            <a:endParaRPr lang="en-GB" dirty="0" smtClean="0"/>
          </a:p>
          <a:p>
            <a:r>
              <a:rPr lang="en-GB" dirty="0" smtClean="0"/>
              <a:t>Save and reload the view</a:t>
            </a:r>
          </a:p>
          <a:p>
            <a:r>
              <a:rPr lang="en-GB" dirty="0" smtClean="0"/>
              <a:t>Check the preview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&lt;footer class="footer</a:t>
            </a:r>
            <a:r>
              <a:rPr lang="en-GB" sz="1600" b="1" dirty="0" smtClean="0">
                <a:solidFill>
                  <a:schemeClr val="tx1"/>
                </a:solidFill>
              </a:rPr>
              <a:t>"&gt;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&lt;</a:t>
            </a:r>
            <a:r>
              <a:rPr lang="en-GB" sz="1600" b="1" dirty="0">
                <a:solidFill>
                  <a:schemeClr val="tx1"/>
                </a:solidFill>
              </a:rPr>
              <a:t>div class="container</a:t>
            </a:r>
            <a:r>
              <a:rPr lang="en-GB" sz="1600" b="1" dirty="0" smtClean="0">
                <a:solidFill>
                  <a:schemeClr val="tx1"/>
                </a:solidFill>
              </a:rPr>
              <a:t>"&gt;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  &lt;</a:t>
            </a:r>
            <a:r>
              <a:rPr lang="en-GB" sz="1600" b="1" dirty="0">
                <a:solidFill>
                  <a:schemeClr val="tx1"/>
                </a:solidFill>
              </a:rPr>
              <a:t>div class="row</a:t>
            </a:r>
            <a:r>
              <a:rPr lang="en-GB" sz="1600" b="1" dirty="0" smtClean="0">
                <a:solidFill>
                  <a:schemeClr val="tx1"/>
                </a:solidFill>
              </a:rPr>
              <a:t>"&gt;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    &lt;</a:t>
            </a:r>
            <a:r>
              <a:rPr lang="en-GB" sz="1600" b="1" dirty="0">
                <a:solidFill>
                  <a:schemeClr val="tx1"/>
                </a:solidFill>
              </a:rPr>
              <a:t>p class="text-muted</a:t>
            </a:r>
            <a:r>
              <a:rPr lang="en-GB" sz="1600" b="1" dirty="0" smtClean="0">
                <a:solidFill>
                  <a:schemeClr val="tx1"/>
                </a:solidFill>
              </a:rPr>
              <a:t>"&gt;{copyright}&lt;/</a:t>
            </a:r>
            <a:r>
              <a:rPr lang="en-GB" sz="1600" b="1" dirty="0">
                <a:solidFill>
                  <a:schemeClr val="tx1"/>
                </a:solidFill>
              </a:rPr>
              <a:t>p</a:t>
            </a:r>
            <a:r>
              <a:rPr lang="en-GB" sz="1600" b="1" dirty="0" smtClean="0">
                <a:solidFill>
                  <a:schemeClr val="tx1"/>
                </a:solidFill>
              </a:rPr>
              <a:t>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&lt;/div</a:t>
            </a:r>
            <a:r>
              <a:rPr lang="en-GB" sz="1600" b="1" dirty="0" smtClean="0">
                <a:solidFill>
                  <a:schemeClr val="tx1"/>
                </a:solidFill>
              </a:rPr>
              <a:t>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  </a:t>
            </a:r>
            <a:r>
              <a:rPr lang="en-GB" sz="1600" b="1" dirty="0">
                <a:solidFill>
                  <a:schemeClr val="tx1"/>
                </a:solidFill>
              </a:rPr>
              <a:t>&lt;/div</a:t>
            </a:r>
            <a:r>
              <a:rPr lang="en-GB" sz="1600" b="1" dirty="0" smtClean="0">
                <a:solidFill>
                  <a:schemeClr val="tx1"/>
                </a:solidFill>
              </a:rPr>
              <a:t>&gt;</a:t>
            </a:r>
            <a:br>
              <a:rPr lang="en-GB" sz="1600" b="1" dirty="0" smtClean="0">
                <a:solidFill>
                  <a:schemeClr val="tx1"/>
                </a:solidFill>
              </a:rPr>
            </a:br>
            <a:r>
              <a:rPr lang="en-GB" sz="1600" b="1" dirty="0" smtClean="0">
                <a:solidFill>
                  <a:schemeClr val="tx1"/>
                </a:solidFill>
              </a:rPr>
              <a:t>&lt;/</a:t>
            </a:r>
            <a:r>
              <a:rPr lang="en-GB" sz="1600" b="1" dirty="0">
                <a:solidFill>
                  <a:schemeClr val="tx1"/>
                </a:solidFill>
              </a:rPr>
              <a:t>footer&gt;</a:t>
            </a:r>
          </a:p>
        </p:txBody>
      </p:sp>
    </p:spTree>
    <p:extLst>
      <p:ext uri="{BB962C8B-B14F-4D97-AF65-F5344CB8AC3E}">
        <p14:creationId xmlns:p14="http://schemas.microsoft.com/office/powerpoint/2010/main" val="359774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Site Wrapper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03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Site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 V3, navigate to /Training </a:t>
            </a:r>
            <a:r>
              <a:rPr lang="en-GB" dirty="0" smtClean="0"/>
              <a:t>Sandbox /Component Library /</a:t>
            </a:r>
            <a:r>
              <a:rPr lang="en-GB" dirty="0"/>
              <a:t>Component </a:t>
            </a:r>
            <a:r>
              <a:rPr lang="en-GB" dirty="0" smtClean="0"/>
              <a:t>Project /</a:t>
            </a:r>
            <a:r>
              <a:rPr lang="en-GB" dirty="0"/>
              <a:t>Component </a:t>
            </a:r>
            <a:r>
              <a:rPr lang="en-GB" dirty="0" smtClean="0"/>
              <a:t>Library /</a:t>
            </a:r>
            <a:r>
              <a:rPr lang="en-GB" dirty="0" err="1"/>
              <a:t>Nav</a:t>
            </a:r>
            <a:r>
              <a:rPr lang="en-GB" dirty="0"/>
              <a:t> Wrapper </a:t>
            </a:r>
            <a:r>
              <a:rPr lang="en-GB" dirty="0" smtClean="0"/>
              <a:t>Definitions</a:t>
            </a:r>
          </a:p>
          <a:p>
            <a:r>
              <a:rPr lang="en-GB" dirty="0" smtClean="0"/>
              <a:t>Go </a:t>
            </a:r>
            <a:r>
              <a:rPr lang="en-GB" dirty="0"/>
              <a:t>into your named folder</a:t>
            </a:r>
          </a:p>
          <a:p>
            <a:r>
              <a:rPr lang="en-GB" dirty="0"/>
              <a:t>Choose File &gt; New &gt; </a:t>
            </a:r>
            <a:r>
              <a:rPr lang="en-GB" dirty="0" smtClean="0"/>
              <a:t>Training Wrapper</a:t>
            </a:r>
            <a:endParaRPr lang="en-GB" dirty="0"/>
          </a:p>
          <a:p>
            <a:pPr lvl="1"/>
            <a:r>
              <a:rPr lang="en-GB" dirty="0"/>
              <a:t>Name it </a:t>
            </a:r>
            <a:r>
              <a:rPr lang="en-GB" dirty="0" smtClean="0"/>
              <a:t>“Y</a:t>
            </a:r>
            <a:r>
              <a:rPr lang="en-GB" i="1" dirty="0" smtClean="0"/>
              <a:t>our Name</a:t>
            </a:r>
            <a:r>
              <a:rPr lang="en-GB" dirty="0" smtClean="0"/>
              <a:t> Wrapper”</a:t>
            </a:r>
          </a:p>
          <a:p>
            <a:r>
              <a:rPr lang="en-GB" dirty="0" smtClean="0"/>
              <a:t>Go to Form view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369219"/>
            <a:ext cx="3886200" cy="22750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18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Site Wrapper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Some defaults are set up for us</a:t>
            </a:r>
          </a:p>
          <a:p>
            <a:r>
              <a:rPr lang="en-GB" dirty="0" smtClean="0"/>
              <a:t>In the Header section</a:t>
            </a:r>
          </a:p>
          <a:p>
            <a:pPr lvl="1"/>
            <a:r>
              <a:rPr lang="en-GB" dirty="0" smtClean="0"/>
              <a:t>Expand Components</a:t>
            </a:r>
          </a:p>
          <a:p>
            <a:pPr lvl="1"/>
            <a:r>
              <a:rPr lang="en-GB" dirty="0" smtClean="0"/>
              <a:t>Expand Customize</a:t>
            </a:r>
          </a:p>
          <a:p>
            <a:pPr lvl="1"/>
            <a:r>
              <a:rPr lang="en-GB" dirty="0" smtClean="0"/>
              <a:t>Select your Header component</a:t>
            </a:r>
          </a:p>
          <a:p>
            <a:r>
              <a:rPr lang="en-GB" dirty="0" smtClean="0"/>
              <a:t>In the Footer section</a:t>
            </a:r>
          </a:p>
          <a:p>
            <a:pPr lvl="1"/>
            <a:r>
              <a:rPr lang="en-GB" dirty="0" smtClean="0"/>
              <a:t>Repeat the above steps</a:t>
            </a:r>
          </a:p>
          <a:p>
            <a:r>
              <a:rPr lang="en-GB" dirty="0" smtClean="0"/>
              <a:t>This defined header and footer components for the wrapper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19" y="1370013"/>
            <a:ext cx="3612060" cy="3262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542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Site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Go to the Wrapper tab</a:t>
            </a:r>
          </a:p>
          <a:p>
            <a:pPr lvl="1"/>
            <a:r>
              <a:rPr lang="en-GB" dirty="0" smtClean="0"/>
              <a:t>Expand the Header section</a:t>
            </a:r>
          </a:p>
          <a:p>
            <a:r>
              <a:rPr lang="en-GB" dirty="0" smtClean="0"/>
              <a:t>Before &lt;/head&gt; add:</a:t>
            </a:r>
          </a:p>
          <a:p>
            <a:pPr lvl="1"/>
            <a:r>
              <a:rPr lang="en-GB" dirty="0" smtClean="0"/>
              <a:t>{</a:t>
            </a:r>
            <a:r>
              <a:rPr lang="en-GB" dirty="0" err="1"/>
              <a:t>css</a:t>
            </a:r>
            <a:r>
              <a:rPr lang="en-GB" dirty="0" smtClean="0"/>
              <a:t>}</a:t>
            </a:r>
            <a:endParaRPr lang="en-GB" dirty="0"/>
          </a:p>
          <a:p>
            <a:pPr lvl="1"/>
            <a:r>
              <a:rPr lang="en-GB" dirty="0" smtClean="0"/>
              <a:t>{</a:t>
            </a:r>
            <a:r>
              <a:rPr lang="en-GB" dirty="0"/>
              <a:t>metadata</a:t>
            </a:r>
            <a:r>
              <a:rPr lang="en-GB" dirty="0" smtClean="0"/>
              <a:t>}</a:t>
            </a:r>
            <a:br>
              <a:rPr lang="en-GB" dirty="0" smtClean="0"/>
            </a:br>
            <a:endParaRPr lang="en-GB" dirty="0" smtClean="0"/>
          </a:p>
          <a:p>
            <a:pPr lvl="1"/>
            <a:r>
              <a:rPr lang="en-GB" dirty="0" smtClean="0"/>
              <a:t>(NB: If they’re not already there)</a:t>
            </a:r>
          </a:p>
          <a:p>
            <a:r>
              <a:rPr lang="en-GB" dirty="0" smtClean="0"/>
              <a:t>These allow us to include CSS and page-specific metadata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599782"/>
            <a:ext cx="3886200" cy="28027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797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Site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Expand the Header CSS section</a:t>
            </a:r>
          </a:p>
          <a:p>
            <a:pPr lvl="1"/>
            <a:r>
              <a:rPr lang="en-GB" dirty="0" smtClean="0"/>
              <a:t>This is where you would add more CSS if you needed it</a:t>
            </a:r>
          </a:p>
          <a:p>
            <a:r>
              <a:rPr lang="en-GB" dirty="0" smtClean="0"/>
              <a:t>Similar for the </a:t>
            </a:r>
            <a:r>
              <a:rPr lang="en-GB" dirty="0" err="1" smtClean="0"/>
              <a:t>Javascript</a:t>
            </a:r>
            <a:r>
              <a:rPr lang="en-GB" dirty="0" smtClean="0"/>
              <a:t> section</a:t>
            </a:r>
          </a:p>
          <a:p>
            <a:r>
              <a:rPr lang="en-GB" dirty="0" smtClean="0"/>
              <a:t>Expand the Before Content section</a:t>
            </a:r>
          </a:p>
          <a:p>
            <a:pPr lvl="1"/>
            <a:r>
              <a:rPr lang="en-GB" dirty="0" smtClean="0"/>
              <a:t>This is content before our in-page components get rendered</a:t>
            </a:r>
          </a:p>
          <a:p>
            <a:r>
              <a:rPr lang="en-GB" dirty="0" smtClean="0"/>
              <a:t>Similar for the After Content section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118037"/>
            <a:ext cx="3886200" cy="2048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3228689"/>
            <a:ext cx="3894260" cy="18409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371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Site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Expand the Footer section</a:t>
            </a:r>
          </a:p>
          <a:p>
            <a:pPr lvl="1"/>
            <a:r>
              <a:rPr lang="en-GB" dirty="0" smtClean="0"/>
              <a:t>As with the header we can provide CSS and JavaScript here</a:t>
            </a:r>
          </a:p>
          <a:p>
            <a:r>
              <a:rPr lang="en-GB" dirty="0" smtClean="0"/>
              <a:t>Verify that we have:</a:t>
            </a:r>
          </a:p>
          <a:p>
            <a:pPr lvl="1"/>
            <a:r>
              <a:rPr lang="en-GB" dirty="0" smtClean="0"/>
              <a:t>jquery-1.11.0.min.js</a:t>
            </a:r>
          </a:p>
          <a:p>
            <a:pPr lvl="1"/>
            <a:r>
              <a:rPr lang="en-GB" dirty="0" smtClean="0"/>
              <a:t>bootstrap.js</a:t>
            </a:r>
          </a:p>
          <a:p>
            <a:pPr lvl="1"/>
            <a:r>
              <a:rPr lang="en-GB" dirty="0" smtClean="0"/>
              <a:t>modernizr-latest.js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219" y="1268016"/>
            <a:ext cx="3519054" cy="35777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604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Site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Go to the Settings tab</a:t>
            </a:r>
          </a:p>
          <a:p>
            <a:r>
              <a:rPr lang="en-GB" dirty="0" smtClean="0"/>
              <a:t>Check the “Create” box</a:t>
            </a:r>
          </a:p>
          <a:p>
            <a:r>
              <a:rPr lang="en-GB" dirty="0" smtClean="0"/>
              <a:t>Enter “</a:t>
            </a:r>
            <a:r>
              <a:rPr lang="en-GB" i="1" dirty="0" smtClean="0"/>
              <a:t>Your Name</a:t>
            </a:r>
            <a:r>
              <a:rPr lang="en-GB" dirty="0" smtClean="0"/>
              <a:t> Wrapper” for the Name</a:t>
            </a:r>
          </a:p>
          <a:p>
            <a:r>
              <a:rPr lang="en-GB" dirty="0" smtClean="0"/>
              <a:t>Select the Wrapper Folder as</a:t>
            </a:r>
          </a:p>
          <a:p>
            <a:pPr lvl="1"/>
            <a:r>
              <a:rPr lang="en-GB" dirty="0"/>
              <a:t>/Training </a:t>
            </a:r>
            <a:r>
              <a:rPr lang="en-GB" dirty="0" smtClean="0"/>
              <a:t>Sandbox /Component Library /</a:t>
            </a:r>
            <a:r>
              <a:rPr lang="en-GB" dirty="0"/>
              <a:t>Component </a:t>
            </a:r>
            <a:r>
              <a:rPr lang="en-GB" dirty="0" smtClean="0"/>
              <a:t>Project /Templates /</a:t>
            </a:r>
            <a:r>
              <a:rPr lang="en-GB" i="1" dirty="0" smtClean="0"/>
              <a:t>Your Name</a:t>
            </a:r>
          </a:p>
          <a:p>
            <a:r>
              <a:rPr lang="en-GB" dirty="0" smtClean="0"/>
              <a:t>Ensure the option is set to Coupled</a:t>
            </a:r>
          </a:p>
          <a:p>
            <a:pPr lvl="1"/>
            <a:r>
              <a:rPr lang="en-GB" dirty="0" smtClean="0"/>
              <a:t>Leave the </a:t>
            </a:r>
            <a:r>
              <a:rPr lang="en-GB" dirty="0" err="1" smtClean="0"/>
              <a:t>Config</a:t>
            </a:r>
            <a:r>
              <a:rPr lang="en-GB" dirty="0" smtClean="0"/>
              <a:t> Asset empty</a:t>
            </a:r>
          </a:p>
          <a:p>
            <a:r>
              <a:rPr lang="en-GB" dirty="0" smtClean="0"/>
              <a:t>Click Save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369219"/>
            <a:ext cx="4307199" cy="31104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328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Site Configuration asset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Navigate to your folder in</a:t>
            </a:r>
          </a:p>
          <a:p>
            <a:pPr lvl="1"/>
            <a:r>
              <a:rPr lang="en-GB" dirty="0" smtClean="0"/>
              <a:t>/Training Sandbox /</a:t>
            </a:r>
            <a:r>
              <a:rPr lang="en-GB"/>
              <a:t>Component </a:t>
            </a:r>
            <a:r>
              <a:rPr lang="en-GB" smtClean="0"/>
              <a:t>Training/Your </a:t>
            </a:r>
            <a:r>
              <a:rPr lang="en-GB" dirty="0" smtClean="0"/>
              <a:t>Name</a:t>
            </a:r>
          </a:p>
          <a:p>
            <a:r>
              <a:rPr lang="en-GB" dirty="0" smtClean="0"/>
              <a:t>Choose File &gt; New &gt; File</a:t>
            </a:r>
          </a:p>
          <a:p>
            <a:pPr lvl="1"/>
            <a:r>
              <a:rPr lang="en-GB" dirty="0" smtClean="0"/>
              <a:t>Name it “_Site </a:t>
            </a:r>
            <a:r>
              <a:rPr lang="en-GB" dirty="0" err="1" smtClean="0"/>
              <a:t>Config</a:t>
            </a:r>
            <a:r>
              <a:rPr lang="en-GB" dirty="0" smtClean="0"/>
              <a:t>”</a:t>
            </a:r>
          </a:p>
          <a:p>
            <a:pPr lvl="1"/>
            <a:r>
              <a:rPr lang="en-GB" dirty="0" smtClean="0"/>
              <a:t>Select your </a:t>
            </a:r>
            <a:r>
              <a:rPr lang="en-GB" dirty="0" err="1" smtClean="0"/>
              <a:t>Nav</a:t>
            </a:r>
            <a:r>
              <a:rPr lang="en-GB" dirty="0" smtClean="0"/>
              <a:t> Wrap template</a:t>
            </a:r>
          </a:p>
          <a:p>
            <a:pPr lvl="2"/>
            <a:r>
              <a:rPr lang="en-GB" dirty="0" smtClean="0"/>
              <a:t>From your named folder</a:t>
            </a:r>
          </a:p>
          <a:p>
            <a:pPr lvl="2"/>
            <a:r>
              <a:rPr lang="en-GB" dirty="0" smtClean="0"/>
              <a:t>Inside Templates, NOT Definitions</a:t>
            </a:r>
          </a:p>
          <a:p>
            <a:pPr lvl="1"/>
            <a:r>
              <a:rPr lang="en-GB" dirty="0" smtClean="0"/>
              <a:t>Choose the Basic Workflow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449456"/>
            <a:ext cx="3886200" cy="31034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21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Site Configuration asset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Go to the Form view of your asset</a:t>
            </a:r>
          </a:p>
          <a:p>
            <a:r>
              <a:rPr lang="en-GB" dirty="0" smtClean="0"/>
              <a:t>Select _Assets/images/aglogo.png</a:t>
            </a:r>
          </a:p>
          <a:p>
            <a:r>
              <a:rPr lang="en-GB" dirty="0" smtClean="0"/>
              <a:t>Add links for</a:t>
            </a:r>
          </a:p>
          <a:p>
            <a:pPr lvl="1"/>
            <a:r>
              <a:rPr lang="en-GB" dirty="0" smtClean="0"/>
              <a:t>Home</a:t>
            </a:r>
          </a:p>
          <a:p>
            <a:pPr lvl="1"/>
            <a:r>
              <a:rPr lang="en-GB" dirty="0" smtClean="0"/>
              <a:t>About</a:t>
            </a:r>
          </a:p>
          <a:p>
            <a:pPr lvl="1"/>
            <a:r>
              <a:rPr lang="en-GB" dirty="0" smtClean="0"/>
              <a:t>Contact</a:t>
            </a:r>
          </a:p>
          <a:p>
            <a:pPr lvl="1"/>
            <a:r>
              <a:rPr lang="en-GB" dirty="0" smtClean="0"/>
              <a:t>Blog</a:t>
            </a:r>
          </a:p>
          <a:p>
            <a:r>
              <a:rPr lang="en-GB" dirty="0" smtClean="0"/>
              <a:t>Go to the Footer tab</a:t>
            </a:r>
          </a:p>
          <a:p>
            <a:pPr lvl="1"/>
            <a:r>
              <a:rPr lang="en-GB" dirty="0" smtClean="0"/>
              <a:t>Add a suitable copyright message</a:t>
            </a:r>
          </a:p>
          <a:p>
            <a:r>
              <a:rPr lang="en-GB" dirty="0" smtClean="0"/>
              <a:t>Save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428" y="1443450"/>
            <a:ext cx="3347643" cy="311543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282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Updating the Site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Return to your Wrapper</a:t>
            </a:r>
          </a:p>
          <a:p>
            <a:r>
              <a:rPr lang="en-GB" dirty="0" smtClean="0"/>
              <a:t>Go to the Settings tab</a:t>
            </a:r>
          </a:p>
          <a:p>
            <a:r>
              <a:rPr lang="en-GB" dirty="0" smtClean="0"/>
              <a:t>Ensure the option is set to Coupled</a:t>
            </a:r>
          </a:p>
          <a:p>
            <a:pPr lvl="1"/>
            <a:r>
              <a:rPr lang="en-GB" dirty="0" smtClean="0"/>
              <a:t>Select your new _Site </a:t>
            </a:r>
            <a:r>
              <a:rPr lang="en-GB" dirty="0" err="1" smtClean="0"/>
              <a:t>Config</a:t>
            </a:r>
            <a:r>
              <a:rPr lang="en-GB" dirty="0" smtClean="0"/>
              <a:t> asset for the </a:t>
            </a:r>
            <a:r>
              <a:rPr lang="en-GB" dirty="0" err="1" smtClean="0"/>
              <a:t>Config</a:t>
            </a:r>
            <a:r>
              <a:rPr lang="en-GB" dirty="0" smtClean="0"/>
              <a:t> Asset field</a:t>
            </a:r>
          </a:p>
          <a:p>
            <a:r>
              <a:rPr lang="en-GB" dirty="0" smtClean="0"/>
              <a:t>Click Save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048" y="1369219"/>
            <a:ext cx="4298802" cy="31104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125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Article Component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14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an Article component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Navigate to your folder inside Component Definitions</a:t>
            </a:r>
          </a:p>
          <a:p>
            <a:r>
              <a:rPr lang="en-GB" dirty="0" smtClean="0"/>
              <a:t>Choose File &gt; New &gt; Component</a:t>
            </a:r>
          </a:p>
          <a:p>
            <a:pPr lvl="1"/>
            <a:r>
              <a:rPr lang="en-GB" dirty="0" smtClean="0"/>
              <a:t>Name it “</a:t>
            </a:r>
            <a:r>
              <a:rPr lang="en-GB" i="1" dirty="0" smtClean="0"/>
              <a:t>Your Name</a:t>
            </a:r>
            <a:r>
              <a:rPr lang="en-GB" dirty="0" smtClean="0"/>
              <a:t> Article”</a:t>
            </a:r>
          </a:p>
          <a:p>
            <a:r>
              <a:rPr lang="en-GB" dirty="0" smtClean="0"/>
              <a:t>Add the following </a:t>
            </a:r>
            <a:r>
              <a:rPr lang="en-GB" dirty="0" err="1" smtClean="0"/>
              <a:t>markup</a:t>
            </a:r>
            <a:endParaRPr lang="en-GB" dirty="0" smtClean="0"/>
          </a:p>
          <a:p>
            <a:r>
              <a:rPr lang="en-GB" dirty="0" smtClean="0"/>
              <a:t>Save and reload</a:t>
            </a:r>
          </a:p>
          <a:p>
            <a:r>
              <a:rPr lang="en-GB" dirty="0" smtClean="0"/>
              <a:t>Check the preview to see the input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&lt;article class="article</a:t>
            </a:r>
            <a:r>
              <a:rPr lang="en-GB" sz="1400" b="1" dirty="0" smtClean="0">
                <a:solidFill>
                  <a:schemeClr val="tx1"/>
                </a:solidFill>
              </a:rPr>
              <a:t>"&gt;</a:t>
            </a:r>
            <a:br>
              <a:rPr lang="en-GB" sz="1400" b="1" dirty="0" smtClean="0">
                <a:solidFill>
                  <a:schemeClr val="tx1"/>
                </a:solidFill>
              </a:rPr>
            </a:br>
            <a:r>
              <a:rPr lang="en-GB" sz="1400" b="1" dirty="0" smtClean="0">
                <a:solidFill>
                  <a:schemeClr val="tx1"/>
                </a:solidFill>
              </a:rPr>
              <a:t>    </a:t>
            </a:r>
            <a:r>
              <a:rPr lang="en-GB" sz="1400" b="1" dirty="0">
                <a:solidFill>
                  <a:schemeClr val="tx1"/>
                </a:solidFill>
              </a:rPr>
              <a:t>&lt;header class="article-header</a:t>
            </a:r>
            <a:r>
              <a:rPr lang="en-GB" sz="1400" b="1" dirty="0" smtClean="0">
                <a:solidFill>
                  <a:schemeClr val="tx1"/>
                </a:solidFill>
              </a:rPr>
              <a:t>"&gt;</a:t>
            </a:r>
            <a:br>
              <a:rPr lang="en-GB" sz="1400" b="1" dirty="0" smtClean="0">
                <a:solidFill>
                  <a:schemeClr val="tx1"/>
                </a:solidFill>
              </a:rPr>
            </a:br>
            <a:r>
              <a:rPr lang="en-GB" sz="1400" b="1" dirty="0" smtClean="0">
                <a:solidFill>
                  <a:schemeClr val="tx1"/>
                </a:solidFill>
              </a:rPr>
              <a:t>       &lt;</a:t>
            </a:r>
            <a:r>
              <a:rPr lang="en-GB" sz="1400" b="1" dirty="0">
                <a:solidFill>
                  <a:schemeClr val="tx1"/>
                </a:solidFill>
              </a:rPr>
              <a:t>h1&gt;{headline : Text}&lt;/h1</a:t>
            </a:r>
            <a:r>
              <a:rPr lang="en-GB" sz="1400" b="1" dirty="0" smtClean="0">
                <a:solidFill>
                  <a:schemeClr val="tx1"/>
                </a:solidFill>
              </a:rPr>
              <a:t>&gt;</a:t>
            </a:r>
            <a:br>
              <a:rPr lang="en-GB" sz="1400" b="1" dirty="0" smtClean="0">
                <a:solidFill>
                  <a:schemeClr val="tx1"/>
                </a:solidFill>
              </a:rPr>
            </a:br>
            <a:r>
              <a:rPr lang="en-GB" sz="1400" b="1" dirty="0" smtClean="0">
                <a:solidFill>
                  <a:schemeClr val="tx1"/>
                </a:solidFill>
              </a:rPr>
              <a:t>        </a:t>
            </a:r>
            <a:r>
              <a:rPr lang="en-GB" sz="1400" b="1" dirty="0">
                <a:solidFill>
                  <a:schemeClr val="tx1"/>
                </a:solidFill>
              </a:rPr>
              <a:t>&lt;div class="</a:t>
            </a:r>
            <a:r>
              <a:rPr lang="en-GB" sz="1400" b="1" dirty="0" err="1">
                <a:solidFill>
                  <a:schemeClr val="tx1"/>
                </a:solidFill>
              </a:rPr>
              <a:t>byline</a:t>
            </a:r>
            <a:r>
              <a:rPr lang="en-GB" sz="1400" b="1" dirty="0">
                <a:solidFill>
                  <a:schemeClr val="tx1"/>
                </a:solidFill>
              </a:rPr>
              <a:t>"&gt;by {author : Text}&lt;/</a:t>
            </a:r>
            <a:r>
              <a:rPr lang="en-GB" sz="1400" b="1" dirty="0" smtClean="0">
                <a:solidFill>
                  <a:schemeClr val="tx1"/>
                </a:solidFill>
              </a:rPr>
              <a:t>div</a:t>
            </a:r>
            <a:r>
              <a:rPr lang="en-GB" sz="1400" b="1" dirty="0">
                <a:solidFill>
                  <a:schemeClr val="tx1"/>
                </a:solidFill>
              </a:rPr>
              <a:t>&gt;</a:t>
            </a:r>
            <a:r>
              <a:rPr lang="en-GB" sz="1400" b="1" dirty="0" smtClean="0">
                <a:solidFill>
                  <a:schemeClr val="tx1"/>
                </a:solidFill>
              </a:rPr>
              <a:t/>
            </a:r>
            <a:br>
              <a:rPr lang="en-GB" sz="1400" b="1" dirty="0" smtClean="0">
                <a:solidFill>
                  <a:schemeClr val="tx1"/>
                </a:solidFill>
              </a:rPr>
            </a:br>
            <a:r>
              <a:rPr lang="en-GB" sz="1400" b="1" dirty="0" smtClean="0">
                <a:solidFill>
                  <a:schemeClr val="tx1"/>
                </a:solidFill>
              </a:rPr>
              <a:t>    </a:t>
            </a:r>
            <a:r>
              <a:rPr lang="en-GB" sz="1400" b="1" dirty="0">
                <a:solidFill>
                  <a:schemeClr val="tx1"/>
                </a:solidFill>
              </a:rPr>
              <a:t>&lt;/header</a:t>
            </a:r>
            <a:r>
              <a:rPr lang="en-GB" sz="1400" b="1" dirty="0" smtClean="0">
                <a:solidFill>
                  <a:schemeClr val="tx1"/>
                </a:solidFill>
              </a:rPr>
              <a:t>&gt;</a:t>
            </a:r>
            <a:br>
              <a:rPr lang="en-GB" sz="1400" b="1" dirty="0" smtClean="0">
                <a:solidFill>
                  <a:schemeClr val="tx1"/>
                </a:solidFill>
              </a:rPr>
            </a:br>
            <a:r>
              <a:rPr lang="en-GB" sz="1400" b="1" dirty="0" smtClean="0">
                <a:solidFill>
                  <a:schemeClr val="tx1"/>
                </a:solidFill>
              </a:rPr>
              <a:t>    </a:t>
            </a:r>
            <a:r>
              <a:rPr lang="en-GB" sz="1400" b="1" dirty="0">
                <a:solidFill>
                  <a:schemeClr val="tx1"/>
                </a:solidFill>
              </a:rPr>
              <a:t>&lt;p class="intro"&gt;{intro : Text}&lt;/p</a:t>
            </a:r>
            <a:r>
              <a:rPr lang="en-GB" sz="1400" b="1" dirty="0" smtClean="0">
                <a:solidFill>
                  <a:schemeClr val="tx1"/>
                </a:solidFill>
              </a:rPr>
              <a:t>&gt;</a:t>
            </a:r>
            <a:br>
              <a:rPr lang="en-GB" sz="1400" b="1" dirty="0" smtClean="0">
                <a:solidFill>
                  <a:schemeClr val="tx1"/>
                </a:solidFill>
              </a:rPr>
            </a:br>
            <a:r>
              <a:rPr lang="en-GB" sz="1400" b="1" dirty="0" smtClean="0">
                <a:solidFill>
                  <a:schemeClr val="tx1"/>
                </a:solidFill>
              </a:rPr>
              <a:t>    {content </a:t>
            </a:r>
            <a:r>
              <a:rPr lang="en-GB" sz="1400" b="1" dirty="0">
                <a:solidFill>
                  <a:schemeClr val="tx1"/>
                </a:solidFill>
              </a:rPr>
              <a:t>: </a:t>
            </a:r>
            <a:r>
              <a:rPr lang="en-GB" sz="1400" b="1" dirty="0" err="1">
                <a:solidFill>
                  <a:schemeClr val="tx1"/>
                </a:solidFill>
              </a:rPr>
              <a:t>Wysiwyg</a:t>
            </a:r>
            <a:r>
              <a:rPr lang="en-GB" sz="1400" b="1" dirty="0" smtClean="0">
                <a:solidFill>
                  <a:schemeClr val="tx1"/>
                </a:solidFill>
              </a:rPr>
              <a:t>}</a:t>
            </a:r>
            <a:br>
              <a:rPr lang="en-GB" sz="1400" b="1" dirty="0" smtClean="0">
                <a:solidFill>
                  <a:schemeClr val="tx1"/>
                </a:solidFill>
              </a:rPr>
            </a:br>
            <a:r>
              <a:rPr lang="en-GB" sz="1400" b="1" dirty="0" smtClean="0">
                <a:solidFill>
                  <a:schemeClr val="tx1"/>
                </a:solidFill>
              </a:rPr>
              <a:t>&lt;/</a:t>
            </a:r>
            <a:r>
              <a:rPr lang="en-GB" sz="1400" b="1" dirty="0">
                <a:solidFill>
                  <a:schemeClr val="tx1"/>
                </a:solidFill>
              </a:rPr>
              <a:t>article</a:t>
            </a:r>
            <a:r>
              <a:rPr lang="en-GB" sz="1400" b="1" dirty="0" smtClean="0">
                <a:solidFill>
                  <a:schemeClr val="tx1"/>
                </a:solidFill>
              </a:rPr>
              <a:t>&gt;</a:t>
            </a:r>
            <a:endParaRPr lang="en-GB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73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Article Template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31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an Article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Navigate to your folder inside Template Definitions</a:t>
            </a:r>
          </a:p>
          <a:p>
            <a:r>
              <a:rPr lang="en-GB" dirty="0" smtClean="0"/>
              <a:t>Choose File &gt; New &gt; Template</a:t>
            </a:r>
          </a:p>
          <a:p>
            <a:pPr lvl="1"/>
            <a:r>
              <a:rPr lang="en-GB" dirty="0" smtClean="0"/>
              <a:t>“</a:t>
            </a:r>
            <a:r>
              <a:rPr lang="en-GB" i="1" dirty="0" smtClean="0"/>
              <a:t>Your Name</a:t>
            </a:r>
            <a:r>
              <a:rPr lang="en-GB" dirty="0" smtClean="0"/>
              <a:t> Article Template”</a:t>
            </a:r>
          </a:p>
          <a:p>
            <a:r>
              <a:rPr lang="en-GB" dirty="0" smtClean="0"/>
              <a:t>Go to Form view</a:t>
            </a:r>
          </a:p>
          <a:p>
            <a:r>
              <a:rPr lang="en-GB" dirty="0" smtClean="0"/>
              <a:t>Here we define the layout of components on the page</a:t>
            </a:r>
          </a:p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369219"/>
            <a:ext cx="3886200" cy="27844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344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052314"/>
            <a:ext cx="3491345" cy="22330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an Article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Section Name = “Content”</a:t>
            </a:r>
          </a:p>
          <a:p>
            <a:r>
              <a:rPr lang="en-GB" dirty="0" smtClean="0"/>
              <a:t>Layout = “left main right rail”</a:t>
            </a:r>
          </a:p>
          <a:p>
            <a:pPr lvl="1"/>
            <a:r>
              <a:rPr lang="en-GB" dirty="0" smtClean="0"/>
              <a:t>Choose on the Dropdown</a:t>
            </a:r>
          </a:p>
          <a:p>
            <a:pPr lvl="1"/>
            <a:r>
              <a:rPr lang="en-US" dirty="0" smtClean="0"/>
              <a:t>The picture is optional</a:t>
            </a:r>
            <a:endParaRPr lang="en-GB" dirty="0" smtClean="0"/>
          </a:p>
          <a:p>
            <a:r>
              <a:rPr lang="en-GB" dirty="0" smtClean="0"/>
              <a:t>Expand Components</a:t>
            </a:r>
          </a:p>
          <a:p>
            <a:pPr lvl="1"/>
            <a:r>
              <a:rPr lang="en-GB" dirty="0" smtClean="0"/>
              <a:t>Select your article for column one</a:t>
            </a:r>
          </a:p>
          <a:p>
            <a:pPr lvl="1"/>
            <a:r>
              <a:rPr lang="en-GB" dirty="0" smtClean="0"/>
              <a:t>Click the + button</a:t>
            </a:r>
          </a:p>
          <a:p>
            <a:pPr lvl="1"/>
            <a:r>
              <a:rPr lang="en-GB" dirty="0"/>
              <a:t>E</a:t>
            </a:r>
            <a:r>
              <a:rPr lang="en-GB" dirty="0" smtClean="0"/>
              <a:t>xamples: Links for column two</a:t>
            </a:r>
          </a:p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426" y="1433826"/>
            <a:ext cx="3157619" cy="32846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408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an Article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Go to the Wrapper tab</a:t>
            </a:r>
          </a:p>
          <a:p>
            <a:r>
              <a:rPr lang="en-GB" dirty="0" smtClean="0"/>
              <a:t>Verify “Built By </a:t>
            </a:r>
            <a:r>
              <a:rPr lang="en-GB" dirty="0" err="1" smtClean="0"/>
              <a:t>Nav</a:t>
            </a:r>
            <a:r>
              <a:rPr lang="en-GB" dirty="0" smtClean="0"/>
              <a:t> Wrapper Definition”</a:t>
            </a:r>
          </a:p>
          <a:p>
            <a:r>
              <a:rPr lang="en-GB" dirty="0" smtClean="0"/>
              <a:t>Select your wrapper</a:t>
            </a:r>
          </a:p>
          <a:p>
            <a:r>
              <a:rPr lang="en-GB" dirty="0" smtClean="0"/>
              <a:t>Go to the Settings tab</a:t>
            </a:r>
          </a:p>
          <a:p>
            <a:r>
              <a:rPr lang="en-GB" dirty="0" smtClean="0"/>
              <a:t>Check the Create box</a:t>
            </a:r>
          </a:p>
          <a:p>
            <a:r>
              <a:rPr lang="en-GB" dirty="0" smtClean="0"/>
              <a:t>Select your template folder</a:t>
            </a:r>
          </a:p>
          <a:p>
            <a:r>
              <a:rPr lang="en-GB" dirty="0" smtClean="0"/>
              <a:t>Check the “Enable Page Metadata” box</a:t>
            </a:r>
          </a:p>
          <a:p>
            <a:r>
              <a:rPr lang="en-GB" dirty="0" smtClean="0"/>
              <a:t>Click Save</a:t>
            </a:r>
          </a:p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396721"/>
            <a:ext cx="3886200" cy="11676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2744308"/>
            <a:ext cx="3886200" cy="2308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725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an Article asset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Navigate to your content folder</a:t>
            </a:r>
          </a:p>
          <a:p>
            <a:r>
              <a:rPr lang="en-GB" dirty="0" smtClean="0"/>
              <a:t>File &gt; New &gt; File</a:t>
            </a:r>
          </a:p>
          <a:p>
            <a:pPr lvl="1"/>
            <a:r>
              <a:rPr lang="en-GB" dirty="0" smtClean="0"/>
              <a:t>Name it “</a:t>
            </a:r>
            <a:r>
              <a:rPr lang="en-GB" i="1" dirty="0" smtClean="0"/>
              <a:t>Your Name</a:t>
            </a:r>
            <a:r>
              <a:rPr lang="en-GB" dirty="0" smtClean="0"/>
              <a:t> Article”</a:t>
            </a:r>
          </a:p>
          <a:p>
            <a:pPr lvl="1"/>
            <a:r>
              <a:rPr lang="en-GB" dirty="0" smtClean="0"/>
              <a:t>Select your Article template</a:t>
            </a:r>
          </a:p>
          <a:p>
            <a:pPr lvl="2"/>
            <a:r>
              <a:rPr lang="en-GB" dirty="0" smtClean="0"/>
              <a:t>From Templates, NOT Definitions</a:t>
            </a:r>
          </a:p>
          <a:p>
            <a:pPr lvl="1"/>
            <a:r>
              <a:rPr lang="en-GB" dirty="0" smtClean="0"/>
              <a:t>Choose Basic Workflow</a:t>
            </a:r>
          </a:p>
          <a:p>
            <a:r>
              <a:rPr lang="en-GB" dirty="0" smtClean="0"/>
              <a:t>Click Create</a:t>
            </a:r>
          </a:p>
          <a:p>
            <a:r>
              <a:rPr lang="en-GB" dirty="0" smtClean="0"/>
              <a:t>Go to Form view</a:t>
            </a:r>
          </a:p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004" y="1268015"/>
            <a:ext cx="4084014" cy="32855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771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an Article asset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Populate your article however you like</a:t>
            </a:r>
          </a:p>
          <a:p>
            <a:r>
              <a:rPr lang="en-GB" dirty="0" err="1" smtClean="0"/>
              <a:t>Lorum</a:t>
            </a:r>
            <a:r>
              <a:rPr lang="en-GB" dirty="0" smtClean="0"/>
              <a:t> Ipsum is good if you’re short on inspiration</a:t>
            </a:r>
          </a:p>
          <a:p>
            <a:r>
              <a:rPr lang="en-GB" dirty="0" smtClean="0"/>
              <a:t>Add a few links to the list at the bottom</a:t>
            </a:r>
          </a:p>
          <a:p>
            <a:r>
              <a:rPr lang="en-GB" dirty="0" smtClean="0"/>
              <a:t>Save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49" y="1268422"/>
            <a:ext cx="4110325" cy="328469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077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an Article asset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Finally…</a:t>
            </a:r>
          </a:p>
          <a:p>
            <a:r>
              <a:rPr lang="en-GB" dirty="0" smtClean="0"/>
              <a:t>Preview!</a:t>
            </a:r>
          </a:p>
          <a:p>
            <a:r>
              <a:rPr lang="en-GB" dirty="0" smtClean="0"/>
              <a:t>Our work here is done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67" y="1122551"/>
            <a:ext cx="4914728" cy="30615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658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A7410-A7F7-4148-B700-E9738C1947C6}">
  <ds:schemaRefs>
    <ds:schemaRef ds:uri="http://www.w3.org/XML/1998/namespace"/>
    <ds:schemaRef ds:uri="http://purl.org/dc/dcmitype/"/>
    <ds:schemaRef ds:uri="http://purl.org/dc/terms/"/>
    <ds:schemaRef ds:uri="631082eb-fd3e-4e0d-a348-9c93b2e913b5"/>
    <ds:schemaRef ds:uri="http://purl.org/dc/elements/1.1/"/>
    <ds:schemaRef ds:uri="http://schemas.microsoft.com/office/2006/documentManagement/types"/>
    <ds:schemaRef ds:uri="c81fd3e1-4b46-4bb7-aee6-da9f3dad3097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391A959-32D1-463F-AC20-78C4BCF5A8BA}"/>
</file>

<file path=customXml/itemProps3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6116</TotalTime>
  <Words>1224</Words>
  <Application>Microsoft Macintosh PowerPoint</Application>
  <PresentationFormat>On-screen Show (16:9)</PresentationFormat>
  <Paragraphs>262</Paragraphs>
  <Slides>40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Mangal</vt:lpstr>
      <vt:lpstr>Office Theme</vt:lpstr>
      <vt:lpstr>Developer Training</vt:lpstr>
      <vt:lpstr>Introduction</vt:lpstr>
      <vt:lpstr>What we’ll be making</vt:lpstr>
      <vt:lpstr>What we’ll be making</vt:lpstr>
      <vt:lpstr>Header component</vt:lpstr>
      <vt:lpstr>Planning our Header and Footer</vt:lpstr>
      <vt:lpstr>Starting our Header component</vt:lpstr>
      <vt:lpstr>Starting our Header component</vt:lpstr>
      <vt:lpstr>Creating a Link component</vt:lpstr>
      <vt:lpstr>Creating a Link component</vt:lpstr>
      <vt:lpstr>Creating a Link component</vt:lpstr>
      <vt:lpstr>Creating a Link component</vt:lpstr>
      <vt:lpstr>Creating a Primary Navigation component</vt:lpstr>
      <vt:lpstr>Creating a Primary Navigation component</vt:lpstr>
      <vt:lpstr>Creating a Primary Navigation component</vt:lpstr>
      <vt:lpstr>Creating a Header component</vt:lpstr>
      <vt:lpstr>Creating a Header component</vt:lpstr>
      <vt:lpstr>Creating a Header component</vt:lpstr>
      <vt:lpstr>Footer component</vt:lpstr>
      <vt:lpstr>Creating a Footer component</vt:lpstr>
      <vt:lpstr>Site Wrapper</vt:lpstr>
      <vt:lpstr>Creating a Site Wrapper</vt:lpstr>
      <vt:lpstr>Creating a Site Wrapper</vt:lpstr>
      <vt:lpstr>Creating a Site Wrapper</vt:lpstr>
      <vt:lpstr>Creating a Site Wrapper</vt:lpstr>
      <vt:lpstr>Creating a Site Wrapper</vt:lpstr>
      <vt:lpstr>Creating a Site Wrapper</vt:lpstr>
      <vt:lpstr>Creating a Site Configuration asset</vt:lpstr>
      <vt:lpstr>Creating a Site Configuration asset</vt:lpstr>
      <vt:lpstr>Updating the Site Wrapper</vt:lpstr>
      <vt:lpstr>Article Component</vt:lpstr>
      <vt:lpstr>Create an Article component</vt:lpstr>
      <vt:lpstr>Article Template</vt:lpstr>
      <vt:lpstr>Create an Article template</vt:lpstr>
      <vt:lpstr>Create an Article template</vt:lpstr>
      <vt:lpstr>Create an Article template</vt:lpstr>
      <vt:lpstr>Create an Article asset</vt:lpstr>
      <vt:lpstr>Create an Article asset</vt:lpstr>
      <vt:lpstr>Create an Article asset</vt:lpstr>
      <vt:lpstr>Thank You!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305</cp:revision>
  <dcterms:created xsi:type="dcterms:W3CDTF">2014-05-29T23:54:45Z</dcterms:created>
  <dcterms:modified xsi:type="dcterms:W3CDTF">2018-03-15T14:16:16Z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