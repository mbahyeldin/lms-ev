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570" r:id="rId5"/>
    <p:sldId id="470" r:id="rId6"/>
    <p:sldId id="578" r:id="rId7"/>
    <p:sldId id="553" r:id="rId8"/>
    <p:sldId id="554" r:id="rId9"/>
    <p:sldId id="555" r:id="rId10"/>
    <p:sldId id="556" r:id="rId11"/>
    <p:sldId id="557" r:id="rId12"/>
    <p:sldId id="579" r:id="rId13"/>
    <p:sldId id="559" r:id="rId14"/>
    <p:sldId id="569" r:id="rId15"/>
    <p:sldId id="580" r:id="rId16"/>
    <p:sldId id="561" r:id="rId17"/>
    <p:sldId id="562" r:id="rId18"/>
    <p:sldId id="581" r:id="rId19"/>
    <p:sldId id="564" r:id="rId20"/>
    <p:sldId id="565" r:id="rId21"/>
    <p:sldId id="582" r:id="rId22"/>
    <p:sldId id="566" r:id="rId23"/>
    <p:sldId id="58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5A"/>
    <a:srgbClr val="B521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58" autoAdjust="0"/>
    <p:restoredTop sz="81387" autoAdjust="0"/>
  </p:normalViewPr>
  <p:slideViewPr>
    <p:cSldViewPr snapToGrid="0" snapToObjects="1">
      <p:cViewPr varScale="1">
        <p:scale>
          <a:sx n="97" d="100"/>
          <a:sy n="97" d="100"/>
        </p:scale>
        <p:origin x="712" y="200"/>
      </p:cViewPr>
      <p:guideLst/>
    </p:cSldViewPr>
  </p:slideViewPr>
  <p:outlineViewPr>
    <p:cViewPr>
      <p:scale>
        <a:sx n="33" d="100"/>
        <a:sy n="33" d="100"/>
      </p:scale>
      <p:origin x="0" y="-179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650"/>
    </p:cViewPr>
  </p:sorterViewPr>
  <p:notesViewPr>
    <p:cSldViewPr snapToGrid="0" snapToObjects="1">
      <p:cViewPr varScale="1">
        <p:scale>
          <a:sx n="56" d="100"/>
          <a:sy n="56" d="100"/>
        </p:scale>
        <p:origin x="285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BF3E1-6EB0-49B2-BE21-95FD6D65287C}" type="datetimeFigureOut">
              <a:rPr lang="en-US" smtClean="0"/>
              <a:t>1/24/18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48709-76BA-47F5-BE96-E7D79077C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88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F5E8DC-D403-4C3E-9D7C-A5781DFE6FBD}" type="datetimeFigureOut">
              <a:rPr lang="en-US" smtClean="0"/>
              <a:t>1/24/18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492B2-0604-42AD-A7EE-8F45FD6F8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1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698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387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531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966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817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577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450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605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39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878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717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834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51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142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68" y="2171"/>
            <a:ext cx="67499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33821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Magenta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31294" y="-1484"/>
            <a:ext cx="6121119" cy="6870116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916140" y="4351408"/>
            <a:ext cx="9144000" cy="2341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i="0" dirty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rPr>
              <a:t>Greg</a:t>
            </a:r>
            <a:r>
              <a:rPr lang="en-US" sz="1600" b="0" i="0" baseline="0" dirty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rPr>
              <a:t> Perrin </a:t>
            </a:r>
            <a:r>
              <a:rPr lang="en-US" sz="1600" b="0" i="0" dirty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rPr>
              <a:t>/ Director of Sales / December</a:t>
            </a:r>
            <a:r>
              <a:rPr lang="en-US" sz="1600" b="0" i="0" baseline="0" dirty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rPr>
              <a:t> 12, 2016</a:t>
            </a:r>
            <a:endParaRPr lang="en-US" sz="1600" b="0" i="0" dirty="0">
              <a:solidFill>
                <a:srgbClr val="00395A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31295" y="-14286"/>
            <a:ext cx="6738111" cy="3681221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B5217E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5440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Blue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31294" y="-1484"/>
            <a:ext cx="6121119" cy="6870116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31295" y="-14286"/>
            <a:ext cx="6738111" cy="3681221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00395A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730254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1395" cy="7187659"/>
          </a:xfrm>
          <a:prstGeom prst="rect">
            <a:avLst/>
          </a:prstGeom>
          <a:solidFill>
            <a:srgbClr val="B52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9536"/>
            <a:ext cx="2125014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80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5" y="-42204"/>
            <a:ext cx="12191395" cy="6886576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9536"/>
            <a:ext cx="2125014" cy="4023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67533138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t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24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9493" y="6214173"/>
            <a:ext cx="2148810" cy="40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2740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utlin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6311900"/>
            <a:ext cx="2148810" cy="40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195230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5" y="0"/>
            <a:ext cx="12191395" cy="6886576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1346" y="5895601"/>
            <a:ext cx="10729912" cy="456236"/>
          </a:xfr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731346" y="457196"/>
            <a:ext cx="10729912" cy="5300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946" y="703878"/>
            <a:ext cx="7986713" cy="49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14853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1346" y="5895601"/>
            <a:ext cx="10729912" cy="456236"/>
          </a:xfr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731346" y="457196"/>
            <a:ext cx="10729912" cy="5300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946" y="703878"/>
            <a:ext cx="7986713" cy="490032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600075" y="5738436"/>
            <a:ext cx="10972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6351837"/>
            <a:ext cx="2148810" cy="40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76809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036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34757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 userDrawn="1"/>
        </p:nvSpPr>
        <p:spPr>
          <a:xfrm>
            <a:off x="605" y="-14288"/>
            <a:ext cx="12191395" cy="6886576"/>
          </a:xfrm>
          <a:custGeom>
            <a:avLst/>
            <a:gdLst>
              <a:gd name="connsiteX0" fmla="*/ 0 w 12191395"/>
              <a:gd name="connsiteY0" fmla="*/ 0 h 6886576"/>
              <a:gd name="connsiteX1" fmla="*/ 12191395 w 12191395"/>
              <a:gd name="connsiteY1" fmla="*/ 0 h 6886576"/>
              <a:gd name="connsiteX2" fmla="*/ 12191395 w 12191395"/>
              <a:gd name="connsiteY2" fmla="*/ 6886576 h 6886576"/>
              <a:gd name="connsiteX3" fmla="*/ 0 w 12191395"/>
              <a:gd name="connsiteY3" fmla="*/ 6886576 h 6886576"/>
              <a:gd name="connsiteX4" fmla="*/ 0 w 12191395"/>
              <a:gd name="connsiteY4" fmla="*/ 0 h 6886576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91395 w 12191395"/>
              <a:gd name="connsiteY2" fmla="*/ 6900863 h 6900863"/>
              <a:gd name="connsiteX3" fmla="*/ 0 w 12191395"/>
              <a:gd name="connsiteY3" fmla="*/ 6900863 h 6900863"/>
              <a:gd name="connsiteX4" fmla="*/ 0 w 12191395"/>
              <a:gd name="connsiteY4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9900633 w 12191395"/>
              <a:gd name="connsiteY2" fmla="*/ 2871788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86633 w 12191395"/>
              <a:gd name="connsiteY2" fmla="*/ 2828926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0 h 6886576"/>
              <a:gd name="connsiteX1" fmla="*/ 7505095 w 12191395"/>
              <a:gd name="connsiteY1" fmla="*/ 14288 h 6886576"/>
              <a:gd name="connsiteX2" fmla="*/ 12186633 w 12191395"/>
              <a:gd name="connsiteY2" fmla="*/ 2814639 h 6886576"/>
              <a:gd name="connsiteX3" fmla="*/ 12191395 w 12191395"/>
              <a:gd name="connsiteY3" fmla="*/ 6886576 h 6886576"/>
              <a:gd name="connsiteX4" fmla="*/ 0 w 12191395"/>
              <a:gd name="connsiteY4" fmla="*/ 6886576 h 6886576"/>
              <a:gd name="connsiteX5" fmla="*/ 0 w 12191395"/>
              <a:gd name="connsiteY5" fmla="*/ 0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395" h="6886576">
                <a:moveTo>
                  <a:pt x="0" y="0"/>
                </a:moveTo>
                <a:lnTo>
                  <a:pt x="7505095" y="14288"/>
                </a:lnTo>
                <a:lnTo>
                  <a:pt x="12186633" y="2814639"/>
                </a:lnTo>
                <a:cubicBezTo>
                  <a:pt x="12188220" y="4171951"/>
                  <a:pt x="12189808" y="5529264"/>
                  <a:pt x="12191395" y="6886576"/>
                </a:cubicBezTo>
                <a:lnTo>
                  <a:pt x="0" y="688657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00585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5397-5482-F245-8ABB-32E8412BBEEF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2569" y="415623"/>
            <a:ext cx="9358602" cy="304699"/>
          </a:xfrm>
        </p:spPr>
        <p:txBody>
          <a:bodyPr wrap="square" lIns="0" tIns="0" rIns="0" bIns="0">
            <a:spAutoFit/>
          </a:bodyPr>
          <a:lstStyle>
            <a:lvl1pPr>
              <a:defRPr sz="2200" b="1">
                <a:solidFill>
                  <a:schemeClr val="accent1"/>
                </a:solidFill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452569" y="134397"/>
            <a:ext cx="9358602" cy="293927"/>
          </a:xfrm>
        </p:spPr>
        <p:txBody>
          <a:bodyPr/>
          <a:lstStyle>
            <a:lvl1pPr>
              <a:defRPr b="1">
                <a:solidFill>
                  <a:srgbClr val="68707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09600" y="127681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2580015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w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2569" y="6364224"/>
            <a:ext cx="0" cy="18466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5397-5482-F245-8ABB-32E8412BBE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2570" y="415623"/>
            <a:ext cx="9358602" cy="304699"/>
          </a:xfrm>
        </p:spPr>
        <p:txBody>
          <a:bodyPr wrap="square" lIns="0" tIns="0" rIns="0" bIns="0">
            <a:spAutoFit/>
          </a:bodyPr>
          <a:lstStyle>
            <a:lvl1pPr>
              <a:defRPr sz="2200" b="1">
                <a:solidFill>
                  <a:schemeClr val="accent1"/>
                </a:solidFill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452571" y="134400"/>
            <a:ext cx="9358602" cy="293927"/>
          </a:xfrm>
        </p:spPr>
        <p:txBody>
          <a:bodyPr/>
          <a:lstStyle>
            <a:lvl1pPr>
              <a:defRPr b="1">
                <a:solidFill>
                  <a:srgbClr val="68707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09600" y="127681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4680086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/>
        </p:nvSpPr>
        <p:spPr>
          <a:xfrm>
            <a:off x="0" y="22225"/>
            <a:ext cx="12204700" cy="8274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544211" rtl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1600" b="0" kern="1200">
              <a:solidFill>
                <a:srgbClr val="FFFFFF"/>
              </a:solidFill>
              <a:latin typeface="Neris Light"/>
              <a:ea typeface="+mn-ea"/>
              <a:cs typeface="+mn-cs"/>
              <a:sym typeface="Helvetica Light"/>
            </a:endParaRPr>
          </a:p>
        </p:txBody>
      </p:sp>
      <p:sp>
        <p:nvSpPr>
          <p:cNvPr id="48" name="Shape 48"/>
          <p:cNvSpPr>
            <a:spLocks noGrp="1"/>
          </p:cNvSpPr>
          <p:nvPr>
            <p:ph type="sldNum" sz="quarter" idx="2"/>
          </p:nvPr>
        </p:nvSpPr>
        <p:spPr>
          <a:xfrm>
            <a:off x="11648375" y="6390510"/>
            <a:ext cx="179513" cy="17697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defRPr sz="1150" b="0">
                <a:solidFill>
                  <a:srgbClr val="898989"/>
                </a:solidFill>
                <a:latin typeface="Seravek Light"/>
                <a:ea typeface="Seravek Light"/>
                <a:cs typeface="Seravek Light"/>
                <a:sym typeface="Seravek Ligh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9" name="Shape 49"/>
          <p:cNvSpPr>
            <a:spLocks noGrp="1"/>
          </p:cNvSpPr>
          <p:nvPr>
            <p:ph type="title"/>
          </p:nvPr>
        </p:nvSpPr>
        <p:spPr>
          <a:xfrm>
            <a:off x="453871" y="251806"/>
            <a:ext cx="2092552" cy="36830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900" b="1" cap="all">
                <a:solidFill>
                  <a:srgbClr val="3B3D40"/>
                </a:solidFill>
                <a:latin typeface="Neris Black"/>
                <a:ea typeface="Neris Black"/>
                <a:cs typeface="Neris Black"/>
                <a:sym typeface="Neris Black"/>
              </a:defRPr>
            </a:lvl1pPr>
          </a:lstStyle>
          <a:p>
            <a:pPr lvl="0">
              <a:defRPr sz="1800" b="0" cap="none">
                <a:solidFill>
                  <a:srgbClr val="000000"/>
                </a:solidFill>
              </a:defRPr>
            </a:pPr>
            <a:r>
              <a:rPr sz="1850" b="1" cap="all">
                <a:solidFill>
                  <a:srgbClr val="3B3D40"/>
                </a:solidFill>
              </a:rPr>
              <a:t>Title Text</a:t>
            </a:r>
          </a:p>
        </p:txBody>
      </p:sp>
      <p:sp>
        <p:nvSpPr>
          <p:cNvPr id="9" name="Shape 39"/>
          <p:cNvSpPr/>
          <p:nvPr userDrawn="1"/>
        </p:nvSpPr>
        <p:spPr>
          <a:xfrm>
            <a:off x="1" y="-3175"/>
            <a:ext cx="12204700" cy="59436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defTabSz="544211" rtl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1600" b="0" kern="1200">
              <a:solidFill>
                <a:srgbClr val="FFFFFF"/>
              </a:solidFill>
              <a:latin typeface="Neris Light"/>
              <a:ea typeface="+mn-ea"/>
              <a:cs typeface="+mn-cs"/>
              <a:sym typeface="Helvetica Light"/>
            </a:endParaRPr>
          </a:p>
        </p:txBody>
      </p:sp>
      <p:pic>
        <p:nvPicPr>
          <p:cNvPr id="10" name="Picture 9" descr="Logo-Full-NoTag-Light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5927" y="251806"/>
            <a:ext cx="1771560" cy="31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08165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8DA93-349A-FE4F-9D40-97DBBA2B1A4C}" type="datetimeFigureOut">
              <a:rPr lang="en-US" smtClean="0"/>
              <a:t>1/24/18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34DDC-89ED-2A40-BF57-81CE12B18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70" r:id="rId3"/>
    <p:sldLayoutId id="2147483661" r:id="rId4"/>
    <p:sldLayoutId id="2147483662" r:id="rId5"/>
    <p:sldLayoutId id="2147483650" r:id="rId6"/>
    <p:sldLayoutId id="2147483652" r:id="rId7"/>
    <p:sldLayoutId id="2147483663" r:id="rId8"/>
    <p:sldLayoutId id="2147483664" r:id="rId9"/>
    <p:sldLayoutId id="2147483665" r:id="rId10"/>
    <p:sldLayoutId id="2147483669" r:id="rId11"/>
    <p:sldLayoutId id="2147483671" r:id="rId12"/>
    <p:sldLayoutId id="2147483673" r:id="rId13"/>
    <p:sldLayoutId id="2147483675" r:id="rId1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Developer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Component Library</a:t>
            </a:r>
            <a:endParaRPr lang="en-US" dirty="0"/>
          </a:p>
        </p:txBody>
      </p:sp>
      <p:sp>
        <p:nvSpPr>
          <p:cNvPr id="4" name="Subtitle 3"/>
          <p:cNvSpPr txBox="1">
            <a:spLocks/>
          </p:cNvSpPr>
          <p:nvPr/>
        </p:nvSpPr>
        <p:spPr>
          <a:xfrm>
            <a:off x="5912324" y="4311905"/>
            <a:ext cx="6141721" cy="1468172"/>
          </a:xfrm>
          <a:prstGeom prst="rect">
            <a:avLst/>
          </a:prstGeom>
          <a:solidFill>
            <a:schemeClr val="bg1"/>
          </a:solidFill>
        </p:spPr>
        <p:txBody>
          <a:bodyPr vert="horz" lIns="121920" tIns="60960" rIns="121920" bIns="6096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800" b="0" i="0" kern="120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1167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4215063" cy="4729558"/>
          </a:xfrm>
        </p:spPr>
        <p:txBody>
          <a:bodyPr>
            <a:normAutofit/>
          </a:bodyPr>
          <a:lstStyle/>
          <a:p>
            <a:r>
              <a:rPr lang="en-US" sz="2200" dirty="0"/>
              <a:t>Advanced components</a:t>
            </a:r>
          </a:p>
          <a:p>
            <a:r>
              <a:rPr lang="en-US" sz="2200" dirty="0"/>
              <a:t>Best practices</a:t>
            </a:r>
          </a:p>
          <a:p>
            <a:r>
              <a:rPr lang="en-US" sz="2200" dirty="0"/>
              <a:t>Hints and tips - components</a:t>
            </a:r>
          </a:p>
          <a:p>
            <a:r>
              <a:rPr lang="en-US" sz="2200" dirty="0"/>
              <a:t>Hints and tips - </a:t>
            </a:r>
            <a:r>
              <a:rPr lang="en-US" sz="2200" dirty="0" smtClean="0"/>
              <a:t>templates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4043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Advanced components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87073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Advanced components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 lnSpcReduction="10000"/>
          </a:bodyPr>
          <a:lstStyle/>
          <a:p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To make lists, use the &lt;</a:t>
            </a:r>
            <a:r>
              <a:rPr lang="en-US" sz="2200" dirty="0" err="1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cp</a:t>
            </a: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-list&gt; special markup item</a:t>
            </a:r>
          </a:p>
          <a:p>
            <a:pPr marL="400050" lvl="1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-list name="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&lt;li&gt;{text}&lt;/li&gt;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&lt;/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-list&gt;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 smtClean="0"/>
              <a:t>After </a:t>
            </a:r>
            <a:r>
              <a:rPr lang="en-US" dirty="0"/>
              <a:t>saving, you will be able to set min/max counts for your list</a:t>
            </a:r>
          </a:p>
          <a:p>
            <a:r>
              <a:rPr lang="en-US" dirty="0"/>
              <a:t>The input form will use panels for data entry</a:t>
            </a:r>
          </a:p>
          <a:p>
            <a:r>
              <a:rPr lang="en-US" dirty="0"/>
              <a:t>Inside the list you can have whatever components you </a:t>
            </a:r>
            <a:r>
              <a:rPr lang="en-US" dirty="0" smtClean="0"/>
              <a:t>like</a:t>
            </a:r>
          </a:p>
          <a:p>
            <a:pPr lvl="1"/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But I strongly recommend 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that the item inside the list (unless trivial) is a </a:t>
            </a: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component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en-US" dirty="0"/>
              <a:t>You can also nest lists – useful for navigation</a:t>
            </a:r>
          </a:p>
          <a:p>
            <a:pPr lvl="1"/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5865616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Advanced components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For input-only components </a:t>
            </a:r>
            <a:r>
              <a:rPr lang="en-GB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you can use </a:t>
            </a:r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special </a:t>
            </a:r>
            <a:r>
              <a:rPr lang="en-GB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markup</a:t>
            </a:r>
            <a:endParaRPr lang="en-GB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 marL="400050" lvl="1" indent="0"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-preview&gt;&lt;!--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{server : Text}</a:t>
            </a:r>
            <a:b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{folder : Text}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--&gt;&lt;/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-preview&gt;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ym typeface="Wingdings" panose="05000000000000000000" pitchFamily="2" charset="2"/>
              </a:rPr>
              <a:t>The </a:t>
            </a:r>
            <a:r>
              <a:rPr lang="en-US" dirty="0" err="1">
                <a:sym typeface="Wingdings" panose="05000000000000000000" pitchFamily="2" charset="2"/>
              </a:rPr>
              <a:t>cp</a:t>
            </a:r>
            <a:r>
              <a:rPr lang="en-US" dirty="0">
                <a:sym typeface="Wingdings" panose="05000000000000000000" pitchFamily="2" charset="2"/>
              </a:rPr>
              <a:t>-preview tag says to only produce any output in preview mode</a:t>
            </a:r>
          </a:p>
          <a:p>
            <a:r>
              <a:rPr lang="en-US" dirty="0">
                <a:sym typeface="Wingdings" panose="05000000000000000000" pitchFamily="2" charset="2"/>
              </a:rPr>
              <a:t>Then wrap in HTML comments so that nothing is rendered to the browser</a:t>
            </a:r>
          </a:p>
          <a:p>
            <a:r>
              <a:rPr lang="en-US" dirty="0">
                <a:sym typeface="Wingdings" panose="05000000000000000000" pitchFamily="2" charset="2"/>
              </a:rPr>
              <a:t>Useful for configuration on the site wrapper where output is not required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  <a:sym typeface="Wingdings" panose="05000000000000000000" pitchFamily="2" charset="2"/>
              </a:rPr>
              <a:t>Or you can make a </a:t>
            </a: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  <a:sym typeface="Wingdings" panose="05000000000000000000" pitchFamily="2" charset="2"/>
              </a:rPr>
              <a:t>layout that 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  <a:sym typeface="Wingdings" panose="05000000000000000000" pitchFamily="2" charset="2"/>
              </a:rPr>
              <a:t>doesn’t output </a:t>
            </a: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  <a:sym typeface="Wingdings" panose="05000000000000000000" pitchFamily="2" charset="2"/>
              </a:rPr>
              <a:t>anything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547488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Advanced components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dirty="0"/>
              <a:t>Can’t always do what you want with plain markup</a:t>
            </a:r>
          </a:p>
          <a:p>
            <a:r>
              <a:rPr lang="en-US" dirty="0"/>
              <a:t>For example &lt;h1&gt;{title : Text}&lt;/h1&gt;</a:t>
            </a:r>
          </a:p>
          <a:p>
            <a:r>
              <a:rPr lang="en-US" dirty="0"/>
              <a:t>If the title is empty, you don’t want to render the &lt;h1&gt; tag</a:t>
            </a:r>
          </a:p>
          <a:p>
            <a:r>
              <a:rPr lang="en-US" dirty="0"/>
              <a:t>Make this field into a Title component</a:t>
            </a:r>
          </a:p>
          <a:p>
            <a:r>
              <a:rPr lang="en-US" dirty="0"/>
              <a:t>Edit </a:t>
            </a:r>
            <a:r>
              <a:rPr lang="en-US" dirty="0" err="1" smtClean="0"/>
              <a:t>Components_Title.cs</a:t>
            </a:r>
            <a:r>
              <a:rPr lang="en-US" dirty="0" smtClean="0"/>
              <a:t> (not </a:t>
            </a:r>
            <a:r>
              <a:rPr lang="en-US" dirty="0" err="1" smtClean="0"/>
              <a:t>Components_TitleBase.cs</a:t>
            </a:r>
            <a:r>
              <a:rPr lang="en-US" dirty="0"/>
              <a:t> </a:t>
            </a:r>
            <a:r>
              <a:rPr lang="en-US" dirty="0" smtClean="0"/>
              <a:t>!)</a:t>
            </a:r>
            <a:endParaRPr lang="en-US" dirty="0"/>
          </a:p>
          <a:p>
            <a:r>
              <a:rPr lang="en-US" dirty="0"/>
              <a:t>In the output method, put: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if (</a:t>
            </a:r>
            <a:r>
              <a:rPr lang="en-GB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asset.Raw</a:t>
            </a:r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[name + "_title" + index] == "") return </a:t>
            </a:r>
            <a:r>
              <a:rPr lang="en-GB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"";</a:t>
            </a:r>
            <a:endParaRPr lang="en-GB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490077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Advanced components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GB" dirty="0"/>
              <a:t>When customizing code:</a:t>
            </a:r>
          </a:p>
          <a:p>
            <a:r>
              <a:rPr lang="en-GB" dirty="0"/>
              <a:t>name is passed in – as entered on the Template </a:t>
            </a:r>
            <a:r>
              <a:rPr lang="en-GB" dirty="0" smtClean="0"/>
              <a:t>Definition</a:t>
            </a:r>
            <a:endParaRPr lang="en-GB" dirty="0"/>
          </a:p>
          <a:p>
            <a:r>
              <a:rPr lang="en-GB" dirty="0"/>
              <a:t>index is passed in – in case our component is used in a list</a:t>
            </a:r>
          </a:p>
          <a:p>
            <a:r>
              <a:rPr lang="en-GB" dirty="0"/>
              <a:t>"_title" because that’s the </a:t>
            </a:r>
            <a:r>
              <a:rPr lang="en-GB" dirty="0" smtClean="0"/>
              <a:t>our field is called “Title”</a:t>
            </a:r>
            <a:endParaRPr lang="en-GB" dirty="0"/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Enter data onto the preview and look at the Content view to find</a:t>
            </a:r>
          </a:p>
          <a:p>
            <a:r>
              <a:rPr lang="en-GB" dirty="0"/>
              <a:t>ALWAYS use both the name and the index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If not, it may work on preview but might not when used for real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835513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Advanced components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dirty="0"/>
              <a:t>You can do more complex things than simple replacement with blank</a:t>
            </a:r>
          </a:p>
          <a:p>
            <a:r>
              <a:rPr lang="en-US" dirty="0"/>
              <a:t>For example read </a:t>
            </a:r>
            <a:r>
              <a:rPr lang="en-US" dirty="0" err="1"/>
              <a:t>O</a:t>
            </a:r>
            <a:r>
              <a:rPr lang="en-US" dirty="0" err="1" smtClean="0"/>
              <a:t>utputBase</a:t>
            </a:r>
            <a:r>
              <a:rPr lang="en-US" dirty="0" smtClean="0"/>
              <a:t> </a:t>
            </a:r>
            <a:r>
              <a:rPr lang="en-US" dirty="0"/>
              <a:t>into a string and manipulate it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For example consider a component with an image and some descriptive text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The user gets to choose if the image is on the left or the </a:t>
            </a: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right</a:t>
            </a:r>
          </a:p>
          <a:p>
            <a:pPr lvl="1"/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Use regular expressions to manipulate and rearrange the output… carefully!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en-US" dirty="0"/>
              <a:t>You could even ignore the component output entirely and make your own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But try not to – it’s not always obvious you’ve done this!</a:t>
            </a:r>
          </a:p>
        </p:txBody>
      </p:sp>
    </p:spTree>
    <p:extLst>
      <p:ext uri="{BB962C8B-B14F-4D97-AF65-F5344CB8AC3E}">
        <p14:creationId xmlns:p14="http://schemas.microsoft.com/office/powerpoint/2010/main" val="33227765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Advanced templates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19433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Advanced templates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dirty="0"/>
              <a:t>Component Library is excellent for fixed page layout scenarios</a:t>
            </a:r>
          </a:p>
          <a:p>
            <a:r>
              <a:rPr lang="en-US" dirty="0"/>
              <a:t>Not </a:t>
            </a:r>
            <a:r>
              <a:rPr lang="en-US" dirty="0" smtClean="0"/>
              <a:t>yet so </a:t>
            </a:r>
            <a:r>
              <a:rPr lang="en-US" dirty="0"/>
              <a:t>good for dynamic pages </a:t>
            </a:r>
            <a:r>
              <a:rPr lang="en-US" dirty="0" smtClean="0"/>
              <a:t>such as articles</a:t>
            </a:r>
            <a:r>
              <a:rPr lang="en-US" dirty="0"/>
              <a:t>, built from </a:t>
            </a:r>
            <a:r>
              <a:rPr lang="en-US" dirty="0" smtClean="0"/>
              <a:t>sections</a:t>
            </a:r>
          </a:p>
          <a:p>
            <a:r>
              <a:rPr lang="en-US" dirty="0" smtClean="0"/>
              <a:t>Make a Section component and hand-code it to allow a selection of components</a:t>
            </a:r>
          </a:p>
          <a:p>
            <a:pPr lvl="1"/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Remember to include input/</a:t>
            </a:r>
            <a:r>
              <a:rPr lang="en-US" sz="2200" dirty="0" err="1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post_input</a:t>
            </a: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/output for each</a:t>
            </a:r>
          </a:p>
          <a:p>
            <a:pPr lvl="1"/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Let 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the Component Library do the heavy </a:t>
            </a: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lifting</a:t>
            </a:r>
          </a:p>
          <a:p>
            <a:pPr lvl="1"/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Consider making the available component types configurable to allow reuse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Make a Section List component to allow more than one at a time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Add the Section List component to your template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55538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Advanced templates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089" y="1690688"/>
            <a:ext cx="7469259" cy="4729162"/>
          </a:xfrm>
        </p:spPr>
      </p:pic>
    </p:spTree>
    <p:extLst>
      <p:ext uri="{BB962C8B-B14F-4D97-AF65-F5344CB8AC3E}">
        <p14:creationId xmlns:p14="http://schemas.microsoft.com/office/powerpoint/2010/main" val="236169928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Best practices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50454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Best practices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dirty="0"/>
              <a:t>Create all components at the same HTML hierarchy level</a:t>
            </a:r>
          </a:p>
          <a:p>
            <a:r>
              <a:rPr lang="en-US" dirty="0"/>
              <a:t>Create all layouts at the same HTML hierarchy level</a:t>
            </a:r>
          </a:p>
          <a:p>
            <a:r>
              <a:rPr lang="en-US" dirty="0"/>
              <a:t>Create thumbnails for your components and layouts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They go in </a:t>
            </a: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Component Definitions/_thumbnails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Not mandatory, but a useful visual guide when updating a template</a:t>
            </a:r>
          </a:p>
          <a:p>
            <a:r>
              <a:rPr lang="en-US" dirty="0"/>
              <a:t>Create models to help authors </a:t>
            </a:r>
            <a:r>
              <a:rPr lang="en-US" dirty="0" smtClean="0"/>
              <a:t>to create </a:t>
            </a:r>
            <a:r>
              <a:rPr lang="en-US" dirty="0"/>
              <a:t>content using your templates</a:t>
            </a:r>
          </a:p>
        </p:txBody>
      </p:sp>
    </p:spTree>
    <p:extLst>
      <p:ext uri="{BB962C8B-B14F-4D97-AF65-F5344CB8AC3E}">
        <p14:creationId xmlns:p14="http://schemas.microsoft.com/office/powerpoint/2010/main" val="91487585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Best practices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dirty="0"/>
              <a:t>Always think about (and test) the input experience with your components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Not just preview; also test on the template where it will be used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This is where content authors will spend their day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It needs to be a nice place to work</a:t>
            </a: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!</a:t>
            </a:r>
            <a:endParaRPr lang="en-US" dirty="0"/>
          </a:p>
          <a:p>
            <a:r>
              <a:rPr lang="en-US" dirty="0"/>
              <a:t>If you want to organize components, use New &gt; Component Folder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Components can be moved between folders without affecting </a:t>
            </a: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authors</a:t>
            </a:r>
          </a:p>
          <a:p>
            <a:pPr lvl="1"/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If you need to rename them, simpler to delete the classes and recreate</a:t>
            </a:r>
          </a:p>
          <a:p>
            <a:pPr lvl="1"/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Don’t forget to backup the code if you customized it!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141652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Hints and tips - components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93711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Hints and tips - components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dirty="0"/>
              <a:t>Watch out for collisions between your component names and .NET classes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E.g. event, class, date, etc. It’s easy to get caught out!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Delete the created class files and the component and try again</a:t>
            </a:r>
          </a:p>
          <a:p>
            <a:r>
              <a:rPr lang="en-US" dirty="0"/>
              <a:t>Code component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Use {name : Code} to make a field that will be replaced by code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Enter </a:t>
            </a: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code 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into the Component Details Code Snippet field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Or edit the class file (not the base!) and set a private variable</a:t>
            </a:r>
          </a:p>
          <a:p>
            <a:pPr lvl="2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Then use this variable in the Code Snippet field</a:t>
            </a:r>
          </a:p>
          <a:p>
            <a:pPr lvl="2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This is preferable to a huge code snippet in the field – hard to read</a:t>
            </a:r>
          </a:p>
        </p:txBody>
      </p:sp>
    </p:spTree>
    <p:extLst>
      <p:ext uri="{BB962C8B-B14F-4D97-AF65-F5344CB8AC3E}">
        <p14:creationId xmlns:p14="http://schemas.microsoft.com/office/powerpoint/2010/main" val="34425990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Hints and tips - components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dirty="0"/>
              <a:t>If you make complex changes to a component, always Save and Refresh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Error messages will be big and red and on the first page!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Remember: they’re not shown until you refresh the form</a:t>
            </a:r>
          </a:p>
          <a:p>
            <a:r>
              <a:rPr lang="en-US" dirty="0"/>
              <a:t>If you make a pure code component, leave the markup box blank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Or include a suitable message, so users don’t get confused</a:t>
            </a: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!</a:t>
            </a:r>
          </a:p>
          <a:p>
            <a:r>
              <a:rPr lang="en-US" dirty="0"/>
              <a:t>If you make major changes to the output of a component, add a comment</a:t>
            </a:r>
          </a:p>
          <a:p>
            <a:pPr lvl="1"/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Help a component developer to understand what to do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6695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Hints and tips - templates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689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Hints and tips - templates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dirty="0"/>
              <a:t>Never edit the template files that were created by the Component Library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Input.aspx, output.aspx and post_input.aspx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They are recreated each time the template is </a:t>
            </a: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saved</a:t>
            </a:r>
          </a:p>
          <a:p>
            <a:pPr lvl="1"/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Post_save.aspx is also created if you’re using the TMF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en-US" dirty="0"/>
              <a:t>You can add/edit any other template files as </a:t>
            </a:r>
            <a:r>
              <a:rPr lang="en-US" dirty="0" smtClean="0"/>
              <a:t>required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Useful to turn off publishing on templates made by </a:t>
            </a:r>
            <a:r>
              <a:rPr lang="en-US" sz="2200" dirty="0" err="1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Nav</a:t>
            </a: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Wrapper Definition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9163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84779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BB18FA72F8D41BE3AADDE8766CF8E" ma:contentTypeVersion="14" ma:contentTypeDescription="Create a new document." ma:contentTypeScope="" ma:versionID="aac1d5b023d3e9d060c6b7ce096ea336">
  <xsd:schema xmlns:xsd="http://www.w3.org/2001/XMLSchema" xmlns:xs="http://www.w3.org/2001/XMLSchema" xmlns:p="http://schemas.microsoft.com/office/2006/metadata/properties" xmlns:ns2="e689240d-251c-4017-adba-547be9a28cf3" xmlns:ns3="7ebad545-6f24-4a50-86d9-37ac9f441162" targetNamespace="http://schemas.microsoft.com/office/2006/metadata/properties" ma:root="true" ma:fieldsID="db0a1b696c6c9a88a3fc64a84bd11f01" ns2:_="" ns3:_="">
    <xsd:import namespace="e689240d-251c-4017-adba-547be9a28cf3"/>
    <xsd:import namespace="7ebad545-6f24-4a50-86d9-37ac9f44116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9240d-251c-4017-adba-547be9a28cf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0f61ad7-14d7-4a18-9ecb-ecf5fa16bdf2}" ma:internalName="TaxCatchAll" ma:showField="CatchAllData" ma:web="e689240d-251c-4017-adba-547be9a28c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ad545-6f24-4a50-86d9-37ac9f4411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fef160-e776-43c2-8f95-bf70117a71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bad545-6f24-4a50-86d9-37ac9f441162">
      <Terms xmlns="http://schemas.microsoft.com/office/infopath/2007/PartnerControls"/>
    </lcf76f155ced4ddcb4097134ff3c332f>
    <TaxCatchAll xmlns="e689240d-251c-4017-adba-547be9a28cf3" xsi:nil="true"/>
  </documentManagement>
</p:properties>
</file>

<file path=customXml/itemProps1.xml><?xml version="1.0" encoding="utf-8"?>
<ds:datastoreItem xmlns:ds="http://schemas.openxmlformats.org/officeDocument/2006/customXml" ds:itemID="{398FE230-2A32-4417-92C8-1E7FBB049F9A}"/>
</file>

<file path=customXml/itemProps2.xml><?xml version="1.0" encoding="utf-8"?>
<ds:datastoreItem xmlns:ds="http://schemas.openxmlformats.org/officeDocument/2006/customXml" ds:itemID="{B25C2834-1F4E-41EA-908A-355E71DF42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7E112A-C876-46A5-91A0-2AAD3A59F7E4}">
  <ds:schemaRefs>
    <ds:schemaRef ds:uri="http://purl.org/dc/dcmitype/"/>
    <ds:schemaRef ds:uri="c81fd3e1-4b46-4bb7-aee6-da9f3dad3097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631082eb-fd3e-4e0d-a348-9c93b2e913b5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6109</TotalTime>
  <Words>817</Words>
  <Application>Microsoft Macintosh PowerPoint</Application>
  <PresentationFormat>Widescreen</PresentationFormat>
  <Paragraphs>116</Paragraphs>
  <Slides>20</Slides>
  <Notes>14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Calibri</vt:lpstr>
      <vt:lpstr>Calibri Light</vt:lpstr>
      <vt:lpstr>Courier New</vt:lpstr>
      <vt:lpstr>Helvetica Light</vt:lpstr>
      <vt:lpstr>Neris Black</vt:lpstr>
      <vt:lpstr>Neris Light</vt:lpstr>
      <vt:lpstr>Seravek Light</vt:lpstr>
      <vt:lpstr>Wingdings</vt:lpstr>
      <vt:lpstr>Arial</vt:lpstr>
      <vt:lpstr>Office Theme</vt:lpstr>
      <vt:lpstr>Developer Training</vt:lpstr>
      <vt:lpstr>Agenda</vt:lpstr>
      <vt:lpstr>Advanced components</vt:lpstr>
      <vt:lpstr>Advanced components</vt:lpstr>
      <vt:lpstr>Advanced components</vt:lpstr>
      <vt:lpstr>Advanced components</vt:lpstr>
      <vt:lpstr>Advanced components</vt:lpstr>
      <vt:lpstr>Advanced components</vt:lpstr>
      <vt:lpstr>Advanced templates</vt:lpstr>
      <vt:lpstr>Advanced templates</vt:lpstr>
      <vt:lpstr>Advanced templates</vt:lpstr>
      <vt:lpstr>Best practices</vt:lpstr>
      <vt:lpstr>Best practices</vt:lpstr>
      <vt:lpstr>Best practices</vt:lpstr>
      <vt:lpstr>Hints and tips - components</vt:lpstr>
      <vt:lpstr>Hints and tips - components</vt:lpstr>
      <vt:lpstr>Hints and tips - components</vt:lpstr>
      <vt:lpstr>Hints and tips - templates</vt:lpstr>
      <vt:lpstr>Hints and tips - templates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melissa kendall</dc:creator>
  <cp:lastModifiedBy>Marcus Edwards</cp:lastModifiedBy>
  <cp:revision>349</cp:revision>
  <cp:lastPrinted>2017-02-13T16:30:41Z</cp:lastPrinted>
  <dcterms:created xsi:type="dcterms:W3CDTF">2016-06-20T21:16:35Z</dcterms:created>
  <dcterms:modified xsi:type="dcterms:W3CDTF">2018-01-24T13:08:42Z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0x01010080DBB18FA72F8D41BE3AADDE8766CF8E</vt:lpwstr>
  </property>
</Properties>
</file>