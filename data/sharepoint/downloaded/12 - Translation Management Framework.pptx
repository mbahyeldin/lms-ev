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82" r:id="rId4"/>
  </p:sldMasterIdLst>
  <p:notesMasterIdLst>
    <p:notesMasterId r:id="rId26"/>
  </p:notesMasterIdLst>
  <p:handoutMasterIdLst>
    <p:handoutMasterId r:id="rId27"/>
  </p:handoutMasterIdLst>
  <p:sldIdLst>
    <p:sldId id="256" r:id="rId5"/>
    <p:sldId id="329" r:id="rId6"/>
    <p:sldId id="331" r:id="rId7"/>
    <p:sldId id="332" r:id="rId8"/>
    <p:sldId id="333" r:id="rId9"/>
    <p:sldId id="334" r:id="rId10"/>
    <p:sldId id="342" r:id="rId11"/>
    <p:sldId id="335" r:id="rId12"/>
    <p:sldId id="340" r:id="rId13"/>
    <p:sldId id="336" r:id="rId14"/>
    <p:sldId id="343" r:id="rId15"/>
    <p:sldId id="345" r:id="rId16"/>
    <p:sldId id="346" r:id="rId17"/>
    <p:sldId id="347" r:id="rId18"/>
    <p:sldId id="348" r:id="rId19"/>
    <p:sldId id="337" r:id="rId20"/>
    <p:sldId id="338" r:id="rId21"/>
    <p:sldId id="339" r:id="rId22"/>
    <p:sldId id="344" r:id="rId23"/>
    <p:sldId id="341" r:id="rId24"/>
    <p:sldId id="328" r:id="rId2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F4D7FE53-884E-FB44-BA47-7F4DC794B0F8}">
          <p14:sldIdLst>
            <p14:sldId id="256"/>
          </p14:sldIdLst>
        </p14:section>
        <p14:section name="Introduction" id="{FDC05B97-ECA3-814E-A7AC-D49BEC64439C}">
          <p14:sldIdLst>
            <p14:sldId id="329"/>
            <p14:sldId id="331"/>
            <p14:sldId id="332"/>
            <p14:sldId id="333"/>
            <p14:sldId id="334"/>
          </p14:sldIdLst>
        </p14:section>
        <p14:section name="TMF Overview" id="{F67B157D-620B-DF42-9F8B-A1BD620BF865}">
          <p14:sldIdLst>
            <p14:sldId id="342"/>
            <p14:sldId id="335"/>
            <p14:sldId id="340"/>
            <p14:sldId id="336"/>
          </p14:sldIdLst>
        </p14:section>
        <p14:section name="TMF Configuration" id="{E04F07C3-F206-C34A-87FA-4AD12D4B1EA3}">
          <p14:sldIdLst>
            <p14:sldId id="343"/>
            <p14:sldId id="345"/>
            <p14:sldId id="346"/>
            <p14:sldId id="347"/>
          </p14:sldIdLst>
        </p14:section>
        <p14:section name="TMF User Interface" id="{4E0A552C-591D-AC41-9122-71F2AD55C74D}">
          <p14:sldIdLst>
            <p14:sldId id="348"/>
            <p14:sldId id="337"/>
            <p14:sldId id="338"/>
            <p14:sldId id="339"/>
          </p14:sldIdLst>
        </p14:section>
        <p14:section name="TMF External Translation" id="{32E49BFE-36DD-6040-BF47-1DB15A0D99AB}">
          <p14:sldIdLst>
            <p14:sldId id="344"/>
            <p14:sldId id="341"/>
          </p14:sldIdLst>
        </p14:section>
        <p14:section name="Wrap-Up" id="{F53CF82D-9C9C-C848-AE6E-43FCDA4A19F2}">
          <p14:sldIdLst>
            <p14:sldId id="32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239">
          <p15:clr>
            <a:srgbClr val="A4A3A4"/>
          </p15:clr>
        </p15:guide>
        <p15:guide id="2" pos="448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ise Duncan" initials="DD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A3A1"/>
    <a:srgbClr val="BC217E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9" autoAdjust="0"/>
    <p:restoredTop sz="81633" autoAdjust="0"/>
  </p:normalViewPr>
  <p:slideViewPr>
    <p:cSldViewPr snapToGrid="0" snapToObjects="1">
      <p:cViewPr varScale="1">
        <p:scale>
          <a:sx n="138" d="100"/>
          <a:sy n="138" d="100"/>
        </p:scale>
        <p:origin x="1472" y="176"/>
      </p:cViewPr>
      <p:guideLst>
        <p:guide orient="horz" pos="3239"/>
        <p:guide pos="44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01" d="100"/>
          <a:sy n="101" d="100"/>
        </p:scale>
        <p:origin x="3552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3E295-345A-EC4B-9F1D-2F0A42EACD60}" type="datetimeFigureOut">
              <a:rPr lang="en-US" smtClean="0"/>
              <a:t>4/3/20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619D6-E646-234E-84F5-6A2E3B8AC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8393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015F3-BD29-154F-B5A6-B0809F0C39E0}" type="datetimeFigureOut">
              <a:rPr lang="en-US" smtClean="0"/>
              <a:t>4/3/20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7F15A1-762E-3242-BF3A-E1B71DAA62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2004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865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716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239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5885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8966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3238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435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w/ PS Graphic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251" y="1628"/>
            <a:ext cx="506246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  <p:sp>
        <p:nvSpPr>
          <p:cNvPr id="17" name="Subtitle 2"/>
          <p:cNvSpPr txBox="1">
            <a:spLocks/>
          </p:cNvSpPr>
          <p:nvPr userDrawn="1"/>
        </p:nvSpPr>
        <p:spPr>
          <a:xfrm>
            <a:off x="2187105" y="3263556"/>
            <a:ext cx="6858000" cy="17559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rgbClr val="B5217E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t>Denise Duncan / Director, Enablement Services / </a:t>
            </a:r>
            <a:fld id="{35902B22-8956-46D5-824C-D7C7DC1E9C2E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pPr marL="0" marR="0" lvl="0" indent="0" algn="r" defTabSz="685800" rtl="0" eaLnBrk="1" fontAlgn="auto" latinLnBrk="0" hangingPunct="1">
                <a:lnSpc>
                  <a:spcPct val="90000"/>
                </a:lnSpc>
                <a:spcBef>
                  <a:spcPts val="75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t>3 April 2020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95A"/>
              </a:solidFill>
              <a:effectLst/>
              <a:uLnTx/>
              <a:uFillTx/>
              <a:latin typeface="Calibri Light" charset="0"/>
              <a:ea typeface="Calibri Light" charset="0"/>
              <a:cs typeface="Calibri Light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183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Magenta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pezoid 11"/>
          <p:cNvSpPr/>
          <p:nvPr userDrawn="1"/>
        </p:nvSpPr>
        <p:spPr>
          <a:xfrm>
            <a:off x="-23470" y="-1113"/>
            <a:ext cx="4590839" cy="5152587"/>
          </a:xfrm>
          <a:custGeom>
            <a:avLst/>
            <a:gdLst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254681 w 4339575"/>
              <a:gd name="connsiteY2" fmla="*/ 0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305481 w 4339575"/>
              <a:gd name="connsiteY2" fmla="*/ 135466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1150306 w 5489881"/>
              <a:gd name="connsiteY0" fmla="*/ 6888789 h 6888789"/>
              <a:gd name="connsiteX1" fmla="*/ 0 w 5489881"/>
              <a:gd name="connsiteY1" fmla="*/ 135468 h 6888789"/>
              <a:gd name="connsiteX2" fmla="*/ 4455787 w 5489881"/>
              <a:gd name="connsiteY2" fmla="*/ 0 h 6888789"/>
              <a:gd name="connsiteX3" fmla="*/ 5489881 w 5489881"/>
              <a:gd name="connsiteY3" fmla="*/ 6888789 h 6888789"/>
              <a:gd name="connsiteX4" fmla="*/ 1150306 w 5489881"/>
              <a:gd name="connsiteY4" fmla="*/ 6888789 h 6888789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4472720 w 5489881"/>
              <a:gd name="connsiteY2" fmla="*/ 33865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389920 w 5489881"/>
              <a:gd name="connsiteY2" fmla="*/ 50799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728587 w 5489881"/>
              <a:gd name="connsiteY2" fmla="*/ 33866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87188 h 6787188"/>
              <a:gd name="connsiteX1" fmla="*/ 0 w 5489881"/>
              <a:gd name="connsiteY1" fmla="*/ 33867 h 6787188"/>
              <a:gd name="connsiteX2" fmla="*/ 2711654 w 5489881"/>
              <a:gd name="connsiteY2" fmla="*/ 0 h 6787188"/>
              <a:gd name="connsiteX3" fmla="*/ 5489881 w 5489881"/>
              <a:gd name="connsiteY3" fmla="*/ 6787188 h 6787188"/>
              <a:gd name="connsiteX4" fmla="*/ 1150306 w 5489881"/>
              <a:gd name="connsiteY4" fmla="*/ 6787188 h 6787188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677787 w 5489881"/>
              <a:gd name="connsiteY2" fmla="*/ 16933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6268815"/>
              <a:gd name="connsiteY0" fmla="*/ 6753321 h 6973454"/>
              <a:gd name="connsiteX1" fmla="*/ 0 w 6268815"/>
              <a:gd name="connsiteY1" fmla="*/ 0 h 6973454"/>
              <a:gd name="connsiteX2" fmla="*/ 2677787 w 6268815"/>
              <a:gd name="connsiteY2" fmla="*/ 16933 h 6973454"/>
              <a:gd name="connsiteX3" fmla="*/ 6268815 w 6268815"/>
              <a:gd name="connsiteY3" fmla="*/ 6973454 h 6973454"/>
              <a:gd name="connsiteX4" fmla="*/ 1150306 w 6268815"/>
              <a:gd name="connsiteY4" fmla="*/ 6753321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678947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593886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121119"/>
              <a:gd name="connsiteY0" fmla="*/ 6939587 h 6984196"/>
              <a:gd name="connsiteX1" fmla="*/ 1160 w 6121119"/>
              <a:gd name="connsiteY1" fmla="*/ 0 h 6984196"/>
              <a:gd name="connsiteX2" fmla="*/ 2593886 w 6121119"/>
              <a:gd name="connsiteY2" fmla="*/ 16933 h 6984196"/>
              <a:gd name="connsiteX3" fmla="*/ 6121119 w 6121119"/>
              <a:gd name="connsiteY3" fmla="*/ 6984196 h 6984196"/>
              <a:gd name="connsiteX4" fmla="*/ 0 w 6121119"/>
              <a:gd name="connsiteY4" fmla="*/ 693958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592729 w 6119962"/>
              <a:gd name="connsiteY2" fmla="*/ 16933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624626 w 6119962"/>
              <a:gd name="connsiteY2" fmla="*/ 70647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20112 w 6098700"/>
              <a:gd name="connsiteY0" fmla="*/ 6939587 h 6941226"/>
              <a:gd name="connsiteX1" fmla="*/ 6 w 6098700"/>
              <a:gd name="connsiteY1" fmla="*/ 0 h 6941226"/>
              <a:gd name="connsiteX2" fmla="*/ 2603364 w 6098700"/>
              <a:gd name="connsiteY2" fmla="*/ 27677 h 6941226"/>
              <a:gd name="connsiteX3" fmla="*/ 6098700 w 6098700"/>
              <a:gd name="connsiteY3" fmla="*/ 6941226 h 6941226"/>
              <a:gd name="connsiteX4" fmla="*/ 20112 w 6098700"/>
              <a:gd name="connsiteY4" fmla="*/ 6939587 h 6941226"/>
              <a:gd name="connsiteX0" fmla="*/ 0 w 6121119"/>
              <a:gd name="connsiteY0" fmla="*/ 6918102 h 6941226"/>
              <a:gd name="connsiteX1" fmla="*/ 22425 w 6121119"/>
              <a:gd name="connsiteY1" fmla="*/ 0 h 6941226"/>
              <a:gd name="connsiteX2" fmla="*/ 2625783 w 6121119"/>
              <a:gd name="connsiteY2" fmla="*/ 27677 h 6941226"/>
              <a:gd name="connsiteX3" fmla="*/ 6121119 w 6121119"/>
              <a:gd name="connsiteY3" fmla="*/ 6941226 h 6941226"/>
              <a:gd name="connsiteX4" fmla="*/ 0 w 6121119"/>
              <a:gd name="connsiteY4" fmla="*/ 6918102 h 6941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1119" h="6941226">
                <a:moveTo>
                  <a:pt x="0" y="6918102"/>
                </a:moveTo>
                <a:cubicBezTo>
                  <a:pt x="387" y="4604906"/>
                  <a:pt x="22038" y="2313196"/>
                  <a:pt x="22425" y="0"/>
                </a:cubicBezTo>
                <a:lnTo>
                  <a:pt x="2625783" y="27677"/>
                </a:lnTo>
                <a:lnTo>
                  <a:pt x="6121119" y="6941226"/>
                </a:lnTo>
                <a:lnTo>
                  <a:pt x="0" y="6918102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  <p:sp>
        <p:nvSpPr>
          <p:cNvPr id="17" name="Subtitle 2"/>
          <p:cNvSpPr txBox="1">
            <a:spLocks/>
          </p:cNvSpPr>
          <p:nvPr userDrawn="1"/>
        </p:nvSpPr>
        <p:spPr>
          <a:xfrm>
            <a:off x="2187105" y="3263556"/>
            <a:ext cx="6858000" cy="17559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rgbClr val="B5217E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t>Denise Duncan / Director, Enablement Services / </a:t>
            </a:r>
            <a:fld id="{E354890E-E41F-4ECD-B53C-931DF6A975CF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pPr marL="0" marR="0" lvl="0" indent="0" algn="r" defTabSz="685800" rtl="0" eaLnBrk="1" fontAlgn="auto" latinLnBrk="0" hangingPunct="1">
                <a:lnSpc>
                  <a:spcPct val="90000"/>
                </a:lnSpc>
                <a:spcBef>
                  <a:spcPts val="75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t>3 April 2020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95A"/>
              </a:solidFill>
              <a:effectLst/>
              <a:uLnTx/>
              <a:uFillTx/>
              <a:latin typeface="Calibri Light" charset="0"/>
              <a:ea typeface="Calibri Light" charset="0"/>
              <a:cs typeface="Calibri Light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  <p:sp>
        <p:nvSpPr>
          <p:cNvPr id="20" name="Right Triangle 19"/>
          <p:cNvSpPr/>
          <p:nvPr userDrawn="1"/>
        </p:nvSpPr>
        <p:spPr>
          <a:xfrm rot="10800000" flipH="1">
            <a:off x="-23471" y="-10714"/>
            <a:ext cx="5053583" cy="2760916"/>
          </a:xfrm>
          <a:custGeom>
            <a:avLst/>
            <a:gdLst>
              <a:gd name="connsiteX0" fmla="*/ 0 w 5913047"/>
              <a:gd name="connsiteY0" fmla="*/ 3980599 h 3980599"/>
              <a:gd name="connsiteX1" fmla="*/ 0 w 5913047"/>
              <a:gd name="connsiteY1" fmla="*/ 0 h 3980599"/>
              <a:gd name="connsiteX2" fmla="*/ 5913047 w 5913047"/>
              <a:gd name="connsiteY2" fmla="*/ 3980599 h 3980599"/>
              <a:gd name="connsiteX3" fmla="*/ 0 w 5913047"/>
              <a:gd name="connsiteY3" fmla="*/ 3980599 h 3980599"/>
              <a:gd name="connsiteX0" fmla="*/ 0 w 6956034"/>
              <a:gd name="connsiteY0" fmla="*/ 3980599 h 3980599"/>
              <a:gd name="connsiteX1" fmla="*/ 0 w 6956034"/>
              <a:gd name="connsiteY1" fmla="*/ 0 h 3980599"/>
              <a:gd name="connsiteX2" fmla="*/ 6956034 w 6956034"/>
              <a:gd name="connsiteY2" fmla="*/ 3894874 h 3980599"/>
              <a:gd name="connsiteX3" fmla="*/ 0 w 6956034"/>
              <a:gd name="connsiteY3" fmla="*/ 3980599 h 3980599"/>
              <a:gd name="connsiteX0" fmla="*/ 14288 w 6956034"/>
              <a:gd name="connsiteY0" fmla="*/ 3909162 h 3909162"/>
              <a:gd name="connsiteX1" fmla="*/ 0 w 6956034"/>
              <a:gd name="connsiteY1" fmla="*/ 0 h 3909162"/>
              <a:gd name="connsiteX2" fmla="*/ 6956034 w 6956034"/>
              <a:gd name="connsiteY2" fmla="*/ 3894874 h 3909162"/>
              <a:gd name="connsiteX3" fmla="*/ 14288 w 6956034"/>
              <a:gd name="connsiteY3" fmla="*/ 3909162 h 3909162"/>
              <a:gd name="connsiteX0" fmla="*/ 634 w 6942380"/>
              <a:gd name="connsiteY0" fmla="*/ 3837724 h 3837724"/>
              <a:gd name="connsiteX1" fmla="*/ 14921 w 6942380"/>
              <a:gd name="connsiteY1" fmla="*/ 0 h 3837724"/>
              <a:gd name="connsiteX2" fmla="*/ 6942380 w 6942380"/>
              <a:gd name="connsiteY2" fmla="*/ 3823436 h 3837724"/>
              <a:gd name="connsiteX3" fmla="*/ 634 w 6942380"/>
              <a:gd name="connsiteY3" fmla="*/ 3837724 h 3837724"/>
              <a:gd name="connsiteX0" fmla="*/ 414 w 6942160"/>
              <a:gd name="connsiteY0" fmla="*/ 3709136 h 3709136"/>
              <a:gd name="connsiteX1" fmla="*/ 28989 w 6942160"/>
              <a:gd name="connsiteY1" fmla="*/ 0 h 3709136"/>
              <a:gd name="connsiteX2" fmla="*/ 6942160 w 6942160"/>
              <a:gd name="connsiteY2" fmla="*/ 3694848 h 3709136"/>
              <a:gd name="connsiteX3" fmla="*/ 414 w 6942160"/>
              <a:gd name="connsiteY3" fmla="*/ 3709136 h 3709136"/>
              <a:gd name="connsiteX0" fmla="*/ 414 w 6942160"/>
              <a:gd name="connsiteY0" fmla="*/ 3751998 h 3751998"/>
              <a:gd name="connsiteX1" fmla="*/ 28989 w 6942160"/>
              <a:gd name="connsiteY1" fmla="*/ 0 h 3751998"/>
              <a:gd name="connsiteX2" fmla="*/ 6942160 w 6942160"/>
              <a:gd name="connsiteY2" fmla="*/ 3737710 h 3751998"/>
              <a:gd name="connsiteX3" fmla="*/ 414 w 6942160"/>
              <a:gd name="connsiteY3" fmla="*/ 3751998 h 3751998"/>
              <a:gd name="connsiteX0" fmla="*/ 71438 w 7013184"/>
              <a:gd name="connsiteY0" fmla="*/ 3780573 h 3780573"/>
              <a:gd name="connsiteX1" fmla="*/ 0 w 7013184"/>
              <a:gd name="connsiteY1" fmla="*/ 0 h 3780573"/>
              <a:gd name="connsiteX2" fmla="*/ 7013184 w 7013184"/>
              <a:gd name="connsiteY2" fmla="*/ 3766285 h 3780573"/>
              <a:gd name="connsiteX3" fmla="*/ 71438 w 7013184"/>
              <a:gd name="connsiteY3" fmla="*/ 3780573 h 3780573"/>
              <a:gd name="connsiteX0" fmla="*/ 1374 w 7014558"/>
              <a:gd name="connsiteY0" fmla="*/ 3780573 h 3780573"/>
              <a:gd name="connsiteX1" fmla="*/ 1374 w 7014558"/>
              <a:gd name="connsiteY1" fmla="*/ 0 h 3780573"/>
              <a:gd name="connsiteX2" fmla="*/ 7014558 w 7014558"/>
              <a:gd name="connsiteY2" fmla="*/ 3766285 h 3780573"/>
              <a:gd name="connsiteX3" fmla="*/ 1374 w 7014558"/>
              <a:gd name="connsiteY3" fmla="*/ 3780573 h 3780573"/>
              <a:gd name="connsiteX0" fmla="*/ 1374 w 6334075"/>
              <a:gd name="connsiteY0" fmla="*/ 3780573 h 3798182"/>
              <a:gd name="connsiteX1" fmla="*/ 1374 w 6334075"/>
              <a:gd name="connsiteY1" fmla="*/ 0 h 3798182"/>
              <a:gd name="connsiteX2" fmla="*/ 6334075 w 6334075"/>
              <a:gd name="connsiteY2" fmla="*/ 3798182 h 3798182"/>
              <a:gd name="connsiteX3" fmla="*/ 1374 w 6334075"/>
              <a:gd name="connsiteY3" fmla="*/ 3780573 h 3798182"/>
              <a:gd name="connsiteX0" fmla="*/ 1374 w 5058168"/>
              <a:gd name="connsiteY0" fmla="*/ 3780573 h 3883242"/>
              <a:gd name="connsiteX1" fmla="*/ 1374 w 5058168"/>
              <a:gd name="connsiteY1" fmla="*/ 0 h 3883242"/>
              <a:gd name="connsiteX2" fmla="*/ 5058168 w 5058168"/>
              <a:gd name="connsiteY2" fmla="*/ 3883242 h 3883242"/>
              <a:gd name="connsiteX3" fmla="*/ 1374 w 5058168"/>
              <a:gd name="connsiteY3" fmla="*/ 3780573 h 3883242"/>
              <a:gd name="connsiteX0" fmla="*/ 1374 w 3750363"/>
              <a:gd name="connsiteY0" fmla="*/ 3780573 h 3989567"/>
              <a:gd name="connsiteX1" fmla="*/ 1374 w 3750363"/>
              <a:gd name="connsiteY1" fmla="*/ 0 h 3989567"/>
              <a:gd name="connsiteX2" fmla="*/ 3750363 w 3750363"/>
              <a:gd name="connsiteY2" fmla="*/ 3989567 h 3989567"/>
              <a:gd name="connsiteX3" fmla="*/ 1374 w 3750363"/>
              <a:gd name="connsiteY3" fmla="*/ 3780573 h 3989567"/>
              <a:gd name="connsiteX0" fmla="*/ 1374 w 5515368"/>
              <a:gd name="connsiteY0" fmla="*/ 3780573 h 3780573"/>
              <a:gd name="connsiteX1" fmla="*/ 1374 w 5515368"/>
              <a:gd name="connsiteY1" fmla="*/ 0 h 3780573"/>
              <a:gd name="connsiteX2" fmla="*/ 5515368 w 5515368"/>
              <a:gd name="connsiteY2" fmla="*/ 3745018 h 3780573"/>
              <a:gd name="connsiteX3" fmla="*/ 1374 w 5515368"/>
              <a:gd name="connsiteY3" fmla="*/ 3780573 h 3780573"/>
              <a:gd name="connsiteX0" fmla="*/ 1374 w 7429229"/>
              <a:gd name="connsiteY0" fmla="*/ 3780573 h 3780573"/>
              <a:gd name="connsiteX1" fmla="*/ 1374 w 7429229"/>
              <a:gd name="connsiteY1" fmla="*/ 0 h 3780573"/>
              <a:gd name="connsiteX2" fmla="*/ 7429229 w 7429229"/>
              <a:gd name="connsiteY2" fmla="*/ 3766283 h 3780573"/>
              <a:gd name="connsiteX3" fmla="*/ 1374 w 7429229"/>
              <a:gd name="connsiteY3" fmla="*/ 3780573 h 3780573"/>
              <a:gd name="connsiteX0" fmla="*/ 735 w 7428590"/>
              <a:gd name="connsiteY0" fmla="*/ 4003857 h 4003857"/>
              <a:gd name="connsiteX1" fmla="*/ 11367 w 7428590"/>
              <a:gd name="connsiteY1" fmla="*/ 0 h 4003857"/>
              <a:gd name="connsiteX2" fmla="*/ 7428590 w 7428590"/>
              <a:gd name="connsiteY2" fmla="*/ 3989567 h 4003857"/>
              <a:gd name="connsiteX3" fmla="*/ 735 w 7428590"/>
              <a:gd name="connsiteY3" fmla="*/ 4003857 h 4003857"/>
              <a:gd name="connsiteX0" fmla="*/ 1376 w 7418598"/>
              <a:gd name="connsiteY0" fmla="*/ 3855001 h 3989567"/>
              <a:gd name="connsiteX1" fmla="*/ 1375 w 7418598"/>
              <a:gd name="connsiteY1" fmla="*/ 0 h 3989567"/>
              <a:gd name="connsiteX2" fmla="*/ 7418598 w 7418598"/>
              <a:gd name="connsiteY2" fmla="*/ 3989567 h 3989567"/>
              <a:gd name="connsiteX3" fmla="*/ 1376 w 7418598"/>
              <a:gd name="connsiteY3" fmla="*/ 3855001 h 3989567"/>
              <a:gd name="connsiteX0" fmla="*/ 10634 w 7417223"/>
              <a:gd name="connsiteY0" fmla="*/ 3971960 h 3989567"/>
              <a:gd name="connsiteX1" fmla="*/ 0 w 7417223"/>
              <a:gd name="connsiteY1" fmla="*/ 0 h 3989567"/>
              <a:gd name="connsiteX2" fmla="*/ 7417223 w 7417223"/>
              <a:gd name="connsiteY2" fmla="*/ 3989567 h 3989567"/>
              <a:gd name="connsiteX3" fmla="*/ 10634 w 7417223"/>
              <a:gd name="connsiteY3" fmla="*/ 3971960 h 3989567"/>
              <a:gd name="connsiteX0" fmla="*/ 10634 w 6417762"/>
              <a:gd name="connsiteY0" fmla="*/ 3971960 h 3971960"/>
              <a:gd name="connsiteX1" fmla="*/ 0 w 6417762"/>
              <a:gd name="connsiteY1" fmla="*/ 0 h 3971960"/>
              <a:gd name="connsiteX2" fmla="*/ 6417762 w 6417762"/>
              <a:gd name="connsiteY2" fmla="*/ 3649325 h 3971960"/>
              <a:gd name="connsiteX3" fmla="*/ 10634 w 6417762"/>
              <a:gd name="connsiteY3" fmla="*/ 3971960 h 3971960"/>
              <a:gd name="connsiteX0" fmla="*/ 10634 w 5822339"/>
              <a:gd name="connsiteY0" fmla="*/ 3971960 h 3971960"/>
              <a:gd name="connsiteX1" fmla="*/ 0 w 5822339"/>
              <a:gd name="connsiteY1" fmla="*/ 0 h 3971960"/>
              <a:gd name="connsiteX2" fmla="*/ 5822339 w 5822339"/>
              <a:gd name="connsiteY2" fmla="*/ 2713660 h 3971960"/>
              <a:gd name="connsiteX3" fmla="*/ 10634 w 5822339"/>
              <a:gd name="connsiteY3" fmla="*/ 3971960 h 3971960"/>
              <a:gd name="connsiteX0" fmla="*/ 10634 w 6991920"/>
              <a:gd name="connsiteY0" fmla="*/ 3971960 h 3978934"/>
              <a:gd name="connsiteX1" fmla="*/ 0 w 6991920"/>
              <a:gd name="connsiteY1" fmla="*/ 0 h 3978934"/>
              <a:gd name="connsiteX2" fmla="*/ 6991920 w 6991920"/>
              <a:gd name="connsiteY2" fmla="*/ 3978934 h 3978934"/>
              <a:gd name="connsiteX3" fmla="*/ 10634 w 6991920"/>
              <a:gd name="connsiteY3" fmla="*/ 3971960 h 3978934"/>
              <a:gd name="connsiteX0" fmla="*/ 10634 w 6736738"/>
              <a:gd name="connsiteY0" fmla="*/ 3971960 h 3989566"/>
              <a:gd name="connsiteX1" fmla="*/ 0 w 6736738"/>
              <a:gd name="connsiteY1" fmla="*/ 0 h 3989566"/>
              <a:gd name="connsiteX2" fmla="*/ 6736738 w 6736738"/>
              <a:gd name="connsiteY2" fmla="*/ 3989566 h 3989566"/>
              <a:gd name="connsiteX3" fmla="*/ 10634 w 6736738"/>
              <a:gd name="connsiteY3" fmla="*/ 3971960 h 3989566"/>
              <a:gd name="connsiteX0" fmla="*/ 42532 w 6768636"/>
              <a:gd name="connsiteY0" fmla="*/ 3663615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42532 w 6768636"/>
              <a:gd name="connsiteY3" fmla="*/ 3663615 h 3681221"/>
              <a:gd name="connsiteX0" fmla="*/ 21267 w 6768636"/>
              <a:gd name="connsiteY0" fmla="*/ 3674248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21267 w 6768636"/>
              <a:gd name="connsiteY3" fmla="*/ 3674248 h 368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636" h="3681221">
                <a:moveTo>
                  <a:pt x="21267" y="3674248"/>
                </a:moveTo>
                <a:cubicBezTo>
                  <a:pt x="16504" y="2371194"/>
                  <a:pt x="4763" y="1303054"/>
                  <a:pt x="0" y="0"/>
                </a:cubicBezTo>
                <a:lnTo>
                  <a:pt x="6768636" y="3681221"/>
                </a:lnTo>
                <a:lnTo>
                  <a:pt x="21267" y="3674248"/>
                </a:lnTo>
                <a:close/>
              </a:path>
            </a:pathLst>
          </a:custGeom>
          <a:solidFill>
            <a:srgbClr val="B5217E"/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55197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Blue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pezoid 11"/>
          <p:cNvSpPr/>
          <p:nvPr userDrawn="1"/>
        </p:nvSpPr>
        <p:spPr>
          <a:xfrm>
            <a:off x="-23470" y="-1113"/>
            <a:ext cx="4590839" cy="5152587"/>
          </a:xfrm>
          <a:custGeom>
            <a:avLst/>
            <a:gdLst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254681 w 4339575"/>
              <a:gd name="connsiteY2" fmla="*/ 0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305481 w 4339575"/>
              <a:gd name="connsiteY2" fmla="*/ 135466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1150306 w 5489881"/>
              <a:gd name="connsiteY0" fmla="*/ 6888789 h 6888789"/>
              <a:gd name="connsiteX1" fmla="*/ 0 w 5489881"/>
              <a:gd name="connsiteY1" fmla="*/ 135468 h 6888789"/>
              <a:gd name="connsiteX2" fmla="*/ 4455787 w 5489881"/>
              <a:gd name="connsiteY2" fmla="*/ 0 h 6888789"/>
              <a:gd name="connsiteX3" fmla="*/ 5489881 w 5489881"/>
              <a:gd name="connsiteY3" fmla="*/ 6888789 h 6888789"/>
              <a:gd name="connsiteX4" fmla="*/ 1150306 w 5489881"/>
              <a:gd name="connsiteY4" fmla="*/ 6888789 h 6888789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4472720 w 5489881"/>
              <a:gd name="connsiteY2" fmla="*/ 33865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389920 w 5489881"/>
              <a:gd name="connsiteY2" fmla="*/ 50799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728587 w 5489881"/>
              <a:gd name="connsiteY2" fmla="*/ 33866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87188 h 6787188"/>
              <a:gd name="connsiteX1" fmla="*/ 0 w 5489881"/>
              <a:gd name="connsiteY1" fmla="*/ 33867 h 6787188"/>
              <a:gd name="connsiteX2" fmla="*/ 2711654 w 5489881"/>
              <a:gd name="connsiteY2" fmla="*/ 0 h 6787188"/>
              <a:gd name="connsiteX3" fmla="*/ 5489881 w 5489881"/>
              <a:gd name="connsiteY3" fmla="*/ 6787188 h 6787188"/>
              <a:gd name="connsiteX4" fmla="*/ 1150306 w 5489881"/>
              <a:gd name="connsiteY4" fmla="*/ 6787188 h 6787188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677787 w 5489881"/>
              <a:gd name="connsiteY2" fmla="*/ 16933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6268815"/>
              <a:gd name="connsiteY0" fmla="*/ 6753321 h 6973454"/>
              <a:gd name="connsiteX1" fmla="*/ 0 w 6268815"/>
              <a:gd name="connsiteY1" fmla="*/ 0 h 6973454"/>
              <a:gd name="connsiteX2" fmla="*/ 2677787 w 6268815"/>
              <a:gd name="connsiteY2" fmla="*/ 16933 h 6973454"/>
              <a:gd name="connsiteX3" fmla="*/ 6268815 w 6268815"/>
              <a:gd name="connsiteY3" fmla="*/ 6973454 h 6973454"/>
              <a:gd name="connsiteX4" fmla="*/ 1150306 w 6268815"/>
              <a:gd name="connsiteY4" fmla="*/ 6753321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678947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593886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121119"/>
              <a:gd name="connsiteY0" fmla="*/ 6939587 h 6984196"/>
              <a:gd name="connsiteX1" fmla="*/ 1160 w 6121119"/>
              <a:gd name="connsiteY1" fmla="*/ 0 h 6984196"/>
              <a:gd name="connsiteX2" fmla="*/ 2593886 w 6121119"/>
              <a:gd name="connsiteY2" fmla="*/ 16933 h 6984196"/>
              <a:gd name="connsiteX3" fmla="*/ 6121119 w 6121119"/>
              <a:gd name="connsiteY3" fmla="*/ 6984196 h 6984196"/>
              <a:gd name="connsiteX4" fmla="*/ 0 w 6121119"/>
              <a:gd name="connsiteY4" fmla="*/ 693958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592729 w 6119962"/>
              <a:gd name="connsiteY2" fmla="*/ 16933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624626 w 6119962"/>
              <a:gd name="connsiteY2" fmla="*/ 70647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20112 w 6098700"/>
              <a:gd name="connsiteY0" fmla="*/ 6939587 h 6941226"/>
              <a:gd name="connsiteX1" fmla="*/ 6 w 6098700"/>
              <a:gd name="connsiteY1" fmla="*/ 0 h 6941226"/>
              <a:gd name="connsiteX2" fmla="*/ 2603364 w 6098700"/>
              <a:gd name="connsiteY2" fmla="*/ 27677 h 6941226"/>
              <a:gd name="connsiteX3" fmla="*/ 6098700 w 6098700"/>
              <a:gd name="connsiteY3" fmla="*/ 6941226 h 6941226"/>
              <a:gd name="connsiteX4" fmla="*/ 20112 w 6098700"/>
              <a:gd name="connsiteY4" fmla="*/ 6939587 h 6941226"/>
              <a:gd name="connsiteX0" fmla="*/ 0 w 6121119"/>
              <a:gd name="connsiteY0" fmla="*/ 6918102 h 6941226"/>
              <a:gd name="connsiteX1" fmla="*/ 22425 w 6121119"/>
              <a:gd name="connsiteY1" fmla="*/ 0 h 6941226"/>
              <a:gd name="connsiteX2" fmla="*/ 2625783 w 6121119"/>
              <a:gd name="connsiteY2" fmla="*/ 27677 h 6941226"/>
              <a:gd name="connsiteX3" fmla="*/ 6121119 w 6121119"/>
              <a:gd name="connsiteY3" fmla="*/ 6941226 h 6941226"/>
              <a:gd name="connsiteX4" fmla="*/ 0 w 6121119"/>
              <a:gd name="connsiteY4" fmla="*/ 6918102 h 6941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1119" h="6941226">
                <a:moveTo>
                  <a:pt x="0" y="6918102"/>
                </a:moveTo>
                <a:cubicBezTo>
                  <a:pt x="387" y="4604906"/>
                  <a:pt x="22038" y="2313196"/>
                  <a:pt x="22425" y="0"/>
                </a:cubicBezTo>
                <a:lnTo>
                  <a:pt x="2625783" y="27677"/>
                </a:lnTo>
                <a:lnTo>
                  <a:pt x="6121119" y="6941226"/>
                </a:lnTo>
                <a:lnTo>
                  <a:pt x="0" y="6918102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  <p:sp>
        <p:nvSpPr>
          <p:cNvPr id="20" name="Right Triangle 19"/>
          <p:cNvSpPr/>
          <p:nvPr userDrawn="1"/>
        </p:nvSpPr>
        <p:spPr>
          <a:xfrm rot="10800000" flipH="1">
            <a:off x="-23471" y="-10714"/>
            <a:ext cx="5053583" cy="2760916"/>
          </a:xfrm>
          <a:custGeom>
            <a:avLst/>
            <a:gdLst>
              <a:gd name="connsiteX0" fmla="*/ 0 w 5913047"/>
              <a:gd name="connsiteY0" fmla="*/ 3980599 h 3980599"/>
              <a:gd name="connsiteX1" fmla="*/ 0 w 5913047"/>
              <a:gd name="connsiteY1" fmla="*/ 0 h 3980599"/>
              <a:gd name="connsiteX2" fmla="*/ 5913047 w 5913047"/>
              <a:gd name="connsiteY2" fmla="*/ 3980599 h 3980599"/>
              <a:gd name="connsiteX3" fmla="*/ 0 w 5913047"/>
              <a:gd name="connsiteY3" fmla="*/ 3980599 h 3980599"/>
              <a:gd name="connsiteX0" fmla="*/ 0 w 6956034"/>
              <a:gd name="connsiteY0" fmla="*/ 3980599 h 3980599"/>
              <a:gd name="connsiteX1" fmla="*/ 0 w 6956034"/>
              <a:gd name="connsiteY1" fmla="*/ 0 h 3980599"/>
              <a:gd name="connsiteX2" fmla="*/ 6956034 w 6956034"/>
              <a:gd name="connsiteY2" fmla="*/ 3894874 h 3980599"/>
              <a:gd name="connsiteX3" fmla="*/ 0 w 6956034"/>
              <a:gd name="connsiteY3" fmla="*/ 3980599 h 3980599"/>
              <a:gd name="connsiteX0" fmla="*/ 14288 w 6956034"/>
              <a:gd name="connsiteY0" fmla="*/ 3909162 h 3909162"/>
              <a:gd name="connsiteX1" fmla="*/ 0 w 6956034"/>
              <a:gd name="connsiteY1" fmla="*/ 0 h 3909162"/>
              <a:gd name="connsiteX2" fmla="*/ 6956034 w 6956034"/>
              <a:gd name="connsiteY2" fmla="*/ 3894874 h 3909162"/>
              <a:gd name="connsiteX3" fmla="*/ 14288 w 6956034"/>
              <a:gd name="connsiteY3" fmla="*/ 3909162 h 3909162"/>
              <a:gd name="connsiteX0" fmla="*/ 634 w 6942380"/>
              <a:gd name="connsiteY0" fmla="*/ 3837724 h 3837724"/>
              <a:gd name="connsiteX1" fmla="*/ 14921 w 6942380"/>
              <a:gd name="connsiteY1" fmla="*/ 0 h 3837724"/>
              <a:gd name="connsiteX2" fmla="*/ 6942380 w 6942380"/>
              <a:gd name="connsiteY2" fmla="*/ 3823436 h 3837724"/>
              <a:gd name="connsiteX3" fmla="*/ 634 w 6942380"/>
              <a:gd name="connsiteY3" fmla="*/ 3837724 h 3837724"/>
              <a:gd name="connsiteX0" fmla="*/ 414 w 6942160"/>
              <a:gd name="connsiteY0" fmla="*/ 3709136 h 3709136"/>
              <a:gd name="connsiteX1" fmla="*/ 28989 w 6942160"/>
              <a:gd name="connsiteY1" fmla="*/ 0 h 3709136"/>
              <a:gd name="connsiteX2" fmla="*/ 6942160 w 6942160"/>
              <a:gd name="connsiteY2" fmla="*/ 3694848 h 3709136"/>
              <a:gd name="connsiteX3" fmla="*/ 414 w 6942160"/>
              <a:gd name="connsiteY3" fmla="*/ 3709136 h 3709136"/>
              <a:gd name="connsiteX0" fmla="*/ 414 w 6942160"/>
              <a:gd name="connsiteY0" fmla="*/ 3751998 h 3751998"/>
              <a:gd name="connsiteX1" fmla="*/ 28989 w 6942160"/>
              <a:gd name="connsiteY1" fmla="*/ 0 h 3751998"/>
              <a:gd name="connsiteX2" fmla="*/ 6942160 w 6942160"/>
              <a:gd name="connsiteY2" fmla="*/ 3737710 h 3751998"/>
              <a:gd name="connsiteX3" fmla="*/ 414 w 6942160"/>
              <a:gd name="connsiteY3" fmla="*/ 3751998 h 3751998"/>
              <a:gd name="connsiteX0" fmla="*/ 71438 w 7013184"/>
              <a:gd name="connsiteY0" fmla="*/ 3780573 h 3780573"/>
              <a:gd name="connsiteX1" fmla="*/ 0 w 7013184"/>
              <a:gd name="connsiteY1" fmla="*/ 0 h 3780573"/>
              <a:gd name="connsiteX2" fmla="*/ 7013184 w 7013184"/>
              <a:gd name="connsiteY2" fmla="*/ 3766285 h 3780573"/>
              <a:gd name="connsiteX3" fmla="*/ 71438 w 7013184"/>
              <a:gd name="connsiteY3" fmla="*/ 3780573 h 3780573"/>
              <a:gd name="connsiteX0" fmla="*/ 1374 w 7014558"/>
              <a:gd name="connsiteY0" fmla="*/ 3780573 h 3780573"/>
              <a:gd name="connsiteX1" fmla="*/ 1374 w 7014558"/>
              <a:gd name="connsiteY1" fmla="*/ 0 h 3780573"/>
              <a:gd name="connsiteX2" fmla="*/ 7014558 w 7014558"/>
              <a:gd name="connsiteY2" fmla="*/ 3766285 h 3780573"/>
              <a:gd name="connsiteX3" fmla="*/ 1374 w 7014558"/>
              <a:gd name="connsiteY3" fmla="*/ 3780573 h 3780573"/>
              <a:gd name="connsiteX0" fmla="*/ 1374 w 6334075"/>
              <a:gd name="connsiteY0" fmla="*/ 3780573 h 3798182"/>
              <a:gd name="connsiteX1" fmla="*/ 1374 w 6334075"/>
              <a:gd name="connsiteY1" fmla="*/ 0 h 3798182"/>
              <a:gd name="connsiteX2" fmla="*/ 6334075 w 6334075"/>
              <a:gd name="connsiteY2" fmla="*/ 3798182 h 3798182"/>
              <a:gd name="connsiteX3" fmla="*/ 1374 w 6334075"/>
              <a:gd name="connsiteY3" fmla="*/ 3780573 h 3798182"/>
              <a:gd name="connsiteX0" fmla="*/ 1374 w 5058168"/>
              <a:gd name="connsiteY0" fmla="*/ 3780573 h 3883242"/>
              <a:gd name="connsiteX1" fmla="*/ 1374 w 5058168"/>
              <a:gd name="connsiteY1" fmla="*/ 0 h 3883242"/>
              <a:gd name="connsiteX2" fmla="*/ 5058168 w 5058168"/>
              <a:gd name="connsiteY2" fmla="*/ 3883242 h 3883242"/>
              <a:gd name="connsiteX3" fmla="*/ 1374 w 5058168"/>
              <a:gd name="connsiteY3" fmla="*/ 3780573 h 3883242"/>
              <a:gd name="connsiteX0" fmla="*/ 1374 w 3750363"/>
              <a:gd name="connsiteY0" fmla="*/ 3780573 h 3989567"/>
              <a:gd name="connsiteX1" fmla="*/ 1374 w 3750363"/>
              <a:gd name="connsiteY1" fmla="*/ 0 h 3989567"/>
              <a:gd name="connsiteX2" fmla="*/ 3750363 w 3750363"/>
              <a:gd name="connsiteY2" fmla="*/ 3989567 h 3989567"/>
              <a:gd name="connsiteX3" fmla="*/ 1374 w 3750363"/>
              <a:gd name="connsiteY3" fmla="*/ 3780573 h 3989567"/>
              <a:gd name="connsiteX0" fmla="*/ 1374 w 5515368"/>
              <a:gd name="connsiteY0" fmla="*/ 3780573 h 3780573"/>
              <a:gd name="connsiteX1" fmla="*/ 1374 w 5515368"/>
              <a:gd name="connsiteY1" fmla="*/ 0 h 3780573"/>
              <a:gd name="connsiteX2" fmla="*/ 5515368 w 5515368"/>
              <a:gd name="connsiteY2" fmla="*/ 3745018 h 3780573"/>
              <a:gd name="connsiteX3" fmla="*/ 1374 w 5515368"/>
              <a:gd name="connsiteY3" fmla="*/ 3780573 h 3780573"/>
              <a:gd name="connsiteX0" fmla="*/ 1374 w 7429229"/>
              <a:gd name="connsiteY0" fmla="*/ 3780573 h 3780573"/>
              <a:gd name="connsiteX1" fmla="*/ 1374 w 7429229"/>
              <a:gd name="connsiteY1" fmla="*/ 0 h 3780573"/>
              <a:gd name="connsiteX2" fmla="*/ 7429229 w 7429229"/>
              <a:gd name="connsiteY2" fmla="*/ 3766283 h 3780573"/>
              <a:gd name="connsiteX3" fmla="*/ 1374 w 7429229"/>
              <a:gd name="connsiteY3" fmla="*/ 3780573 h 3780573"/>
              <a:gd name="connsiteX0" fmla="*/ 735 w 7428590"/>
              <a:gd name="connsiteY0" fmla="*/ 4003857 h 4003857"/>
              <a:gd name="connsiteX1" fmla="*/ 11367 w 7428590"/>
              <a:gd name="connsiteY1" fmla="*/ 0 h 4003857"/>
              <a:gd name="connsiteX2" fmla="*/ 7428590 w 7428590"/>
              <a:gd name="connsiteY2" fmla="*/ 3989567 h 4003857"/>
              <a:gd name="connsiteX3" fmla="*/ 735 w 7428590"/>
              <a:gd name="connsiteY3" fmla="*/ 4003857 h 4003857"/>
              <a:gd name="connsiteX0" fmla="*/ 1376 w 7418598"/>
              <a:gd name="connsiteY0" fmla="*/ 3855001 h 3989567"/>
              <a:gd name="connsiteX1" fmla="*/ 1375 w 7418598"/>
              <a:gd name="connsiteY1" fmla="*/ 0 h 3989567"/>
              <a:gd name="connsiteX2" fmla="*/ 7418598 w 7418598"/>
              <a:gd name="connsiteY2" fmla="*/ 3989567 h 3989567"/>
              <a:gd name="connsiteX3" fmla="*/ 1376 w 7418598"/>
              <a:gd name="connsiteY3" fmla="*/ 3855001 h 3989567"/>
              <a:gd name="connsiteX0" fmla="*/ 10634 w 7417223"/>
              <a:gd name="connsiteY0" fmla="*/ 3971960 h 3989567"/>
              <a:gd name="connsiteX1" fmla="*/ 0 w 7417223"/>
              <a:gd name="connsiteY1" fmla="*/ 0 h 3989567"/>
              <a:gd name="connsiteX2" fmla="*/ 7417223 w 7417223"/>
              <a:gd name="connsiteY2" fmla="*/ 3989567 h 3989567"/>
              <a:gd name="connsiteX3" fmla="*/ 10634 w 7417223"/>
              <a:gd name="connsiteY3" fmla="*/ 3971960 h 3989567"/>
              <a:gd name="connsiteX0" fmla="*/ 10634 w 6417762"/>
              <a:gd name="connsiteY0" fmla="*/ 3971960 h 3971960"/>
              <a:gd name="connsiteX1" fmla="*/ 0 w 6417762"/>
              <a:gd name="connsiteY1" fmla="*/ 0 h 3971960"/>
              <a:gd name="connsiteX2" fmla="*/ 6417762 w 6417762"/>
              <a:gd name="connsiteY2" fmla="*/ 3649325 h 3971960"/>
              <a:gd name="connsiteX3" fmla="*/ 10634 w 6417762"/>
              <a:gd name="connsiteY3" fmla="*/ 3971960 h 3971960"/>
              <a:gd name="connsiteX0" fmla="*/ 10634 w 5822339"/>
              <a:gd name="connsiteY0" fmla="*/ 3971960 h 3971960"/>
              <a:gd name="connsiteX1" fmla="*/ 0 w 5822339"/>
              <a:gd name="connsiteY1" fmla="*/ 0 h 3971960"/>
              <a:gd name="connsiteX2" fmla="*/ 5822339 w 5822339"/>
              <a:gd name="connsiteY2" fmla="*/ 2713660 h 3971960"/>
              <a:gd name="connsiteX3" fmla="*/ 10634 w 5822339"/>
              <a:gd name="connsiteY3" fmla="*/ 3971960 h 3971960"/>
              <a:gd name="connsiteX0" fmla="*/ 10634 w 6991920"/>
              <a:gd name="connsiteY0" fmla="*/ 3971960 h 3978934"/>
              <a:gd name="connsiteX1" fmla="*/ 0 w 6991920"/>
              <a:gd name="connsiteY1" fmla="*/ 0 h 3978934"/>
              <a:gd name="connsiteX2" fmla="*/ 6991920 w 6991920"/>
              <a:gd name="connsiteY2" fmla="*/ 3978934 h 3978934"/>
              <a:gd name="connsiteX3" fmla="*/ 10634 w 6991920"/>
              <a:gd name="connsiteY3" fmla="*/ 3971960 h 3978934"/>
              <a:gd name="connsiteX0" fmla="*/ 10634 w 6736738"/>
              <a:gd name="connsiteY0" fmla="*/ 3971960 h 3989566"/>
              <a:gd name="connsiteX1" fmla="*/ 0 w 6736738"/>
              <a:gd name="connsiteY1" fmla="*/ 0 h 3989566"/>
              <a:gd name="connsiteX2" fmla="*/ 6736738 w 6736738"/>
              <a:gd name="connsiteY2" fmla="*/ 3989566 h 3989566"/>
              <a:gd name="connsiteX3" fmla="*/ 10634 w 6736738"/>
              <a:gd name="connsiteY3" fmla="*/ 3971960 h 3989566"/>
              <a:gd name="connsiteX0" fmla="*/ 42532 w 6768636"/>
              <a:gd name="connsiteY0" fmla="*/ 3663615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42532 w 6768636"/>
              <a:gd name="connsiteY3" fmla="*/ 3663615 h 3681221"/>
              <a:gd name="connsiteX0" fmla="*/ 21267 w 6768636"/>
              <a:gd name="connsiteY0" fmla="*/ 3674248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21267 w 6768636"/>
              <a:gd name="connsiteY3" fmla="*/ 3674248 h 368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636" h="3681221">
                <a:moveTo>
                  <a:pt x="21267" y="3674248"/>
                </a:moveTo>
                <a:cubicBezTo>
                  <a:pt x="16504" y="2371194"/>
                  <a:pt x="4763" y="1303054"/>
                  <a:pt x="0" y="0"/>
                </a:cubicBezTo>
                <a:lnTo>
                  <a:pt x="6768636" y="3681221"/>
                </a:lnTo>
                <a:lnTo>
                  <a:pt x="21267" y="3674248"/>
                </a:lnTo>
                <a:close/>
              </a:path>
            </a:pathLst>
          </a:custGeom>
          <a:solidFill>
            <a:srgbClr val="00395A"/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83951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creen 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B521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Divider Screen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</p:spTree>
    <p:extLst>
      <p:ext uri="{BB962C8B-B14F-4D97-AF65-F5344CB8AC3E}">
        <p14:creationId xmlns:p14="http://schemas.microsoft.com/office/powerpoint/2010/main" val="1622079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vider screen 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Divider Screen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</p:spTree>
    <p:extLst>
      <p:ext uri="{BB962C8B-B14F-4D97-AF65-F5344CB8AC3E}">
        <p14:creationId xmlns:p14="http://schemas.microsoft.com/office/powerpoint/2010/main" val="1704354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utlin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rgbClr val="B5217E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Content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lnSpc>
                <a:spcPct val="150000"/>
              </a:lnSpc>
              <a:defRPr sz="1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98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Outlin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rgbClr val="B5217E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Content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219"/>
            <a:ext cx="3886200" cy="326350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219"/>
            <a:ext cx="3886200" cy="326350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638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creens Dark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77210" y="527909"/>
            <a:ext cx="5990035" cy="367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552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Screens Dark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105965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creens Light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77210" y="527909"/>
            <a:ext cx="5990035" cy="3675247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>
            <a:off x="450056" y="4303827"/>
            <a:ext cx="8229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406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Screens Light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0056" y="4303827"/>
            <a:ext cx="8229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806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ankyou Screen w/ PS Graphic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277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 err="1"/>
              <a:t>www.crownpeak.com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3480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ankyou Screen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/>
          <p:nvPr userDrawn="1"/>
        </p:nvSpPr>
        <p:spPr>
          <a:xfrm>
            <a:off x="454" y="-10716"/>
            <a:ext cx="9143546" cy="5164932"/>
          </a:xfrm>
          <a:custGeom>
            <a:avLst/>
            <a:gdLst>
              <a:gd name="connsiteX0" fmla="*/ 0 w 12191395"/>
              <a:gd name="connsiteY0" fmla="*/ 0 h 6886576"/>
              <a:gd name="connsiteX1" fmla="*/ 12191395 w 12191395"/>
              <a:gd name="connsiteY1" fmla="*/ 0 h 6886576"/>
              <a:gd name="connsiteX2" fmla="*/ 12191395 w 12191395"/>
              <a:gd name="connsiteY2" fmla="*/ 6886576 h 6886576"/>
              <a:gd name="connsiteX3" fmla="*/ 0 w 12191395"/>
              <a:gd name="connsiteY3" fmla="*/ 6886576 h 6886576"/>
              <a:gd name="connsiteX4" fmla="*/ 0 w 12191395"/>
              <a:gd name="connsiteY4" fmla="*/ 0 h 6886576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12191395 w 12191395"/>
              <a:gd name="connsiteY2" fmla="*/ 6900863 h 6900863"/>
              <a:gd name="connsiteX3" fmla="*/ 0 w 12191395"/>
              <a:gd name="connsiteY3" fmla="*/ 6900863 h 6900863"/>
              <a:gd name="connsiteX4" fmla="*/ 0 w 12191395"/>
              <a:gd name="connsiteY4" fmla="*/ 14287 h 6900863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9900633 w 12191395"/>
              <a:gd name="connsiteY2" fmla="*/ 2871788 h 6900863"/>
              <a:gd name="connsiteX3" fmla="*/ 12191395 w 12191395"/>
              <a:gd name="connsiteY3" fmla="*/ 6900863 h 6900863"/>
              <a:gd name="connsiteX4" fmla="*/ 0 w 12191395"/>
              <a:gd name="connsiteY4" fmla="*/ 6900863 h 6900863"/>
              <a:gd name="connsiteX5" fmla="*/ 0 w 12191395"/>
              <a:gd name="connsiteY5" fmla="*/ 14287 h 6900863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12186633 w 12191395"/>
              <a:gd name="connsiteY2" fmla="*/ 2828926 h 6900863"/>
              <a:gd name="connsiteX3" fmla="*/ 12191395 w 12191395"/>
              <a:gd name="connsiteY3" fmla="*/ 6900863 h 6900863"/>
              <a:gd name="connsiteX4" fmla="*/ 0 w 12191395"/>
              <a:gd name="connsiteY4" fmla="*/ 6900863 h 6900863"/>
              <a:gd name="connsiteX5" fmla="*/ 0 w 12191395"/>
              <a:gd name="connsiteY5" fmla="*/ 14287 h 6900863"/>
              <a:gd name="connsiteX0" fmla="*/ 0 w 12191395"/>
              <a:gd name="connsiteY0" fmla="*/ 0 h 6886576"/>
              <a:gd name="connsiteX1" fmla="*/ 7505095 w 12191395"/>
              <a:gd name="connsiteY1" fmla="*/ 14288 h 6886576"/>
              <a:gd name="connsiteX2" fmla="*/ 12186633 w 12191395"/>
              <a:gd name="connsiteY2" fmla="*/ 2814639 h 6886576"/>
              <a:gd name="connsiteX3" fmla="*/ 12191395 w 12191395"/>
              <a:gd name="connsiteY3" fmla="*/ 6886576 h 6886576"/>
              <a:gd name="connsiteX4" fmla="*/ 0 w 12191395"/>
              <a:gd name="connsiteY4" fmla="*/ 6886576 h 6886576"/>
              <a:gd name="connsiteX5" fmla="*/ 0 w 12191395"/>
              <a:gd name="connsiteY5" fmla="*/ 0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395" h="6886576">
                <a:moveTo>
                  <a:pt x="0" y="0"/>
                </a:moveTo>
                <a:lnTo>
                  <a:pt x="7505095" y="14288"/>
                </a:lnTo>
                <a:lnTo>
                  <a:pt x="12186633" y="2814639"/>
                </a:lnTo>
                <a:cubicBezTo>
                  <a:pt x="12188220" y="4171951"/>
                  <a:pt x="12189808" y="5529264"/>
                  <a:pt x="12191395" y="6886576"/>
                </a:cubicBezTo>
                <a:lnTo>
                  <a:pt x="0" y="688657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 err="1"/>
              <a:t>www.crownpeak.com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6256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95397-5482-F245-8ABB-32E8412BBEEF}" type="slidenum">
              <a:rPr kumimoji="0" lang="en-US" sz="135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</a:rPr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39427" y="311718"/>
            <a:ext cx="7018952" cy="228524"/>
          </a:xfrm>
        </p:spPr>
        <p:txBody>
          <a:bodyPr wrap="square" lIns="0" tIns="0" rIns="0" bIns="0">
            <a:spAutoFit/>
          </a:bodyPr>
          <a:lstStyle>
            <a:lvl1pPr>
              <a:defRPr sz="1650" b="1">
                <a:solidFill>
                  <a:schemeClr val="accent1"/>
                </a:solidFill>
              </a:defRPr>
            </a:lvl1pPr>
            <a:lvl2pPr>
              <a:defRPr sz="1650"/>
            </a:lvl2pPr>
            <a:lvl3pPr>
              <a:defRPr sz="1650"/>
            </a:lvl3pPr>
            <a:lvl4pPr>
              <a:defRPr sz="1650"/>
            </a:lvl4pPr>
            <a:lvl5pPr>
              <a:defRPr sz="165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39427" y="100798"/>
            <a:ext cx="7018952" cy="220445"/>
          </a:xfrm>
        </p:spPr>
        <p:txBody>
          <a:bodyPr/>
          <a:lstStyle>
            <a:lvl1pPr>
              <a:defRPr b="1">
                <a:solidFill>
                  <a:srgbClr val="68707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957613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8685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68DA93-349A-FE4F-9D40-97DBBA2B1A4C}" type="datetimeFigureOut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  <a:pPr marL="0" marR="0" lvl="0" indent="0" algn="l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4/3/20</a:t>
            </a:fld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534DDC-89ED-2A40-BF57-81CE12B188D6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  <a:pPr marL="0" marR="0" lvl="0" indent="0" algn="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33546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Developer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Translation Management Framework (TMF)</a:t>
            </a:r>
          </a:p>
        </p:txBody>
      </p:sp>
      <p:sp>
        <p:nvSpPr>
          <p:cNvPr id="4" name="Subtitle 3"/>
          <p:cNvSpPr txBox="1">
            <a:spLocks/>
          </p:cNvSpPr>
          <p:nvPr/>
        </p:nvSpPr>
        <p:spPr>
          <a:xfrm>
            <a:off x="4434242" y="3233928"/>
            <a:ext cx="4606291" cy="110112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800" b="0" i="0" kern="120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570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2227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/>
          </a:bodyPr>
          <a:lstStyle/>
          <a:p>
            <a:r>
              <a:rPr lang="en-GB" dirty="0"/>
              <a:t>Provide an overview of the Translation Model Framework and why it’s needed.</a:t>
            </a:r>
          </a:p>
          <a:p>
            <a:r>
              <a:rPr lang="en-GB" dirty="0"/>
              <a:t>Introduce the capabilities and features of the TMF.</a:t>
            </a:r>
          </a:p>
          <a:p>
            <a:r>
              <a:rPr lang="en-GB" dirty="0"/>
              <a:t>Illustrate various configuration options.</a:t>
            </a:r>
          </a:p>
          <a:p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2020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Global Markets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C310CE1-1BF3-1C4E-A6F8-0D2ADC050B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0307918"/>
              </p:ext>
            </p:extLst>
          </p:nvPr>
        </p:nvGraphicFramePr>
        <p:xfrm>
          <a:off x="628650" y="1370012"/>
          <a:ext cx="7886700" cy="3349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34467732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3818332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95340864"/>
                    </a:ext>
                  </a:extLst>
                </a:gridCol>
              </a:tblGrid>
              <a:tr h="1047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2800"/>
                        <a:t>汉语</a:t>
                      </a:r>
                      <a:endParaRPr lang="en-US" altLang="en-US" sz="2800" dirty="0"/>
                    </a:p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$1.1 Trillion GDP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276m online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altLang="en-US" sz="2800" dirty="0"/>
                        <a:t>Deutsch</a:t>
                      </a:r>
                    </a:p>
                    <a:p>
                      <a:pPr algn="ctr"/>
                      <a:r>
                        <a:rPr lang="de-D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$2.8 Trillion GBP</a:t>
                      </a:r>
                    </a:p>
                    <a:p>
                      <a:pPr algn="ctr"/>
                      <a:r>
                        <a:rPr lang="de-D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61m online </a:t>
                      </a:r>
                      <a:r>
                        <a:rPr lang="de-DE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users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2800"/>
                        <a:t>日本語</a:t>
                      </a:r>
                      <a:endParaRPr lang="en-US" altLang="en-US" sz="2800" dirty="0"/>
                    </a:p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$4.3 Trillion GDP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94m online 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71474"/>
                  </a:ext>
                </a:extLst>
              </a:tr>
              <a:tr h="1254742">
                <a:tc>
                  <a:txBody>
                    <a:bodyPr/>
                    <a:lstStyle/>
                    <a:p>
                      <a:pPr algn="ctr"/>
                      <a:r>
                        <a:rPr lang="ar-AE" altLang="en-US" sz="2800" dirty="0"/>
                        <a:t>العربية</a:t>
                      </a:r>
                      <a:endParaRPr lang="en-US" altLang="en-US" sz="2800" dirty="0"/>
                    </a:p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$1 Trillion GDP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59m online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800" dirty="0"/>
                        <a:t>English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$14 Trillion GDP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464m online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800" dirty="0" err="1"/>
                        <a:t>Español</a:t>
                      </a:r>
                      <a:endParaRPr lang="en-US" altLang="en-US" sz="2800" dirty="0"/>
                    </a:p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$3.1 Trillion GDP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124m online 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7054346"/>
                  </a:ext>
                </a:extLst>
              </a:tr>
              <a:tr h="1047514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800" dirty="0" err="1"/>
                        <a:t>Français</a:t>
                      </a:r>
                      <a:endParaRPr lang="en-US" altLang="en-US" sz="2800" dirty="0"/>
                    </a:p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$2.2 Trillion GDP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68m online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800" dirty="0" err="1"/>
                        <a:t>Italiano</a:t>
                      </a:r>
                      <a:endParaRPr lang="en-US" altLang="en-US" sz="2800" dirty="0"/>
                    </a:p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$1.4 Trillion GDP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34m online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800" dirty="0"/>
                        <a:t>한국어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$1.6 Trillion GDP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34m online 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429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8191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13EFC-CD19-5946-BE08-CB09F79B6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Globalization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6CF75-96DA-494E-A298-02F0692D1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736" y="1606152"/>
            <a:ext cx="2548659" cy="3263504"/>
          </a:xfrm>
        </p:spPr>
        <p:txBody>
          <a:bodyPr>
            <a:normAutofit/>
          </a:bodyPr>
          <a:lstStyle/>
          <a:p>
            <a:r>
              <a:rPr lang="en-US" sz="1400" dirty="0"/>
              <a:t>Centralized team at HQ</a:t>
            </a:r>
          </a:p>
          <a:p>
            <a:r>
              <a:rPr lang="en-US" sz="1400" dirty="0"/>
              <a:t>In-house translation</a:t>
            </a:r>
          </a:p>
          <a:p>
            <a:r>
              <a:rPr lang="en-US" sz="1400" dirty="0"/>
              <a:t>Parallel, pre-configured workflows</a:t>
            </a:r>
          </a:p>
          <a:p>
            <a:endParaRPr lang="en-US" sz="1400" dirty="0"/>
          </a:p>
          <a:p>
            <a:endParaRPr lang="en-US" sz="1400" dirty="0"/>
          </a:p>
          <a:p>
            <a:pPr marL="0" indent="0">
              <a:buNone/>
            </a:pPr>
            <a:r>
              <a:rPr lang="en-US" sz="1400" dirty="0"/>
              <a:t>⚠️ System Compatible To Double Byte</a:t>
            </a:r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999D21-7044-F542-8556-BFE6298C4EC5}"/>
              </a:ext>
            </a:extLst>
          </p:cNvPr>
          <p:cNvSpPr txBox="1">
            <a:spLocks/>
          </p:cNvSpPr>
          <p:nvPr/>
        </p:nvSpPr>
        <p:spPr>
          <a:xfrm>
            <a:off x="3003757" y="1603771"/>
            <a:ext cx="2548659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150000"/>
              </a:lnSpc>
              <a:spcBef>
                <a:spcPts val="750"/>
              </a:spcBef>
              <a:buFont typeface="Arial"/>
              <a:buChar char="•"/>
              <a:defRPr sz="1800" b="0" i="0" kern="120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Centralized team at HQ</a:t>
            </a:r>
          </a:p>
          <a:p>
            <a:r>
              <a:rPr lang="en-US" sz="1400" dirty="0"/>
              <a:t>Outsourced translation</a:t>
            </a:r>
          </a:p>
          <a:p>
            <a:r>
              <a:rPr lang="en-US" sz="1400" dirty="0"/>
              <a:t>Workflow with external translation agency via API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⚠️ System Compatibility</a:t>
            </a:r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0EA1BAD-04FE-3F41-9576-9509376F25A0}"/>
              </a:ext>
            </a:extLst>
          </p:cNvPr>
          <p:cNvSpPr txBox="1">
            <a:spLocks/>
          </p:cNvSpPr>
          <p:nvPr/>
        </p:nvSpPr>
        <p:spPr>
          <a:xfrm>
            <a:off x="5672777" y="1603771"/>
            <a:ext cx="2548659" cy="32635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150000"/>
              </a:lnSpc>
              <a:spcBef>
                <a:spcPts val="750"/>
              </a:spcBef>
              <a:buFont typeface="Arial"/>
              <a:buChar char="•"/>
              <a:defRPr sz="1800" b="0" i="0" kern="120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Decentralized team</a:t>
            </a:r>
          </a:p>
          <a:p>
            <a:r>
              <a:rPr lang="en-US" sz="1400" dirty="0"/>
              <a:t>Automatic workflow notifications</a:t>
            </a:r>
          </a:p>
          <a:p>
            <a:r>
              <a:rPr lang="en-US" sz="1400" dirty="0"/>
              <a:t>Independent publishing, autonomous sites</a:t>
            </a:r>
          </a:p>
          <a:p>
            <a:endParaRPr lang="en-US" sz="1400" dirty="0"/>
          </a:p>
          <a:p>
            <a:pPr marL="0" indent="0">
              <a:buNone/>
            </a:pPr>
            <a:r>
              <a:rPr lang="en-US" sz="1400" dirty="0"/>
              <a:t>⚠️ Standardized template to protect branding</a:t>
            </a:r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4CB706-00D5-4646-A147-698565B8EC64}"/>
              </a:ext>
            </a:extLst>
          </p:cNvPr>
          <p:cNvSpPr/>
          <p:nvPr/>
        </p:nvSpPr>
        <p:spPr>
          <a:xfrm>
            <a:off x="334736" y="1220186"/>
            <a:ext cx="2548659" cy="38358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Internal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D5E556-5277-A84E-AA48-67D1E64D69E7}"/>
              </a:ext>
            </a:extLst>
          </p:cNvPr>
          <p:cNvSpPr/>
          <p:nvPr/>
        </p:nvSpPr>
        <p:spPr>
          <a:xfrm>
            <a:off x="3003757" y="1220185"/>
            <a:ext cx="2548659" cy="38358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External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BCECBB-2FEA-9B40-9DB1-4008CDB1E634}"/>
              </a:ext>
            </a:extLst>
          </p:cNvPr>
          <p:cNvSpPr/>
          <p:nvPr/>
        </p:nvSpPr>
        <p:spPr>
          <a:xfrm>
            <a:off x="5672776" y="1220184"/>
            <a:ext cx="2548659" cy="38358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Decentralized</a:t>
            </a:r>
          </a:p>
        </p:txBody>
      </p:sp>
    </p:spTree>
    <p:extLst>
      <p:ext uri="{BB962C8B-B14F-4D97-AF65-F5344CB8AC3E}">
        <p14:creationId xmlns:p14="http://schemas.microsoft.com/office/powerpoint/2010/main" val="377360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13EFC-CD19-5946-BE08-CB09F79B6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Globalization Models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C7D35A0-F455-2841-8245-15CAFBFFA4B4}"/>
              </a:ext>
            </a:extLst>
          </p:cNvPr>
          <p:cNvGrpSpPr/>
          <p:nvPr/>
        </p:nvGrpSpPr>
        <p:grpSpPr>
          <a:xfrm>
            <a:off x="300885" y="1851024"/>
            <a:ext cx="2447795" cy="2471557"/>
            <a:chOff x="628650" y="1403927"/>
            <a:chExt cx="2447795" cy="2471557"/>
          </a:xfrm>
        </p:grpSpPr>
        <p:pic>
          <p:nvPicPr>
            <p:cNvPr id="19" name="Picture 40">
              <a:extLst>
                <a:ext uri="{FF2B5EF4-FFF2-40B4-BE49-F238E27FC236}">
                  <a16:creationId xmlns:a16="http://schemas.microsoft.com/office/drawing/2014/main" id="{C4FEB16A-3CC1-D34E-9027-96EF3EFE7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5361" y="2102722"/>
              <a:ext cx="1838575" cy="938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0B336E3-86BA-2845-9D77-093B47652EBF}"/>
                </a:ext>
              </a:extLst>
            </p:cNvPr>
            <p:cNvSpPr/>
            <p:nvPr/>
          </p:nvSpPr>
          <p:spPr>
            <a:xfrm>
              <a:off x="628650" y="1403927"/>
              <a:ext cx="868218" cy="350981"/>
            </a:xfrm>
            <a:prstGeom prst="rect">
              <a:avLst/>
            </a:prstGeom>
            <a:solidFill>
              <a:srgbClr val="BC217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Content</a:t>
              </a:r>
            </a:p>
            <a:p>
              <a:pPr algn="ctr"/>
              <a:r>
                <a:rPr lang="en-US" sz="1200" dirty="0"/>
                <a:t>Editing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4473F1C-7A90-0648-87CB-85C781141CF3}"/>
                </a:ext>
              </a:extLst>
            </p:cNvPr>
            <p:cNvSpPr/>
            <p:nvPr/>
          </p:nvSpPr>
          <p:spPr>
            <a:xfrm>
              <a:off x="2208227" y="1403927"/>
              <a:ext cx="868218" cy="35098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L10N</a:t>
              </a:r>
            </a:p>
          </p:txBody>
        </p:sp>
        <p:sp>
          <p:nvSpPr>
            <p:cNvPr id="22" name="Left-right Arrow 21">
              <a:extLst>
                <a:ext uri="{FF2B5EF4-FFF2-40B4-BE49-F238E27FC236}">
                  <a16:creationId xmlns:a16="http://schemas.microsoft.com/office/drawing/2014/main" id="{5026D3C0-207E-8E4D-BF87-AAEEFBEB31AD}"/>
                </a:ext>
              </a:extLst>
            </p:cNvPr>
            <p:cNvSpPr/>
            <p:nvPr/>
          </p:nvSpPr>
          <p:spPr>
            <a:xfrm>
              <a:off x="1515420" y="1403927"/>
              <a:ext cx="674255" cy="387927"/>
            </a:xfrm>
            <a:prstGeom prst="leftRightArrow">
              <a:avLst>
                <a:gd name="adj1" fmla="val 35714"/>
                <a:gd name="adj2" fmla="val 50000"/>
              </a:avLst>
            </a:prstGeom>
            <a:solidFill>
              <a:srgbClr val="98A3A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Bent Arrow 22">
              <a:extLst>
                <a:ext uri="{FF2B5EF4-FFF2-40B4-BE49-F238E27FC236}">
                  <a16:creationId xmlns:a16="http://schemas.microsoft.com/office/drawing/2014/main" id="{A41C74A7-E200-3444-B4BA-923D943C2DA1}"/>
                </a:ext>
              </a:extLst>
            </p:cNvPr>
            <p:cNvSpPr/>
            <p:nvPr/>
          </p:nvSpPr>
          <p:spPr>
            <a:xfrm flipV="1">
              <a:off x="831850" y="1791854"/>
              <a:ext cx="461241" cy="581891"/>
            </a:xfrm>
            <a:prstGeom prst="bentArrow">
              <a:avLst/>
            </a:prstGeom>
            <a:solidFill>
              <a:srgbClr val="98A3A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Bent Arrow 23">
              <a:extLst>
                <a:ext uri="{FF2B5EF4-FFF2-40B4-BE49-F238E27FC236}">
                  <a16:creationId xmlns:a16="http://schemas.microsoft.com/office/drawing/2014/main" id="{66B84E0B-368C-C741-93B1-6D3279C8120C}"/>
                </a:ext>
              </a:extLst>
            </p:cNvPr>
            <p:cNvSpPr/>
            <p:nvPr/>
          </p:nvSpPr>
          <p:spPr>
            <a:xfrm flipH="1" flipV="1">
              <a:off x="2356206" y="1791854"/>
              <a:ext cx="461241" cy="581891"/>
            </a:xfrm>
            <a:prstGeom prst="bentArrow">
              <a:avLst>
                <a:gd name="adj1" fmla="val 25000"/>
                <a:gd name="adj2" fmla="val 22998"/>
                <a:gd name="adj3" fmla="val 25000"/>
                <a:gd name="adj4" fmla="val 43750"/>
              </a:avLst>
            </a:prstGeom>
            <a:pattFill prst="dkUpDiag">
              <a:fgClr>
                <a:srgbClr val="98A3A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3F69B09-A4D3-AD42-AAC0-0E90322B7B50}"/>
                </a:ext>
              </a:extLst>
            </p:cNvPr>
            <p:cNvSpPr/>
            <p:nvPr/>
          </p:nvSpPr>
          <p:spPr>
            <a:xfrm>
              <a:off x="905361" y="3524503"/>
              <a:ext cx="868218" cy="35098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Content Delivery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D2ECAD7-34D1-8844-8421-DC7B2E6C31AC}"/>
                </a:ext>
              </a:extLst>
            </p:cNvPr>
            <p:cNvSpPr/>
            <p:nvPr/>
          </p:nvSpPr>
          <p:spPr>
            <a:xfrm>
              <a:off x="1875179" y="3524503"/>
              <a:ext cx="868218" cy="350981"/>
            </a:xfrm>
            <a:prstGeom prst="rect">
              <a:avLst/>
            </a:prstGeom>
            <a:pattFill prst="dkUp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Content Delivery</a:t>
              </a:r>
            </a:p>
          </p:txBody>
        </p:sp>
        <p:sp>
          <p:nvSpPr>
            <p:cNvPr id="27" name="Down Arrow 26">
              <a:extLst>
                <a:ext uri="{FF2B5EF4-FFF2-40B4-BE49-F238E27FC236}">
                  <a16:creationId xmlns:a16="http://schemas.microsoft.com/office/drawing/2014/main" id="{04791FCA-AD02-0E4D-9E2A-A755C0BEBA49}"/>
                </a:ext>
              </a:extLst>
            </p:cNvPr>
            <p:cNvSpPr/>
            <p:nvPr/>
          </p:nvSpPr>
          <p:spPr>
            <a:xfrm>
              <a:off x="1696060" y="3040778"/>
              <a:ext cx="257175" cy="419100"/>
            </a:xfrm>
            <a:prstGeom prst="downArrow">
              <a:avLst/>
            </a:prstGeom>
            <a:solidFill>
              <a:srgbClr val="98A3A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FF4D45E-14FB-9A41-9654-DC6716FD1001}"/>
              </a:ext>
            </a:extLst>
          </p:cNvPr>
          <p:cNvGrpSpPr/>
          <p:nvPr/>
        </p:nvGrpSpPr>
        <p:grpSpPr>
          <a:xfrm>
            <a:off x="3126787" y="1846460"/>
            <a:ext cx="2447795" cy="2471557"/>
            <a:chOff x="3581400" y="1832552"/>
            <a:chExt cx="2447795" cy="2471557"/>
          </a:xfrm>
        </p:grpSpPr>
        <p:pic>
          <p:nvPicPr>
            <p:cNvPr id="6" name="Picture 40">
              <a:extLst>
                <a:ext uri="{FF2B5EF4-FFF2-40B4-BE49-F238E27FC236}">
                  <a16:creationId xmlns:a16="http://schemas.microsoft.com/office/drawing/2014/main" id="{0BF3AB9A-97E9-BB4D-84FD-A99F62FAB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8111" y="2531347"/>
              <a:ext cx="1838575" cy="938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D23AE68-C0A7-DB4B-B945-6422995F07EB}"/>
                </a:ext>
              </a:extLst>
            </p:cNvPr>
            <p:cNvSpPr/>
            <p:nvPr/>
          </p:nvSpPr>
          <p:spPr>
            <a:xfrm>
              <a:off x="3581400" y="1832552"/>
              <a:ext cx="868218" cy="350981"/>
            </a:xfrm>
            <a:prstGeom prst="rect">
              <a:avLst/>
            </a:prstGeom>
            <a:solidFill>
              <a:srgbClr val="BC217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Content</a:t>
              </a:r>
            </a:p>
            <a:p>
              <a:pPr algn="ctr"/>
              <a:r>
                <a:rPr lang="en-US" sz="1200" dirty="0"/>
                <a:t>Editing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C606410-9FBB-F54E-8DF5-D9F23B04C97B}"/>
                </a:ext>
              </a:extLst>
            </p:cNvPr>
            <p:cNvSpPr/>
            <p:nvPr/>
          </p:nvSpPr>
          <p:spPr>
            <a:xfrm>
              <a:off x="5160977" y="1832552"/>
              <a:ext cx="868218" cy="350981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L10N</a:t>
              </a:r>
            </a:p>
          </p:txBody>
        </p:sp>
        <p:sp>
          <p:nvSpPr>
            <p:cNvPr id="12" name="Bent Arrow 11">
              <a:extLst>
                <a:ext uri="{FF2B5EF4-FFF2-40B4-BE49-F238E27FC236}">
                  <a16:creationId xmlns:a16="http://schemas.microsoft.com/office/drawing/2014/main" id="{3FD57944-A39E-2F41-A1CD-96BF6557091E}"/>
                </a:ext>
              </a:extLst>
            </p:cNvPr>
            <p:cNvSpPr/>
            <p:nvPr/>
          </p:nvSpPr>
          <p:spPr>
            <a:xfrm flipV="1">
              <a:off x="3784600" y="2220479"/>
              <a:ext cx="461241" cy="581891"/>
            </a:xfrm>
            <a:prstGeom prst="bentArrow">
              <a:avLst/>
            </a:prstGeom>
            <a:solidFill>
              <a:srgbClr val="98A3A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BD74FB2-576B-1945-89F1-029D0242668B}"/>
                </a:ext>
              </a:extLst>
            </p:cNvPr>
            <p:cNvSpPr/>
            <p:nvPr/>
          </p:nvSpPr>
          <p:spPr>
            <a:xfrm>
              <a:off x="3858111" y="3953128"/>
              <a:ext cx="868218" cy="35098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Content Delivery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02DE742-1477-B047-B886-BE116754DF24}"/>
                </a:ext>
              </a:extLst>
            </p:cNvPr>
            <p:cNvSpPr/>
            <p:nvPr/>
          </p:nvSpPr>
          <p:spPr>
            <a:xfrm>
              <a:off x="4827929" y="3953128"/>
              <a:ext cx="868218" cy="350981"/>
            </a:xfrm>
            <a:prstGeom prst="rect">
              <a:avLst/>
            </a:prstGeom>
            <a:pattFill prst="dkUp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Content Delivery</a:t>
              </a:r>
            </a:p>
          </p:txBody>
        </p:sp>
        <p:sp>
          <p:nvSpPr>
            <p:cNvPr id="16" name="Down Arrow 15">
              <a:extLst>
                <a:ext uri="{FF2B5EF4-FFF2-40B4-BE49-F238E27FC236}">
                  <a16:creationId xmlns:a16="http://schemas.microsoft.com/office/drawing/2014/main" id="{D72E6864-E0A5-1547-8D6C-78F0CCEBB02A}"/>
                </a:ext>
              </a:extLst>
            </p:cNvPr>
            <p:cNvSpPr/>
            <p:nvPr/>
          </p:nvSpPr>
          <p:spPr>
            <a:xfrm>
              <a:off x="4648810" y="3469403"/>
              <a:ext cx="257175" cy="419100"/>
            </a:xfrm>
            <a:prstGeom prst="downArrow">
              <a:avLst/>
            </a:prstGeom>
            <a:solidFill>
              <a:srgbClr val="98A3A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Up-down Arrow 27">
              <a:extLst>
                <a:ext uri="{FF2B5EF4-FFF2-40B4-BE49-F238E27FC236}">
                  <a16:creationId xmlns:a16="http://schemas.microsoft.com/office/drawing/2014/main" id="{4588F33E-A9E3-9B4F-AAF7-DF050ABE57DB}"/>
                </a:ext>
              </a:extLst>
            </p:cNvPr>
            <p:cNvSpPr/>
            <p:nvPr/>
          </p:nvSpPr>
          <p:spPr>
            <a:xfrm>
              <a:off x="5448497" y="2220479"/>
              <a:ext cx="247650" cy="488951"/>
            </a:xfrm>
            <a:prstGeom prst="upDownArrow">
              <a:avLst/>
            </a:prstGeom>
            <a:solidFill>
              <a:srgbClr val="98A3A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C0B2120-36D1-A748-A0BB-754185B97F33}"/>
              </a:ext>
            </a:extLst>
          </p:cNvPr>
          <p:cNvGrpSpPr/>
          <p:nvPr/>
        </p:nvGrpSpPr>
        <p:grpSpPr>
          <a:xfrm>
            <a:off x="5869945" y="1846460"/>
            <a:ext cx="3060374" cy="2476121"/>
            <a:chOff x="6046294" y="1846460"/>
            <a:chExt cx="3060374" cy="247612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7771381-9AAA-9141-A6D8-F95B99584B3D}"/>
                </a:ext>
              </a:extLst>
            </p:cNvPr>
            <p:cNvSpPr/>
            <p:nvPr/>
          </p:nvSpPr>
          <p:spPr>
            <a:xfrm>
              <a:off x="6046294" y="1851375"/>
              <a:ext cx="868218" cy="350981"/>
            </a:xfrm>
            <a:prstGeom prst="rect">
              <a:avLst/>
            </a:prstGeom>
            <a:solidFill>
              <a:srgbClr val="BC217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Content</a:t>
              </a:r>
            </a:p>
            <a:p>
              <a:pPr algn="ctr"/>
              <a:r>
                <a:rPr lang="en-US" sz="1200" dirty="0"/>
                <a:t>Editing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179BD8A-5A42-6A42-B405-354CC5552F9B}"/>
                </a:ext>
              </a:extLst>
            </p:cNvPr>
            <p:cNvSpPr/>
            <p:nvPr/>
          </p:nvSpPr>
          <p:spPr>
            <a:xfrm>
              <a:off x="6538562" y="3971600"/>
              <a:ext cx="868218" cy="35098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Content Delivery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5E6E387-A870-DD4B-80FA-2B2F159CC23C}"/>
                </a:ext>
              </a:extLst>
            </p:cNvPr>
            <p:cNvSpPr/>
            <p:nvPr/>
          </p:nvSpPr>
          <p:spPr>
            <a:xfrm>
              <a:off x="7508380" y="3971600"/>
              <a:ext cx="868218" cy="350981"/>
            </a:xfrm>
            <a:prstGeom prst="rect">
              <a:avLst/>
            </a:prstGeom>
            <a:pattFill prst="dkUp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Content Delivery</a:t>
              </a:r>
            </a:p>
          </p:txBody>
        </p:sp>
        <p:sp>
          <p:nvSpPr>
            <p:cNvPr id="37" name="Down Arrow 36">
              <a:extLst>
                <a:ext uri="{FF2B5EF4-FFF2-40B4-BE49-F238E27FC236}">
                  <a16:creationId xmlns:a16="http://schemas.microsoft.com/office/drawing/2014/main" id="{5B969232-9660-784F-BF89-AB99622C7F1E}"/>
                </a:ext>
              </a:extLst>
            </p:cNvPr>
            <p:cNvSpPr/>
            <p:nvPr/>
          </p:nvSpPr>
          <p:spPr>
            <a:xfrm>
              <a:off x="6467009" y="3469992"/>
              <a:ext cx="257175" cy="419100"/>
            </a:xfrm>
            <a:prstGeom prst="downArrow">
              <a:avLst/>
            </a:prstGeom>
            <a:solidFill>
              <a:srgbClr val="98A3A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1D9B147-3CEB-944C-BC36-FF21B9813A7E}"/>
                </a:ext>
              </a:extLst>
            </p:cNvPr>
            <p:cNvSpPr/>
            <p:nvPr/>
          </p:nvSpPr>
          <p:spPr>
            <a:xfrm>
              <a:off x="7093059" y="1846460"/>
              <a:ext cx="868218" cy="350981"/>
            </a:xfrm>
            <a:prstGeom prst="rect">
              <a:avLst/>
            </a:prstGeom>
            <a:solidFill>
              <a:srgbClr val="BC217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Content</a:t>
              </a:r>
            </a:p>
            <a:p>
              <a:pPr algn="ctr"/>
              <a:r>
                <a:rPr lang="en-US" sz="1200" dirty="0"/>
                <a:t>Editing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3F56065-87C9-AE46-9438-B366E9FBB497}"/>
                </a:ext>
              </a:extLst>
            </p:cNvPr>
            <p:cNvSpPr/>
            <p:nvPr/>
          </p:nvSpPr>
          <p:spPr>
            <a:xfrm>
              <a:off x="8133818" y="1848445"/>
              <a:ext cx="868218" cy="350981"/>
            </a:xfrm>
            <a:prstGeom prst="rect">
              <a:avLst/>
            </a:prstGeom>
            <a:solidFill>
              <a:srgbClr val="BC217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Content</a:t>
              </a:r>
            </a:p>
            <a:p>
              <a:pPr algn="ctr"/>
              <a:r>
                <a:rPr lang="en-US" sz="1200" dirty="0"/>
                <a:t>Editing</a:t>
              </a:r>
            </a:p>
          </p:txBody>
        </p:sp>
        <p:sp>
          <p:nvSpPr>
            <p:cNvPr id="41" name="Down Arrow 40">
              <a:extLst>
                <a:ext uri="{FF2B5EF4-FFF2-40B4-BE49-F238E27FC236}">
                  <a16:creationId xmlns:a16="http://schemas.microsoft.com/office/drawing/2014/main" id="{7C2DD442-2412-7E41-ACE2-1C419F2429B4}"/>
                </a:ext>
              </a:extLst>
            </p:cNvPr>
            <p:cNvSpPr/>
            <p:nvPr/>
          </p:nvSpPr>
          <p:spPr>
            <a:xfrm>
              <a:off x="6467009" y="2271028"/>
              <a:ext cx="257175" cy="419100"/>
            </a:xfrm>
            <a:prstGeom prst="downArrow">
              <a:avLst/>
            </a:prstGeom>
            <a:solidFill>
              <a:srgbClr val="98A3A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Down Arrow 41">
              <a:extLst>
                <a:ext uri="{FF2B5EF4-FFF2-40B4-BE49-F238E27FC236}">
                  <a16:creationId xmlns:a16="http://schemas.microsoft.com/office/drawing/2014/main" id="{89452D67-C7BA-4847-8F7A-5219C18D1B8E}"/>
                </a:ext>
              </a:extLst>
            </p:cNvPr>
            <p:cNvSpPr/>
            <p:nvPr/>
          </p:nvSpPr>
          <p:spPr>
            <a:xfrm>
              <a:off x="7343374" y="2271028"/>
              <a:ext cx="257175" cy="419100"/>
            </a:xfrm>
            <a:prstGeom prst="downArrow">
              <a:avLst/>
            </a:prstGeom>
            <a:solidFill>
              <a:srgbClr val="98A3A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Down Arrow 42">
              <a:extLst>
                <a:ext uri="{FF2B5EF4-FFF2-40B4-BE49-F238E27FC236}">
                  <a16:creationId xmlns:a16="http://schemas.microsoft.com/office/drawing/2014/main" id="{68B053FB-B0F7-754B-84A9-B5F4793C5108}"/>
                </a:ext>
              </a:extLst>
            </p:cNvPr>
            <p:cNvSpPr/>
            <p:nvPr/>
          </p:nvSpPr>
          <p:spPr>
            <a:xfrm>
              <a:off x="8348261" y="2271028"/>
              <a:ext cx="257175" cy="419100"/>
            </a:xfrm>
            <a:prstGeom prst="downArrow">
              <a:avLst/>
            </a:prstGeom>
            <a:solidFill>
              <a:srgbClr val="98A3A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1" name="Picture 40">
              <a:extLst>
                <a:ext uri="{FF2B5EF4-FFF2-40B4-BE49-F238E27FC236}">
                  <a16:creationId xmlns:a16="http://schemas.microsoft.com/office/drawing/2014/main" id="{DF3C5AEC-3ECC-CB40-8526-094B175564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8562" y="2587374"/>
              <a:ext cx="1838575" cy="9380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" name="Down Arrow 43">
              <a:extLst>
                <a:ext uri="{FF2B5EF4-FFF2-40B4-BE49-F238E27FC236}">
                  <a16:creationId xmlns:a16="http://schemas.microsoft.com/office/drawing/2014/main" id="{1530495A-1042-7E4D-984A-35F390DE116F}"/>
                </a:ext>
              </a:extLst>
            </p:cNvPr>
            <p:cNvSpPr/>
            <p:nvPr/>
          </p:nvSpPr>
          <p:spPr>
            <a:xfrm>
              <a:off x="7343374" y="3469992"/>
              <a:ext cx="257175" cy="419100"/>
            </a:xfrm>
            <a:prstGeom prst="downArrow">
              <a:avLst/>
            </a:prstGeom>
            <a:solidFill>
              <a:srgbClr val="98A3A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Down Arrow 44">
              <a:extLst>
                <a:ext uri="{FF2B5EF4-FFF2-40B4-BE49-F238E27FC236}">
                  <a16:creationId xmlns:a16="http://schemas.microsoft.com/office/drawing/2014/main" id="{96BC459A-AF20-DE4A-9AC2-C9D38C6C09BC}"/>
                </a:ext>
              </a:extLst>
            </p:cNvPr>
            <p:cNvSpPr/>
            <p:nvPr/>
          </p:nvSpPr>
          <p:spPr>
            <a:xfrm>
              <a:off x="8329260" y="3485027"/>
              <a:ext cx="257175" cy="419100"/>
            </a:xfrm>
            <a:prstGeom prst="downArrow">
              <a:avLst/>
            </a:prstGeom>
            <a:solidFill>
              <a:srgbClr val="98A3A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E79C5C1-1BFE-2C48-8828-6BFBA687B108}"/>
                </a:ext>
              </a:extLst>
            </p:cNvPr>
            <p:cNvSpPr/>
            <p:nvPr/>
          </p:nvSpPr>
          <p:spPr>
            <a:xfrm rot="5400000">
              <a:off x="6700344" y="1911067"/>
              <a:ext cx="350981" cy="2297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EN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D5618FA-A67F-1A43-9AC9-29034F93E32E}"/>
                </a:ext>
              </a:extLst>
            </p:cNvPr>
            <p:cNvSpPr/>
            <p:nvPr/>
          </p:nvSpPr>
          <p:spPr>
            <a:xfrm rot="5400000">
              <a:off x="7743619" y="1907056"/>
              <a:ext cx="350982" cy="2297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DE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ABA0579-0F2E-234F-8301-F00D87F15469}"/>
                </a:ext>
              </a:extLst>
            </p:cNvPr>
            <p:cNvSpPr/>
            <p:nvPr/>
          </p:nvSpPr>
          <p:spPr>
            <a:xfrm rot="5400000">
              <a:off x="8816282" y="1909474"/>
              <a:ext cx="350982" cy="22979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</a:rPr>
                <a:t>ES</a:t>
              </a:r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2AC8108A-83C5-FE40-AE17-0134484CDD58}"/>
              </a:ext>
            </a:extLst>
          </p:cNvPr>
          <p:cNvSpPr/>
          <p:nvPr/>
        </p:nvSpPr>
        <p:spPr>
          <a:xfrm>
            <a:off x="273084" y="1214464"/>
            <a:ext cx="2548659" cy="38358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Internal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FA3B0E8-1DB0-6345-89A2-B071C284BAFC}"/>
              </a:ext>
            </a:extLst>
          </p:cNvPr>
          <p:cNvSpPr/>
          <p:nvPr/>
        </p:nvSpPr>
        <p:spPr>
          <a:xfrm>
            <a:off x="3098986" y="1212182"/>
            <a:ext cx="2548659" cy="38358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External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ABBBA42-5ABE-6740-9CD8-977F925D98C4}"/>
              </a:ext>
            </a:extLst>
          </p:cNvPr>
          <p:cNvSpPr/>
          <p:nvPr/>
        </p:nvSpPr>
        <p:spPr>
          <a:xfrm>
            <a:off x="5869945" y="1220184"/>
            <a:ext cx="3060375" cy="38358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Decentralized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EB86E70-F54B-F74D-A1F9-E768D9AB3CD7}"/>
              </a:ext>
            </a:extLst>
          </p:cNvPr>
          <p:cNvSpPr txBox="1"/>
          <p:nvPr/>
        </p:nvSpPr>
        <p:spPr>
          <a:xfrm>
            <a:off x="1134313" y="2834181"/>
            <a:ext cx="72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DXM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B8B1B2B-0695-DD44-8FBF-01FDBF530219}"/>
              </a:ext>
            </a:extLst>
          </p:cNvPr>
          <p:cNvSpPr txBox="1"/>
          <p:nvPr/>
        </p:nvSpPr>
        <p:spPr>
          <a:xfrm>
            <a:off x="3979907" y="2831704"/>
            <a:ext cx="72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DXM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58A8F71-42DC-2246-BB6E-53A3C33629CC}"/>
              </a:ext>
            </a:extLst>
          </p:cNvPr>
          <p:cNvSpPr txBox="1"/>
          <p:nvPr/>
        </p:nvSpPr>
        <p:spPr>
          <a:xfrm>
            <a:off x="6902728" y="2874740"/>
            <a:ext cx="72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DXM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C296D42-0277-2640-8DB7-CFE5B92CE3B5}"/>
              </a:ext>
            </a:extLst>
          </p:cNvPr>
          <p:cNvSpPr txBox="1"/>
          <p:nvPr/>
        </p:nvSpPr>
        <p:spPr>
          <a:xfrm>
            <a:off x="4538940" y="2348234"/>
            <a:ext cx="7251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API</a:t>
            </a:r>
          </a:p>
        </p:txBody>
      </p:sp>
    </p:spTree>
    <p:extLst>
      <p:ext uri="{BB962C8B-B14F-4D97-AF65-F5344CB8AC3E}">
        <p14:creationId xmlns:p14="http://schemas.microsoft.com/office/powerpoint/2010/main" val="3918585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TMF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6082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TMF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/>
          </a:bodyPr>
          <a:lstStyle/>
          <a:p>
            <a:r>
              <a:rPr lang="en-GB" dirty="0"/>
              <a:t>Template-based DXM extension</a:t>
            </a:r>
          </a:p>
          <a:p>
            <a:r>
              <a:rPr lang="en-GB" dirty="0"/>
              <a:t>Enables management of multi-lingual content</a:t>
            </a:r>
          </a:p>
          <a:p>
            <a:r>
              <a:rPr lang="en-GB" dirty="0"/>
              <a:t>Manages Primary / Follower content relationships</a:t>
            </a:r>
          </a:p>
          <a:p>
            <a:r>
              <a:rPr lang="en-GB" dirty="0"/>
              <a:t>Can designate content owners by language, country and locale</a:t>
            </a:r>
          </a:p>
          <a:p>
            <a:r>
              <a:rPr lang="en-GB" dirty="0"/>
              <a:t>Can notify content owners when primary / follower content is modified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9262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TMF is 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/>
          </a:bodyPr>
          <a:lstStyle/>
          <a:p>
            <a:r>
              <a:rPr lang="en-GB" dirty="0"/>
              <a:t>A translation </a:t>
            </a:r>
            <a:r>
              <a:rPr lang="en-GB" b="1" i="1" dirty="0"/>
              <a:t>services</a:t>
            </a:r>
            <a:r>
              <a:rPr lang="en-GB" dirty="0"/>
              <a:t> toolkit</a:t>
            </a:r>
          </a:p>
          <a:p>
            <a:r>
              <a:rPr lang="en-GB" dirty="0"/>
              <a:t>Provided with any translation service integrations built in.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4988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LEAD/FOLLOWER CONCEPT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4666B9-EEB6-2B4A-B42F-1C7F10666F76}"/>
              </a:ext>
            </a:extLst>
          </p:cNvPr>
          <p:cNvSpPr/>
          <p:nvPr/>
        </p:nvSpPr>
        <p:spPr>
          <a:xfrm>
            <a:off x="804823" y="1546592"/>
            <a:ext cx="801044" cy="347623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Content asset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3AB28C-F64A-334C-A9E9-5B381E67ADD3}"/>
              </a:ext>
            </a:extLst>
          </p:cNvPr>
          <p:cNvSpPr/>
          <p:nvPr/>
        </p:nvSpPr>
        <p:spPr>
          <a:xfrm>
            <a:off x="2374795" y="2206025"/>
            <a:ext cx="801044" cy="347623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Content asset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3D5E7B-72CD-CC45-BF9A-177256455BE9}"/>
              </a:ext>
            </a:extLst>
          </p:cNvPr>
          <p:cNvSpPr/>
          <p:nvPr/>
        </p:nvSpPr>
        <p:spPr>
          <a:xfrm>
            <a:off x="3993257" y="2208387"/>
            <a:ext cx="801044" cy="347623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Content asset</a:t>
            </a:r>
          </a:p>
        </p:txBody>
      </p: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EB75B621-EBD9-3240-88B4-E0E77FD047B0}"/>
              </a:ext>
            </a:extLst>
          </p:cNvPr>
          <p:cNvCxnSpPr>
            <a:cxnSpLocks/>
            <a:stCxn id="3" idx="3"/>
            <a:endCxn id="4" idx="0"/>
          </p:cNvCxnSpPr>
          <p:nvPr/>
        </p:nvCxnSpPr>
        <p:spPr>
          <a:xfrm>
            <a:off x="1605867" y="1720404"/>
            <a:ext cx="1169450" cy="48562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3179992D-91EB-8743-9813-91BE587B9C95}"/>
              </a:ext>
            </a:extLst>
          </p:cNvPr>
          <p:cNvCxnSpPr>
            <a:cxnSpLocks/>
            <a:stCxn id="3" idx="3"/>
            <a:endCxn id="5" idx="0"/>
          </p:cNvCxnSpPr>
          <p:nvPr/>
        </p:nvCxnSpPr>
        <p:spPr>
          <a:xfrm>
            <a:off x="1605867" y="1720404"/>
            <a:ext cx="2787912" cy="48798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201B061-7525-8840-9BFA-A3DD4CB27723}"/>
              </a:ext>
            </a:extLst>
          </p:cNvPr>
          <p:cNvCxnSpPr>
            <a:cxnSpLocks/>
          </p:cNvCxnSpPr>
          <p:nvPr/>
        </p:nvCxnSpPr>
        <p:spPr>
          <a:xfrm flipH="1">
            <a:off x="804823" y="1352707"/>
            <a:ext cx="75343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D557A65-E68A-9C4C-B2B8-743A0C5BF256}"/>
              </a:ext>
            </a:extLst>
          </p:cNvPr>
          <p:cNvCxnSpPr>
            <a:cxnSpLocks/>
          </p:cNvCxnSpPr>
          <p:nvPr/>
        </p:nvCxnSpPr>
        <p:spPr>
          <a:xfrm flipH="1">
            <a:off x="804823" y="2056771"/>
            <a:ext cx="75343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BED5CF8-3D9F-DF4A-A59F-894D80BF5EA8}"/>
              </a:ext>
            </a:extLst>
          </p:cNvPr>
          <p:cNvCxnSpPr>
            <a:cxnSpLocks/>
          </p:cNvCxnSpPr>
          <p:nvPr/>
        </p:nvCxnSpPr>
        <p:spPr>
          <a:xfrm>
            <a:off x="1962307" y="1352707"/>
            <a:ext cx="0" cy="365130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706FC05-735D-1245-8C1D-D48B8794CC31}"/>
              </a:ext>
            </a:extLst>
          </p:cNvPr>
          <p:cNvCxnSpPr>
            <a:cxnSpLocks/>
          </p:cNvCxnSpPr>
          <p:nvPr/>
        </p:nvCxnSpPr>
        <p:spPr>
          <a:xfrm>
            <a:off x="3580770" y="1370182"/>
            <a:ext cx="0" cy="363382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323CA51-8395-034A-BB19-0BDF43F16F9C}"/>
              </a:ext>
            </a:extLst>
          </p:cNvPr>
          <p:cNvCxnSpPr>
            <a:cxnSpLocks/>
          </p:cNvCxnSpPr>
          <p:nvPr/>
        </p:nvCxnSpPr>
        <p:spPr>
          <a:xfrm>
            <a:off x="5182859" y="1370182"/>
            <a:ext cx="0" cy="363382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FD4DD2F-EEE1-B348-80D2-B42334614CA4}"/>
              </a:ext>
            </a:extLst>
          </p:cNvPr>
          <p:cNvCxnSpPr>
            <a:cxnSpLocks/>
          </p:cNvCxnSpPr>
          <p:nvPr/>
        </p:nvCxnSpPr>
        <p:spPr>
          <a:xfrm flipH="1">
            <a:off x="804823" y="2738163"/>
            <a:ext cx="75343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5FC2ED1F-89A6-634F-B530-C2BF66320AE3}"/>
              </a:ext>
            </a:extLst>
          </p:cNvPr>
          <p:cNvSpPr/>
          <p:nvPr/>
        </p:nvSpPr>
        <p:spPr>
          <a:xfrm>
            <a:off x="2374795" y="2932917"/>
            <a:ext cx="801044" cy="347623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Content asset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F1DEDD3-BD0B-C840-B870-EF3F89745AD3}"/>
              </a:ext>
            </a:extLst>
          </p:cNvPr>
          <p:cNvCxnSpPr>
            <a:cxnSpLocks/>
          </p:cNvCxnSpPr>
          <p:nvPr/>
        </p:nvCxnSpPr>
        <p:spPr>
          <a:xfrm flipH="1">
            <a:off x="804823" y="3472454"/>
            <a:ext cx="75343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37300ACE-072B-1343-9B2C-E4F3E839782B}"/>
              </a:ext>
            </a:extLst>
          </p:cNvPr>
          <p:cNvSpPr/>
          <p:nvPr/>
        </p:nvSpPr>
        <p:spPr>
          <a:xfrm>
            <a:off x="817733" y="3664369"/>
            <a:ext cx="801044" cy="347623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Content asset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039E634-ACEC-6242-8262-B405EAAD3A83}"/>
              </a:ext>
            </a:extLst>
          </p:cNvPr>
          <p:cNvSpPr/>
          <p:nvPr/>
        </p:nvSpPr>
        <p:spPr>
          <a:xfrm>
            <a:off x="970133" y="3816769"/>
            <a:ext cx="801044" cy="347623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Content asset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CE084B7-E1CB-2446-84D9-5F635F25F4E0}"/>
              </a:ext>
            </a:extLst>
          </p:cNvPr>
          <p:cNvCxnSpPr>
            <a:cxnSpLocks/>
          </p:cNvCxnSpPr>
          <p:nvPr/>
        </p:nvCxnSpPr>
        <p:spPr>
          <a:xfrm flipH="1">
            <a:off x="804823" y="4335214"/>
            <a:ext cx="75343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CEFDBC8A-AD69-DB43-BDD3-86043366F144}"/>
              </a:ext>
            </a:extLst>
          </p:cNvPr>
          <p:cNvSpPr/>
          <p:nvPr/>
        </p:nvSpPr>
        <p:spPr>
          <a:xfrm>
            <a:off x="2318748" y="4468724"/>
            <a:ext cx="801044" cy="347623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Content asset</a:t>
            </a:r>
          </a:p>
        </p:txBody>
      </p:sp>
      <p:cxnSp>
        <p:nvCxnSpPr>
          <p:cNvPr id="57" name="Curved Connector 56">
            <a:extLst>
              <a:ext uri="{FF2B5EF4-FFF2-40B4-BE49-F238E27FC236}">
                <a16:creationId xmlns:a16="http://schemas.microsoft.com/office/drawing/2014/main" id="{CE614BB6-302D-B74D-A39F-2CAD1142C2F9}"/>
              </a:ext>
            </a:extLst>
          </p:cNvPr>
          <p:cNvCxnSpPr>
            <a:cxnSpLocks/>
            <a:endCxn id="55" idx="0"/>
          </p:cNvCxnSpPr>
          <p:nvPr/>
        </p:nvCxnSpPr>
        <p:spPr>
          <a:xfrm>
            <a:off x="1767396" y="3962753"/>
            <a:ext cx="951874" cy="505971"/>
          </a:xfrm>
          <a:prstGeom prst="curvedConnector2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7C29E32-7FB7-484A-863F-053EFA80E4F9}"/>
              </a:ext>
            </a:extLst>
          </p:cNvPr>
          <p:cNvCxnSpPr>
            <a:cxnSpLocks/>
          </p:cNvCxnSpPr>
          <p:nvPr/>
        </p:nvCxnSpPr>
        <p:spPr>
          <a:xfrm flipH="1">
            <a:off x="774594" y="5004009"/>
            <a:ext cx="75343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3FF6AF2A-FBDB-D149-9466-1A2118B3285D}"/>
              </a:ext>
            </a:extLst>
          </p:cNvPr>
          <p:cNvSpPr txBox="1"/>
          <p:nvPr/>
        </p:nvSpPr>
        <p:spPr>
          <a:xfrm>
            <a:off x="5182857" y="1350977"/>
            <a:ext cx="30687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Primary content (lead asset) is created.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9B3C8C2-9B1A-7246-AC06-2656CAFB2890}"/>
              </a:ext>
            </a:extLst>
          </p:cNvPr>
          <p:cNvSpPr txBox="1"/>
          <p:nvPr/>
        </p:nvSpPr>
        <p:spPr>
          <a:xfrm>
            <a:off x="5182858" y="2065328"/>
            <a:ext cx="30687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Content editor chooses to distribute content to other locales configured through TMF. This creates clones of the lead content – follower assets .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6C7D8FA-437A-C64E-A963-DC1E0A7FB6F0}"/>
              </a:ext>
            </a:extLst>
          </p:cNvPr>
          <p:cNvSpPr txBox="1"/>
          <p:nvPr/>
        </p:nvSpPr>
        <p:spPr>
          <a:xfrm>
            <a:off x="708946" y="1003964"/>
            <a:ext cx="12533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en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-US/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1B15544-E0C8-FA4A-AC48-57ADC735C0B5}"/>
              </a:ext>
            </a:extLst>
          </p:cNvPr>
          <p:cNvSpPr txBox="1"/>
          <p:nvPr/>
        </p:nvSpPr>
        <p:spPr>
          <a:xfrm>
            <a:off x="1966872" y="1003964"/>
            <a:ext cx="12533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en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-GB/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5079E62-62DD-9349-9BDE-160BB3C0724F}"/>
              </a:ext>
            </a:extLst>
          </p:cNvPr>
          <p:cNvSpPr txBox="1"/>
          <p:nvPr/>
        </p:nvSpPr>
        <p:spPr>
          <a:xfrm>
            <a:off x="3580770" y="1005821"/>
            <a:ext cx="12533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es-MX/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09DD478-9C1B-004B-AC51-DDF10034F4E6}"/>
              </a:ext>
            </a:extLst>
          </p:cNvPr>
          <p:cNvSpPr txBox="1"/>
          <p:nvPr/>
        </p:nvSpPr>
        <p:spPr>
          <a:xfrm>
            <a:off x="5182856" y="2738220"/>
            <a:ext cx="30687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Regional editor(s) edits the follower assets to perform translation, localization etc.</a:t>
            </a:r>
          </a:p>
          <a:p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DDE4FB6-2A03-C949-AEB7-93BEC08F2DF9}"/>
              </a:ext>
            </a:extLst>
          </p:cNvPr>
          <p:cNvSpPr/>
          <p:nvPr/>
        </p:nvSpPr>
        <p:spPr>
          <a:xfrm>
            <a:off x="3993257" y="2933075"/>
            <a:ext cx="801044" cy="347623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Content asset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2295138-914D-6545-B09C-EDB592951EF3}"/>
              </a:ext>
            </a:extLst>
          </p:cNvPr>
          <p:cNvSpPr txBox="1"/>
          <p:nvPr/>
        </p:nvSpPr>
        <p:spPr>
          <a:xfrm>
            <a:off x="5182855" y="3479880"/>
            <a:ext cx="306877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Content editor creates a branch of the lead content and makes some changes. They have the option to re-distribute to one or more followers (over writing the follower content), or just let the regional editor be notified of changes.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9874EAD-9DF3-0B49-BD58-C5FB3EE80EDE}"/>
              </a:ext>
            </a:extLst>
          </p:cNvPr>
          <p:cNvSpPr/>
          <p:nvPr/>
        </p:nvSpPr>
        <p:spPr>
          <a:xfrm>
            <a:off x="3993257" y="4484625"/>
            <a:ext cx="801044" cy="347623"/>
          </a:xfrm>
          <a:prstGeom prst="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Content asset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46394A0-A74C-C24C-91BC-6C7A7233CEF3}"/>
              </a:ext>
            </a:extLst>
          </p:cNvPr>
          <p:cNvSpPr txBox="1"/>
          <p:nvPr/>
        </p:nvSpPr>
        <p:spPr>
          <a:xfrm>
            <a:off x="5182855" y="4335213"/>
            <a:ext cx="30687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Regional editor(s) edits the follower assets to perform translation, localization etc.</a:t>
            </a:r>
          </a:p>
          <a:p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2383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TMF Configuration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827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162C8E-FA7A-1844-B2B3-4643B2F77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1513B09-CFEF-5E47-9E79-29CEF4ACD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32712"/>
            <a:ext cx="7886700" cy="474695"/>
          </a:xfrm>
        </p:spPr>
        <p:txBody>
          <a:bodyPr/>
          <a:lstStyle/>
          <a:p>
            <a:r>
              <a:rPr lang="en-US" dirty="0"/>
              <a:t>All configuration files should be in a «</a:t>
            </a:r>
            <a:r>
              <a:rPr lang="en-US" b="1" dirty="0"/>
              <a:t>_TMF</a:t>
            </a:r>
            <a:r>
              <a:rPr lang="en-US" dirty="0"/>
              <a:t>» folder under the site root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1108087C-BECF-5F44-9FE5-17A77C631351}"/>
              </a:ext>
            </a:extLst>
          </p:cNvPr>
          <p:cNvSpPr txBox="1">
            <a:spLocks/>
          </p:cNvSpPr>
          <p:nvPr/>
        </p:nvSpPr>
        <p:spPr>
          <a:xfrm>
            <a:off x="628650" y="1852730"/>
            <a:ext cx="7886700" cy="2681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150000"/>
              </a:lnSpc>
              <a:spcBef>
                <a:spcPts val="750"/>
              </a:spcBef>
              <a:buFont typeface="Arial"/>
              <a:buChar char="•"/>
              <a:defRPr sz="1800" b="0" i="0" kern="120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0A95C22-660C-BB4F-A3AC-6778BB92D6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363561"/>
              </p:ext>
            </p:extLst>
          </p:nvPr>
        </p:nvGraphicFramePr>
        <p:xfrm>
          <a:off x="1407024" y="1820171"/>
          <a:ext cx="6096000" cy="3154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941763652"/>
                    </a:ext>
                  </a:extLst>
                </a:gridCol>
                <a:gridCol w="399945">
                  <a:extLst>
                    <a:ext uri="{9D8B030D-6E8A-4147-A177-3AD203B41FA5}">
                      <a16:colId xmlns:a16="http://schemas.microsoft.com/office/drawing/2014/main" val="4047274339"/>
                    </a:ext>
                  </a:extLst>
                </a:gridCol>
                <a:gridCol w="3664055">
                  <a:extLst>
                    <a:ext uri="{9D8B030D-6E8A-4147-A177-3AD203B41FA5}">
                      <a16:colId xmlns:a16="http://schemas.microsoft.com/office/drawing/2014/main" val="3337751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/_TMF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Top-level configuration folder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5637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  /Country Sites Config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Configuration of each country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0311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    Great Britain</a:t>
                      </a:r>
                    </a:p>
                    <a:p>
                      <a:r>
                        <a:rPr lang="en-US" sz="1000" dirty="0"/>
                        <a:t>    Mexico</a:t>
                      </a:r>
                    </a:p>
                    <a:p>
                      <a:r>
                        <a:rPr lang="en-US" sz="1000" dirty="0"/>
                        <a:t>    United States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Individual country &amp; owner(s) configurations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3344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  /Languages Config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Languages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9113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    English</a:t>
                      </a:r>
                    </a:p>
                    <a:p>
                      <a:r>
                        <a:rPr lang="en-US" sz="1000" dirty="0"/>
                        <a:t>    Spanish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Individual language &amp; owner(s) configurations</a:t>
                      </a:r>
                    </a:p>
                    <a:p>
                      <a:endParaRPr lang="en-US" sz="1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8234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  /Locales Config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Configuration of locales: a combination of country,  language and a root folder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5136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    </a:t>
                      </a:r>
                      <a:r>
                        <a:rPr lang="en-US" sz="1000" dirty="0" err="1"/>
                        <a:t>en-gb</a:t>
                      </a:r>
                      <a:endParaRPr lang="en-US" sz="1000" dirty="0"/>
                    </a:p>
                    <a:p>
                      <a:r>
                        <a:rPr lang="en-US" sz="1000" dirty="0"/>
                        <a:t>    </a:t>
                      </a:r>
                      <a:r>
                        <a:rPr lang="en-US" sz="1000" dirty="0" err="1"/>
                        <a:t>en</a:t>
                      </a:r>
                      <a:r>
                        <a:rPr lang="en-US" sz="1000" dirty="0"/>
                        <a:t>-us</a:t>
                      </a:r>
                    </a:p>
                    <a:p>
                      <a:r>
                        <a:rPr lang="en-US" sz="1000" dirty="0"/>
                        <a:t>    es-us</a:t>
                      </a:r>
                    </a:p>
                    <a:p>
                      <a:r>
                        <a:rPr lang="en-US" sz="1000" dirty="0"/>
                        <a:t>    es-mx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Individual language &amp; owner(s) configurations</a:t>
                      </a:r>
                    </a:p>
                    <a:p>
                      <a:endParaRPr lang="en-US" sz="10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5049002"/>
                  </a:ext>
                </a:extLst>
              </a:tr>
            </a:tbl>
          </a:graphicData>
        </a:graphic>
      </p:graphicFrame>
      <p:sp>
        <p:nvSpPr>
          <p:cNvPr id="8" name="Right Arrow 7">
            <a:extLst>
              <a:ext uri="{FF2B5EF4-FFF2-40B4-BE49-F238E27FC236}">
                <a16:creationId xmlns:a16="http://schemas.microsoft.com/office/drawing/2014/main" id="{A01A982A-94AA-CB43-A8ED-D657018EC751}"/>
              </a:ext>
            </a:extLst>
          </p:cNvPr>
          <p:cNvSpPr/>
          <p:nvPr/>
        </p:nvSpPr>
        <p:spPr>
          <a:xfrm>
            <a:off x="3589587" y="1945117"/>
            <a:ext cx="143583" cy="2040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2F500B9F-A958-3141-A741-64A93F9E860D}"/>
              </a:ext>
            </a:extLst>
          </p:cNvPr>
          <p:cNvSpPr/>
          <p:nvPr/>
        </p:nvSpPr>
        <p:spPr>
          <a:xfrm>
            <a:off x="3589587" y="2277028"/>
            <a:ext cx="143583" cy="2040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67529674-1208-6D4F-AE37-2BEA03930FF0}"/>
              </a:ext>
            </a:extLst>
          </p:cNvPr>
          <p:cNvSpPr/>
          <p:nvPr/>
        </p:nvSpPr>
        <p:spPr>
          <a:xfrm>
            <a:off x="3589586" y="2656645"/>
            <a:ext cx="143583" cy="2040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DD5026ED-AEA7-6945-8AEC-205653A6CA86}"/>
              </a:ext>
            </a:extLst>
          </p:cNvPr>
          <p:cNvSpPr/>
          <p:nvPr/>
        </p:nvSpPr>
        <p:spPr>
          <a:xfrm>
            <a:off x="3589586" y="3193472"/>
            <a:ext cx="143583" cy="2040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26B3960C-C927-AB45-AA13-677F5E44710A}"/>
              </a:ext>
            </a:extLst>
          </p:cNvPr>
          <p:cNvSpPr/>
          <p:nvPr/>
        </p:nvSpPr>
        <p:spPr>
          <a:xfrm>
            <a:off x="3589585" y="3628279"/>
            <a:ext cx="143583" cy="2040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E0E17840-0C24-4A41-87F0-D29668F68576}"/>
              </a:ext>
            </a:extLst>
          </p:cNvPr>
          <p:cNvSpPr/>
          <p:nvPr/>
        </p:nvSpPr>
        <p:spPr>
          <a:xfrm>
            <a:off x="3589585" y="4002639"/>
            <a:ext cx="143583" cy="2040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B639EDA3-5538-A342-8241-71D121B795AE}"/>
              </a:ext>
            </a:extLst>
          </p:cNvPr>
          <p:cNvSpPr/>
          <p:nvPr/>
        </p:nvSpPr>
        <p:spPr>
          <a:xfrm>
            <a:off x="3589584" y="4488339"/>
            <a:ext cx="143583" cy="2040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108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FDC55-C7E7-6B4E-8844-ACA27922B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Country &amp; Language Configs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044E9-8E6D-2A4A-A47C-974BEAF3C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Configuration of the available countries and languages</a:t>
            </a:r>
          </a:p>
          <a:p>
            <a:r>
              <a:rPr lang="en-US" dirty="0"/>
              <a:t>Each allows one or more users to be specified to receive notifications</a:t>
            </a:r>
          </a:p>
        </p:txBody>
      </p:sp>
    </p:spTree>
    <p:extLst>
      <p:ext uri="{BB962C8B-B14F-4D97-AF65-F5344CB8AC3E}">
        <p14:creationId xmlns:p14="http://schemas.microsoft.com/office/powerpoint/2010/main" val="3317309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FDC55-C7E7-6B4E-8844-ACA27922B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Locale Config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044E9-8E6D-2A4A-A47C-974BEAF3C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Combines country, language and root folder details</a:t>
            </a:r>
          </a:p>
          <a:p>
            <a:r>
              <a:rPr lang="en-US" dirty="0"/>
              <a:t>Each allows one or more users to be specified to receive notifications</a:t>
            </a:r>
          </a:p>
          <a:p>
            <a:r>
              <a:rPr lang="en-US" dirty="0"/>
              <a:t>Optional Translation Rules config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Overrides site configuration?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719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TMF User Interface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51317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28B90-7249-804F-9D8C-FE911325E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TMF UI: Distribute</a:t>
            </a:r>
          </a:p>
        </p:txBody>
      </p:sp>
      <p:pic>
        <p:nvPicPr>
          <p:cNvPr id="5" name="Content Placeholder 4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46BFFEB1-1359-6744-A3ED-E794A67DF0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963" y="1370013"/>
            <a:ext cx="7238074" cy="3262312"/>
          </a:xfrm>
        </p:spPr>
      </p:pic>
    </p:spTree>
    <p:extLst>
      <p:ext uri="{BB962C8B-B14F-4D97-AF65-F5344CB8AC3E}">
        <p14:creationId xmlns:p14="http://schemas.microsoft.com/office/powerpoint/2010/main" val="6184070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28B90-7249-804F-9D8C-FE911325E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TMF UI: Locale Link on Preview</a:t>
            </a:r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172A8FAA-B3BB-7847-B41C-34D6F73549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963" y="1370013"/>
            <a:ext cx="7238074" cy="3262312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CFD6240D-6AEC-4D41-85A9-7C7DD5F52610}"/>
              </a:ext>
            </a:extLst>
          </p:cNvPr>
          <p:cNvSpPr/>
          <p:nvPr/>
        </p:nvSpPr>
        <p:spPr>
          <a:xfrm>
            <a:off x="1806129" y="1268016"/>
            <a:ext cx="1035312" cy="8252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843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28B90-7249-804F-9D8C-FE911325E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TMF UI: Review changes</a:t>
            </a:r>
          </a:p>
        </p:txBody>
      </p:sp>
      <p:pic>
        <p:nvPicPr>
          <p:cNvPr id="5" name="Content Placeholder 4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C19A3CD5-07D7-8C4E-A8BD-0FDAB52B6F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963" y="1370013"/>
            <a:ext cx="7238074" cy="3262312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0E87D9B6-D7EA-0841-9458-0E498662AFCB}"/>
              </a:ext>
            </a:extLst>
          </p:cNvPr>
          <p:cNvSpPr/>
          <p:nvPr/>
        </p:nvSpPr>
        <p:spPr>
          <a:xfrm>
            <a:off x="1231796" y="1221109"/>
            <a:ext cx="1405606" cy="99417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873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External Translation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626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E0C75-6746-394C-8C59-23A65587B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Translation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AC7A2-C2BC-D041-AB8F-B9EB3A2A2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94360"/>
            <a:ext cx="7886700" cy="3263504"/>
          </a:xfrm>
        </p:spPr>
        <p:txBody>
          <a:bodyPr/>
          <a:lstStyle/>
          <a:p>
            <a:r>
              <a:rPr lang="en-US" dirty="0"/>
              <a:t>Translation itself is independent of TMF</a:t>
            </a:r>
          </a:p>
          <a:p>
            <a:r>
              <a:rPr lang="en-US" dirty="0"/>
              <a:t>Most implementations take a workflow-based approach as this allows code (event handlers) to be invoked at relevant points in the asset lifecycle. 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F04DA16-0E55-BC41-8327-92326B5307E2}"/>
              </a:ext>
            </a:extLst>
          </p:cNvPr>
          <p:cNvGrpSpPr/>
          <p:nvPr/>
        </p:nvGrpSpPr>
        <p:grpSpPr>
          <a:xfrm>
            <a:off x="770752" y="2992340"/>
            <a:ext cx="7602495" cy="1877316"/>
            <a:chOff x="691340" y="3137424"/>
            <a:chExt cx="7602495" cy="187731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2B792D7-C4A3-5147-9864-858423E5FA9B}"/>
                </a:ext>
              </a:extLst>
            </p:cNvPr>
            <p:cNvSpPr/>
            <p:nvPr/>
          </p:nvSpPr>
          <p:spPr>
            <a:xfrm>
              <a:off x="1949711" y="3292748"/>
              <a:ext cx="813599" cy="36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Draft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2EE2AE1-E7F0-8346-87B5-8C1A331BE6DE}"/>
                </a:ext>
              </a:extLst>
            </p:cNvPr>
            <p:cNvSpPr/>
            <p:nvPr/>
          </p:nvSpPr>
          <p:spPr>
            <a:xfrm>
              <a:off x="2920865" y="3935523"/>
              <a:ext cx="813599" cy="36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In Translation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B5101BA-5417-0C41-96F8-BA64800CEEE3}"/>
                </a:ext>
              </a:extLst>
            </p:cNvPr>
            <p:cNvSpPr/>
            <p:nvPr/>
          </p:nvSpPr>
          <p:spPr>
            <a:xfrm>
              <a:off x="4272943" y="3938875"/>
              <a:ext cx="813599" cy="36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In Review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A4973A8-3B29-2E4E-AF41-873137E84460}"/>
                </a:ext>
              </a:extLst>
            </p:cNvPr>
            <p:cNvSpPr/>
            <p:nvPr/>
          </p:nvSpPr>
          <p:spPr>
            <a:xfrm>
              <a:off x="5285429" y="3292748"/>
              <a:ext cx="813599" cy="36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Stage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ECB07EE-0250-C244-8F7B-F0BAF9C81BCF}"/>
                </a:ext>
              </a:extLst>
            </p:cNvPr>
            <p:cNvSpPr/>
            <p:nvPr/>
          </p:nvSpPr>
          <p:spPr>
            <a:xfrm>
              <a:off x="6772982" y="3292748"/>
              <a:ext cx="813599" cy="36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Live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6CB494C2-81EE-F24D-A803-0D8789C7BFD4}"/>
                </a:ext>
              </a:extLst>
            </p:cNvPr>
            <p:cNvCxnSpPr>
              <a:cxnSpLocks/>
              <a:stCxn id="4" idx="3"/>
              <a:endCxn id="7" idx="1"/>
            </p:cNvCxnSpPr>
            <p:nvPr/>
          </p:nvCxnSpPr>
          <p:spPr>
            <a:xfrm>
              <a:off x="2763310" y="3472748"/>
              <a:ext cx="2522119" cy="0"/>
            </a:xfrm>
            <a:prstGeom prst="straightConnector1">
              <a:avLst/>
            </a:prstGeom>
            <a:ln>
              <a:solidFill>
                <a:srgbClr val="98A3A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urved Connector 11">
              <a:extLst>
                <a:ext uri="{FF2B5EF4-FFF2-40B4-BE49-F238E27FC236}">
                  <a16:creationId xmlns:a16="http://schemas.microsoft.com/office/drawing/2014/main" id="{2D1EBA3F-7492-6F43-8610-E931A77A7D40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 rot="16200000" flipH="1">
              <a:off x="2270994" y="3465652"/>
              <a:ext cx="732924" cy="566818"/>
            </a:xfrm>
            <a:prstGeom prst="curved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789C349-99EE-5848-B27C-2D647D36089E}"/>
                </a:ext>
              </a:extLst>
            </p:cNvPr>
            <p:cNvCxnSpPr>
              <a:cxnSpLocks/>
              <a:stCxn id="5" idx="3"/>
              <a:endCxn id="6" idx="1"/>
            </p:cNvCxnSpPr>
            <p:nvPr/>
          </p:nvCxnSpPr>
          <p:spPr>
            <a:xfrm>
              <a:off x="3734464" y="4115523"/>
              <a:ext cx="538479" cy="335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urved Connector 17">
              <a:extLst>
                <a:ext uri="{FF2B5EF4-FFF2-40B4-BE49-F238E27FC236}">
                  <a16:creationId xmlns:a16="http://schemas.microsoft.com/office/drawing/2014/main" id="{6C2533BA-4D35-A442-A75C-53FB5DFD2B7C}"/>
                </a:ext>
              </a:extLst>
            </p:cNvPr>
            <p:cNvCxnSpPr>
              <a:cxnSpLocks/>
              <a:stCxn id="6" idx="3"/>
              <a:endCxn id="7" idx="2"/>
            </p:cNvCxnSpPr>
            <p:nvPr/>
          </p:nvCxnSpPr>
          <p:spPr>
            <a:xfrm flipV="1">
              <a:off x="5086542" y="3652748"/>
              <a:ext cx="605687" cy="466127"/>
            </a:xfrm>
            <a:prstGeom prst="curved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BE227CC-622C-4243-89C6-B16A47EAB137}"/>
                </a:ext>
              </a:extLst>
            </p:cNvPr>
            <p:cNvCxnSpPr>
              <a:cxnSpLocks/>
              <a:stCxn id="7" idx="3"/>
              <a:endCxn id="8" idx="1"/>
            </p:cNvCxnSpPr>
            <p:nvPr/>
          </p:nvCxnSpPr>
          <p:spPr>
            <a:xfrm>
              <a:off x="6099028" y="3472748"/>
              <a:ext cx="6739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AD73803-02BC-8C44-8B32-C88CBD1054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481" y="3137424"/>
              <a:ext cx="753435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BDDA59D-9F5C-1741-9020-40026A27E9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067" y="3779771"/>
              <a:ext cx="7534354" cy="0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DC569B9-7336-1143-937E-38825369ED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9481" y="4472171"/>
              <a:ext cx="753435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E91F46E-96A6-A246-B2F2-68AEDEA4956D}"/>
                </a:ext>
              </a:extLst>
            </p:cNvPr>
            <p:cNvSpPr txBox="1"/>
            <p:nvPr/>
          </p:nvSpPr>
          <p:spPr>
            <a:xfrm>
              <a:off x="694004" y="3301885"/>
              <a:ext cx="105042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Basic Workflow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094F402-4338-344B-A898-6657124F8145}"/>
                </a:ext>
              </a:extLst>
            </p:cNvPr>
            <p:cNvSpPr txBox="1"/>
            <p:nvPr/>
          </p:nvSpPr>
          <p:spPr>
            <a:xfrm>
              <a:off x="691340" y="3960026"/>
              <a:ext cx="135661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Translation Workflow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046213E-712E-5D4D-AEC3-87F15965BE63}"/>
                </a:ext>
              </a:extLst>
            </p:cNvPr>
            <p:cNvSpPr txBox="1"/>
            <p:nvPr/>
          </p:nvSpPr>
          <p:spPr>
            <a:xfrm>
              <a:off x="2462958" y="3618092"/>
              <a:ext cx="13566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accent1"/>
                  </a:solidFill>
                </a:rPr>
                <a:t>Send for translation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F7DD6A9-00ED-7E49-B7BF-32376AB9DB3C}"/>
                </a:ext>
              </a:extLst>
            </p:cNvPr>
            <p:cNvSpPr/>
            <p:nvPr/>
          </p:nvSpPr>
          <p:spPr>
            <a:xfrm>
              <a:off x="3596903" y="4654740"/>
              <a:ext cx="813599" cy="36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Webhook Listener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59C9C4D-AED3-E54E-9749-0F56DA2DD98A}"/>
                </a:ext>
              </a:extLst>
            </p:cNvPr>
            <p:cNvSpPr txBox="1"/>
            <p:nvPr/>
          </p:nvSpPr>
          <p:spPr>
            <a:xfrm>
              <a:off x="3538722" y="4286955"/>
              <a:ext cx="13566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accent1"/>
                  </a:solidFill>
                </a:rPr>
                <a:t>Translation ready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ADBA4A8-D760-1742-A551-FBCAE32A2D7C}"/>
                </a:ext>
              </a:extLst>
            </p:cNvPr>
            <p:cNvSpPr txBox="1"/>
            <p:nvPr/>
          </p:nvSpPr>
          <p:spPr>
            <a:xfrm>
              <a:off x="5537353" y="3899651"/>
              <a:ext cx="13566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accent1"/>
                  </a:solidFill>
                </a:rPr>
                <a:t>Approve translation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C8755E0-8AD7-7E46-9F99-D254573C9D55}"/>
                </a:ext>
              </a:extLst>
            </p:cNvPr>
            <p:cNvSpPr txBox="1"/>
            <p:nvPr/>
          </p:nvSpPr>
          <p:spPr>
            <a:xfrm>
              <a:off x="6070759" y="3219195"/>
              <a:ext cx="135661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accent1"/>
                  </a:solidFill>
                </a:rPr>
                <a:t>Deploy to live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30B51F9-2CE6-7641-80E3-ADCF63DC05E3}"/>
                </a:ext>
              </a:extLst>
            </p:cNvPr>
            <p:cNvSpPr txBox="1"/>
            <p:nvPr/>
          </p:nvSpPr>
          <p:spPr>
            <a:xfrm>
              <a:off x="3473094" y="3242096"/>
              <a:ext cx="1356613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bg1">
                      <a:lumMod val="65000"/>
                    </a:schemeClr>
                  </a:solidFill>
                </a:rPr>
                <a:t>Deploy to stage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40037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87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DBB18FA72F8D41BE3AADDE8766CF8E" ma:contentTypeVersion="14" ma:contentTypeDescription="Create a new document." ma:contentTypeScope="" ma:versionID="aac1d5b023d3e9d060c6b7ce096ea336">
  <xsd:schema xmlns:xsd="http://www.w3.org/2001/XMLSchema" xmlns:xs="http://www.w3.org/2001/XMLSchema" xmlns:p="http://schemas.microsoft.com/office/2006/metadata/properties" xmlns:ns2="e689240d-251c-4017-adba-547be9a28cf3" xmlns:ns3="7ebad545-6f24-4a50-86d9-37ac9f441162" targetNamespace="http://schemas.microsoft.com/office/2006/metadata/properties" ma:root="true" ma:fieldsID="db0a1b696c6c9a88a3fc64a84bd11f01" ns2:_="" ns3:_="">
    <xsd:import namespace="e689240d-251c-4017-adba-547be9a28cf3"/>
    <xsd:import namespace="7ebad545-6f24-4a50-86d9-37ac9f44116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89240d-251c-4017-adba-547be9a28cf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0f61ad7-14d7-4a18-9ecb-ecf5fa16bdf2}" ma:internalName="TaxCatchAll" ma:showField="CatchAllData" ma:web="e689240d-251c-4017-adba-547be9a28c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bad545-6f24-4a50-86d9-37ac9f4411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54fef160-e776-43c2-8f95-bf70117a71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ebad545-6f24-4a50-86d9-37ac9f441162">
      <Terms xmlns="http://schemas.microsoft.com/office/infopath/2007/PartnerControls"/>
    </lcf76f155ced4ddcb4097134ff3c332f>
    <TaxCatchAll xmlns="e689240d-251c-4017-adba-547be9a28cf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27744E-4C0C-46CE-B017-AA97936E9296}"/>
</file>

<file path=customXml/itemProps2.xml><?xml version="1.0" encoding="utf-8"?>
<ds:datastoreItem xmlns:ds="http://schemas.openxmlformats.org/officeDocument/2006/customXml" ds:itemID="{4D8A7410-A7F7-4148-B700-E9738C1947C6}">
  <ds:schemaRefs>
    <ds:schemaRef ds:uri="http://schemas.openxmlformats.org/package/2006/metadata/core-properties"/>
    <ds:schemaRef ds:uri="c81fd3e1-4b46-4bb7-aee6-da9f3dad3097"/>
    <ds:schemaRef ds:uri="http://schemas.microsoft.com/office/2006/documentManagement/types"/>
    <ds:schemaRef ds:uri="http://purl.org/dc/elements/1.1/"/>
    <ds:schemaRef ds:uri="http://purl.org/dc/dcmitype/"/>
    <ds:schemaRef ds:uri="http://purl.org/dc/terms/"/>
    <ds:schemaRef ds:uri="631082eb-fd3e-4e0d-a348-9c93b2e913b5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283C326-4A27-4EB7-B73E-9277DD45961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12396</TotalTime>
  <Words>637</Words>
  <Application>Microsoft Macintosh PowerPoint</Application>
  <PresentationFormat>On-screen Show (16:9)</PresentationFormat>
  <Paragraphs>173</Paragraphs>
  <Slides>21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Developer Training</vt:lpstr>
      <vt:lpstr>Introduction</vt:lpstr>
      <vt:lpstr>Objectives</vt:lpstr>
      <vt:lpstr>Global Markets</vt:lpstr>
      <vt:lpstr>Common Globalization Models</vt:lpstr>
      <vt:lpstr>Common Globalization Models</vt:lpstr>
      <vt:lpstr>TMF</vt:lpstr>
      <vt:lpstr>TMF is</vt:lpstr>
      <vt:lpstr>TMF is not</vt:lpstr>
      <vt:lpstr>LEAD/FOLLOWER CONCEPT</vt:lpstr>
      <vt:lpstr>TMF Configuration</vt:lpstr>
      <vt:lpstr>Configuration</vt:lpstr>
      <vt:lpstr>Country &amp; Language Configs</vt:lpstr>
      <vt:lpstr>Locale Config</vt:lpstr>
      <vt:lpstr>TMF User Interface</vt:lpstr>
      <vt:lpstr>TMF UI: Distribute</vt:lpstr>
      <vt:lpstr>TMF UI: Locale Link on Preview</vt:lpstr>
      <vt:lpstr>TMF UI: Review changes</vt:lpstr>
      <vt:lpstr>External Translation</vt:lpstr>
      <vt:lpstr>External Translation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Clark</dc:creator>
  <cp:lastModifiedBy>Marcus Edwards</cp:lastModifiedBy>
  <cp:revision>327</cp:revision>
  <dcterms:created xsi:type="dcterms:W3CDTF">2014-05-29T23:54:45Z</dcterms:created>
  <dcterms:modified xsi:type="dcterms:W3CDTF">2020-04-03T07:06:42Z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0x01010080DBB18FA72F8D41BE3AADDE8766CF8E</vt:lpwstr>
  </property>
</Properties>
</file>