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37"/>
  </p:notesMasterIdLst>
  <p:handoutMasterIdLst>
    <p:handoutMasterId r:id="rId38"/>
  </p:handoutMasterIdLst>
  <p:sldIdLst>
    <p:sldId id="256" r:id="rId5"/>
    <p:sldId id="329" r:id="rId6"/>
    <p:sldId id="331" r:id="rId7"/>
    <p:sldId id="332" r:id="rId8"/>
    <p:sldId id="333" r:id="rId9"/>
    <p:sldId id="378" r:id="rId10"/>
    <p:sldId id="337" r:id="rId11"/>
    <p:sldId id="341" r:id="rId12"/>
    <p:sldId id="379" r:id="rId13"/>
    <p:sldId id="384" r:id="rId14"/>
    <p:sldId id="390" r:id="rId15"/>
    <p:sldId id="389" r:id="rId16"/>
    <p:sldId id="388" r:id="rId17"/>
    <p:sldId id="368" r:id="rId18"/>
    <p:sldId id="385" r:id="rId19"/>
    <p:sldId id="387" r:id="rId20"/>
    <p:sldId id="369" r:id="rId21"/>
    <p:sldId id="386" r:id="rId22"/>
    <p:sldId id="380" r:id="rId23"/>
    <p:sldId id="381" r:id="rId24"/>
    <p:sldId id="372" r:id="rId25"/>
    <p:sldId id="382" r:id="rId26"/>
    <p:sldId id="383" r:id="rId27"/>
    <p:sldId id="371" r:id="rId28"/>
    <p:sldId id="338" r:id="rId29"/>
    <p:sldId id="373" r:id="rId30"/>
    <p:sldId id="374" r:id="rId31"/>
    <p:sldId id="375" r:id="rId32"/>
    <p:sldId id="391" r:id="rId33"/>
    <p:sldId id="392" r:id="rId34"/>
    <p:sldId id="393" r:id="rId35"/>
    <p:sldId id="328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D7FE53-884E-FB44-BA47-7F4DC794B0F8}">
          <p14:sldIdLst>
            <p14:sldId id="256"/>
          </p14:sldIdLst>
        </p14:section>
        <p14:section name="Introduction" id="{FDC05B97-ECA3-814E-A7AC-D49BEC64439C}">
          <p14:sldIdLst>
            <p14:sldId id="329"/>
            <p14:sldId id="331"/>
            <p14:sldId id="332"/>
            <p14:sldId id="333"/>
            <p14:sldId id="378"/>
          </p14:sldIdLst>
        </p14:section>
        <p14:section name="Working with Assets" id="{2E4AEDB8-A156-A140-80BF-2D78A876D99E}">
          <p14:sldIdLst>
            <p14:sldId id="337"/>
            <p14:sldId id="341"/>
            <p14:sldId id="379"/>
            <p14:sldId id="384"/>
            <p14:sldId id="390"/>
            <p14:sldId id="389"/>
          </p14:sldIdLst>
        </p14:section>
        <p14:section name="Working with fields" id="{E7B80AD9-EB80-2B4D-80C6-44173F10DE6D}">
          <p14:sldIdLst>
            <p14:sldId id="388"/>
            <p14:sldId id="368"/>
            <p14:sldId id="385"/>
            <p14:sldId id="387"/>
            <p14:sldId id="369"/>
            <p14:sldId id="386"/>
            <p14:sldId id="380"/>
          </p14:sldIdLst>
        </p14:section>
        <p14:section name="Working with workflow state" id="{ED91271E-08CC-C84A-9D30-759BA50164F2}">
          <p14:sldIdLst>
            <p14:sldId id="381"/>
            <p14:sldId id="372"/>
            <p14:sldId id="382"/>
            <p14:sldId id="383"/>
            <p14:sldId id="371"/>
          </p14:sldIdLst>
        </p14:section>
        <p14:section name="Working with external services" id="{CFADB463-9BD4-0D41-8C51-64B611BEE4E4}">
          <p14:sldIdLst>
            <p14:sldId id="338"/>
            <p14:sldId id="373"/>
            <p14:sldId id="374"/>
            <p14:sldId id="375"/>
            <p14:sldId id="391"/>
            <p14:sldId id="392"/>
            <p14:sldId id="393"/>
          </p14:sldIdLst>
        </p14:section>
        <p14:section name="Wrap-Up" id="{F53CF82D-9C9C-C848-AE6E-43FCDA4A19F2}">
          <p14:sldIdLst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217E"/>
    <a:srgbClr val="5B9BD5"/>
    <a:srgbClr val="98A3A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8" autoAdjust="0"/>
    <p:restoredTop sz="81614" autoAdjust="0"/>
  </p:normalViewPr>
  <p:slideViewPr>
    <p:cSldViewPr snapToGrid="0" snapToObjects="1">
      <p:cViewPr varScale="1">
        <p:scale>
          <a:sx n="174" d="100"/>
          <a:sy n="174" d="100"/>
        </p:scale>
        <p:origin x="1560" y="176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8/12/20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8/12/20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b="0" i="0" dirty="0">
                <a:latin typeface="Courier" pitchFamily="2" charset="0"/>
              </a:rPr>
              <a:t>&lt;%@ Page Language="C#" Inherits="</a:t>
            </a:r>
            <a:r>
              <a:rPr lang="en-US" sz="800" b="0" i="0" dirty="0" err="1">
                <a:latin typeface="Courier" pitchFamily="2" charset="0"/>
              </a:rPr>
              <a:t>CrownPeak.Internal.Debug.OutputInit</a:t>
            </a:r>
            <a:r>
              <a:rPr lang="en-US" sz="800" b="0" i="0" dirty="0">
                <a:latin typeface="Courier" pitchFamily="2" charset="0"/>
              </a:rPr>
              <a:t>" %&gt;</a:t>
            </a:r>
          </a:p>
          <a:p>
            <a:r>
              <a:rPr lang="en-US" sz="800" b="0" i="0" dirty="0">
                <a:latin typeface="Courier" pitchFamily="2" charset="0"/>
              </a:rPr>
              <a:t>&lt;%@ Import Namespace="</a:t>
            </a:r>
            <a:r>
              <a:rPr lang="en-US" sz="800" b="0" i="0" dirty="0" err="1">
                <a:latin typeface="Courier" pitchFamily="2" charset="0"/>
              </a:rPr>
              <a:t>CrownPeak.CMSAPI</a:t>
            </a:r>
            <a:r>
              <a:rPr lang="en-US" sz="800" b="0" i="0" dirty="0">
                <a:latin typeface="Courier" pitchFamily="2" charset="0"/>
              </a:rPr>
              <a:t>" %&gt;</a:t>
            </a:r>
          </a:p>
          <a:p>
            <a:r>
              <a:rPr lang="en-US" sz="800" b="0" i="0" dirty="0">
                <a:latin typeface="Courier" pitchFamily="2" charset="0"/>
              </a:rPr>
              <a:t>&lt;%@ Import Namespace="</a:t>
            </a:r>
            <a:r>
              <a:rPr lang="en-US" sz="800" b="0" i="0" dirty="0" err="1">
                <a:latin typeface="Courier" pitchFamily="2" charset="0"/>
              </a:rPr>
              <a:t>CrownPeak.CMSAPI.Services</a:t>
            </a:r>
            <a:r>
              <a:rPr lang="en-US" sz="800" b="0" i="0" dirty="0">
                <a:latin typeface="Courier" pitchFamily="2" charset="0"/>
              </a:rPr>
              <a:t>" %&gt;</a:t>
            </a:r>
          </a:p>
          <a:p>
            <a:r>
              <a:rPr lang="en-US" sz="800" b="0" i="0" dirty="0">
                <a:latin typeface="Courier" pitchFamily="2" charset="0"/>
              </a:rPr>
              <a:t>&lt;!--DO NOT MODIFY CODE ABOVE THIS LINE--&gt;</a:t>
            </a:r>
          </a:p>
          <a:p>
            <a:r>
              <a:rPr lang="en-US" sz="800" b="0" i="0" dirty="0">
                <a:latin typeface="Courier" pitchFamily="2" charset="0"/>
              </a:rPr>
              <a:t>&lt;%</a:t>
            </a:r>
          </a:p>
          <a:p>
            <a:endParaRPr lang="en-US" sz="800" b="0" i="0" dirty="0">
              <a:latin typeface="Courier" pitchFamily="2" charset="0"/>
            </a:endParaRPr>
          </a:p>
          <a:p>
            <a:r>
              <a:rPr lang="en-US" sz="800" b="0" i="0" dirty="0">
                <a:latin typeface="Courier" pitchFamily="2" charset="0"/>
              </a:rPr>
              <a:t>var root = </a:t>
            </a:r>
            <a:r>
              <a:rPr lang="en-US" sz="800" b="0" i="0" dirty="0" err="1">
                <a:latin typeface="Courier" pitchFamily="2" charset="0"/>
              </a:rPr>
              <a:t>Asset.Load</a:t>
            </a:r>
            <a:r>
              <a:rPr lang="en-US" sz="800" b="0" i="0" dirty="0">
                <a:latin typeface="Courier" pitchFamily="2" charset="0"/>
              </a:rPr>
              <a:t>("/Training Sandbox/Component Training/Component Project");</a:t>
            </a:r>
          </a:p>
          <a:p>
            <a:r>
              <a:rPr lang="en-US" sz="800" b="0" i="0" dirty="0">
                <a:latin typeface="Courier" pitchFamily="2" charset="0"/>
              </a:rPr>
              <a:t>%&gt;</a:t>
            </a:r>
          </a:p>
          <a:p>
            <a:endParaRPr lang="en-US" sz="800" b="0" i="0" dirty="0">
              <a:latin typeface="Courier" pitchFamily="2" charset="0"/>
            </a:endParaRPr>
          </a:p>
          <a:p>
            <a:r>
              <a:rPr lang="en-US" sz="800" b="0" i="0" dirty="0">
                <a:latin typeface="Courier" pitchFamily="2" charset="0"/>
              </a:rPr>
              <a:t>&lt;link </a:t>
            </a:r>
            <a:r>
              <a:rPr lang="en-US" sz="800" b="0" i="0" dirty="0" err="1">
                <a:latin typeface="Courier" pitchFamily="2" charset="0"/>
              </a:rPr>
              <a:t>rel</a:t>
            </a:r>
            <a:r>
              <a:rPr lang="en-US" sz="800" b="0" i="0" dirty="0">
                <a:latin typeface="Courier" pitchFamily="2" charset="0"/>
              </a:rPr>
              <a:t>="stylesheet" type="text/</a:t>
            </a:r>
            <a:r>
              <a:rPr lang="en-US" sz="800" b="0" i="0" dirty="0" err="1">
                <a:latin typeface="Courier" pitchFamily="2" charset="0"/>
              </a:rPr>
              <a:t>css</a:t>
            </a:r>
            <a:r>
              <a:rPr lang="en-US" sz="800" b="0" i="0" dirty="0">
                <a:latin typeface="Courier" pitchFamily="2" charset="0"/>
              </a:rPr>
              <a:t>" </a:t>
            </a:r>
            <a:r>
              <a:rPr lang="en-US" sz="800" b="0" i="0" dirty="0" err="1">
                <a:latin typeface="Courier" pitchFamily="2" charset="0"/>
              </a:rPr>
              <a:t>href</a:t>
            </a:r>
            <a:r>
              <a:rPr lang="en-US" sz="800" b="0" i="0" dirty="0">
                <a:latin typeface="Courier" pitchFamily="2" charset="0"/>
              </a:rPr>
              <a:t>="https://</a:t>
            </a:r>
            <a:r>
              <a:rPr lang="en-US" sz="800" b="0" i="0" dirty="0" err="1">
                <a:latin typeface="Courier" pitchFamily="2" charset="0"/>
              </a:rPr>
              <a:t>cdn.datatables.net</a:t>
            </a:r>
            <a:r>
              <a:rPr lang="en-US" sz="800" b="0" i="0" dirty="0">
                <a:latin typeface="Courier" pitchFamily="2" charset="0"/>
              </a:rPr>
              <a:t>/v/dt/jq-3.3.1/dt-1.10.20/</a:t>
            </a:r>
            <a:r>
              <a:rPr lang="en-US" sz="800" b="0" i="0" dirty="0" err="1">
                <a:latin typeface="Courier" pitchFamily="2" charset="0"/>
              </a:rPr>
              <a:t>datatables.min.css</a:t>
            </a:r>
            <a:r>
              <a:rPr lang="en-US" sz="800" b="0" i="0" dirty="0">
                <a:latin typeface="Courier" pitchFamily="2" charset="0"/>
              </a:rPr>
              <a:t>"/&gt; </a:t>
            </a:r>
          </a:p>
          <a:p>
            <a:r>
              <a:rPr lang="en-US" sz="800" b="0" i="0" dirty="0">
                <a:latin typeface="Courier" pitchFamily="2" charset="0"/>
              </a:rPr>
              <a:t>&lt;script type="text/</a:t>
            </a:r>
            <a:r>
              <a:rPr lang="en-US" sz="800" b="0" i="0" dirty="0" err="1">
                <a:latin typeface="Courier" pitchFamily="2" charset="0"/>
              </a:rPr>
              <a:t>javascript</a:t>
            </a:r>
            <a:r>
              <a:rPr lang="en-US" sz="800" b="0" i="0" dirty="0">
                <a:latin typeface="Courier" pitchFamily="2" charset="0"/>
              </a:rPr>
              <a:t>" </a:t>
            </a:r>
            <a:r>
              <a:rPr lang="en-US" sz="800" b="0" i="0" dirty="0" err="1">
                <a:latin typeface="Courier" pitchFamily="2" charset="0"/>
              </a:rPr>
              <a:t>src</a:t>
            </a:r>
            <a:r>
              <a:rPr lang="en-US" sz="800" b="0" i="0" dirty="0">
                <a:latin typeface="Courier" pitchFamily="2" charset="0"/>
              </a:rPr>
              <a:t>="https://</a:t>
            </a:r>
            <a:r>
              <a:rPr lang="en-US" sz="800" b="0" i="0" dirty="0" err="1">
                <a:latin typeface="Courier" pitchFamily="2" charset="0"/>
              </a:rPr>
              <a:t>cdn.datatables.net</a:t>
            </a:r>
            <a:r>
              <a:rPr lang="en-US" sz="800" b="0" i="0" dirty="0">
                <a:latin typeface="Courier" pitchFamily="2" charset="0"/>
              </a:rPr>
              <a:t>/v/dt/jq-3.3.1/dt-1.10.20/</a:t>
            </a:r>
            <a:r>
              <a:rPr lang="en-US" sz="800" b="0" i="0" dirty="0" err="1">
                <a:latin typeface="Courier" pitchFamily="2" charset="0"/>
              </a:rPr>
              <a:t>datatables.min.js</a:t>
            </a:r>
            <a:r>
              <a:rPr lang="en-US" sz="800" b="0" i="0" dirty="0">
                <a:latin typeface="Courier" pitchFamily="2" charset="0"/>
              </a:rPr>
              <a:t>"&gt;&lt;/script&gt;</a:t>
            </a:r>
          </a:p>
          <a:p>
            <a:endParaRPr lang="en-US" sz="800" b="0" i="0" dirty="0">
              <a:latin typeface="Courier" pitchFamily="2" charset="0"/>
            </a:endParaRPr>
          </a:p>
          <a:p>
            <a:r>
              <a:rPr lang="en-US" sz="800" b="0" i="0" dirty="0">
                <a:latin typeface="Courier" pitchFamily="2" charset="0"/>
              </a:rPr>
              <a:t>&lt;script </a:t>
            </a:r>
            <a:r>
              <a:rPr lang="en-US" sz="800" b="0" i="0" dirty="0" err="1">
                <a:latin typeface="Courier" pitchFamily="2" charset="0"/>
              </a:rPr>
              <a:t>runat</a:t>
            </a:r>
            <a:r>
              <a:rPr lang="en-US" sz="800" b="0" i="0" dirty="0">
                <a:latin typeface="Courier" pitchFamily="2" charset="0"/>
              </a:rPr>
              <a:t>="server" data-</a:t>
            </a:r>
            <a:r>
              <a:rPr lang="en-US" sz="800" b="0" i="0" dirty="0" err="1">
                <a:latin typeface="Courier" pitchFamily="2" charset="0"/>
              </a:rPr>
              <a:t>cpcode</a:t>
            </a:r>
            <a:r>
              <a:rPr lang="en-US" sz="800" b="0" i="0" dirty="0">
                <a:latin typeface="Courier" pitchFamily="2" charset="0"/>
              </a:rPr>
              <a:t>="true"&gt;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IEnumerable</a:t>
            </a:r>
            <a:r>
              <a:rPr lang="en-US" sz="800" b="0" i="0" dirty="0">
                <a:latin typeface="Courier" pitchFamily="2" charset="0"/>
              </a:rPr>
              <a:t>&lt;string&gt; </a:t>
            </a:r>
            <a:r>
              <a:rPr lang="en-US" sz="800" b="0" i="0" dirty="0" err="1">
                <a:latin typeface="Courier" pitchFamily="2" charset="0"/>
              </a:rPr>
              <a:t>PanelValues</a:t>
            </a:r>
            <a:r>
              <a:rPr lang="en-US" sz="800" b="0" i="0" dirty="0">
                <a:latin typeface="Courier" pitchFamily="2" charset="0"/>
              </a:rPr>
              <a:t>(Asset asset, string </a:t>
            </a:r>
            <a:r>
              <a:rPr lang="en-US" sz="800" b="0" i="0" dirty="0" err="1">
                <a:latin typeface="Courier" pitchFamily="2" charset="0"/>
              </a:rPr>
              <a:t>listName</a:t>
            </a:r>
            <a:r>
              <a:rPr lang="en-US" sz="800" b="0" i="0" dirty="0">
                <a:latin typeface="Courier" pitchFamily="2" charset="0"/>
              </a:rPr>
              <a:t>)</a:t>
            </a:r>
          </a:p>
          <a:p>
            <a:r>
              <a:rPr lang="en-US" sz="800" b="0" i="0" dirty="0">
                <a:latin typeface="Courier" pitchFamily="2" charset="0"/>
              </a:rPr>
              <a:t>  {    </a:t>
            </a:r>
          </a:p>
          <a:p>
            <a:r>
              <a:rPr lang="en-US" sz="800" b="0" i="0" dirty="0">
                <a:latin typeface="Courier" pitchFamily="2" charset="0"/>
              </a:rPr>
              <a:t>    return</a:t>
            </a:r>
          </a:p>
          <a:p>
            <a:r>
              <a:rPr lang="en-US" sz="800" b="0" i="0" dirty="0">
                <a:latin typeface="Courier" pitchFamily="2" charset="0"/>
              </a:rPr>
              <a:t>        asset</a:t>
            </a:r>
          </a:p>
          <a:p>
            <a:r>
              <a:rPr lang="en-US" sz="800" b="0" i="0" dirty="0">
                <a:latin typeface="Courier" pitchFamily="2" charset="0"/>
              </a:rPr>
              <a:t>    		.</a:t>
            </a:r>
            <a:r>
              <a:rPr lang="en-US" sz="800" b="0" i="0" dirty="0" err="1">
                <a:latin typeface="Courier" pitchFamily="2" charset="0"/>
              </a:rPr>
              <a:t>GetPanels</a:t>
            </a:r>
            <a:r>
              <a:rPr lang="en-US" sz="800" b="0" i="0" dirty="0">
                <a:latin typeface="Courier" pitchFamily="2" charset="0"/>
              </a:rPr>
              <a:t>(</a:t>
            </a:r>
            <a:r>
              <a:rPr lang="en-US" sz="800" b="0" i="0" dirty="0" err="1">
                <a:latin typeface="Courier" pitchFamily="2" charset="0"/>
              </a:rPr>
              <a:t>listName</a:t>
            </a:r>
            <a:r>
              <a:rPr lang="en-US" sz="800" b="0" i="0" dirty="0">
                <a:latin typeface="Courier" pitchFamily="2" charset="0"/>
              </a:rPr>
              <a:t>)</a:t>
            </a:r>
          </a:p>
          <a:p>
            <a:r>
              <a:rPr lang="en-US" sz="800" b="0" i="0" dirty="0">
                <a:latin typeface="Courier" pitchFamily="2" charset="0"/>
              </a:rPr>
              <a:t>    		.Select(p =&gt; p[</a:t>
            </a:r>
            <a:r>
              <a:rPr lang="en-US" sz="800" b="0" i="0" dirty="0" err="1">
                <a:latin typeface="Courier" pitchFamily="2" charset="0"/>
              </a:rPr>
              <a:t>listName</a:t>
            </a:r>
            <a:r>
              <a:rPr lang="en-US" sz="800" b="0" i="0" dirty="0">
                <a:latin typeface="Courier" pitchFamily="2" charset="0"/>
              </a:rPr>
              <a:t>])</a:t>
            </a:r>
          </a:p>
          <a:p>
            <a:r>
              <a:rPr lang="en-US" sz="800" b="0" i="0" dirty="0">
                <a:latin typeface="Courier" pitchFamily="2" charset="0"/>
              </a:rPr>
              <a:t>    		.Distinct();    		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</a:p>
          <a:p>
            <a:r>
              <a:rPr lang="en-US" sz="800" b="0" i="0" dirty="0">
                <a:latin typeface="Courier" pitchFamily="2" charset="0"/>
              </a:rPr>
              <a:t>  string </a:t>
            </a:r>
            <a:r>
              <a:rPr lang="en-US" sz="800" b="0" i="0" dirty="0" err="1">
                <a:latin typeface="Courier" pitchFamily="2" charset="0"/>
              </a:rPr>
              <a:t>RenderLinks</a:t>
            </a:r>
            <a:r>
              <a:rPr lang="en-US" sz="800" b="0" i="0" dirty="0">
                <a:latin typeface="Courier" pitchFamily="2" charset="0"/>
              </a:rPr>
              <a:t>(</a:t>
            </a:r>
            <a:r>
              <a:rPr lang="en-US" sz="800" b="0" i="0" dirty="0" err="1">
                <a:latin typeface="Courier" pitchFamily="2" charset="0"/>
              </a:rPr>
              <a:t>IEnumerable</a:t>
            </a:r>
            <a:r>
              <a:rPr lang="en-US" sz="800" b="0" i="0" dirty="0">
                <a:latin typeface="Courier" pitchFamily="2" charset="0"/>
              </a:rPr>
              <a:t>&lt;string&gt; values)</a:t>
            </a:r>
          </a:p>
          <a:p>
            <a:r>
              <a:rPr lang="en-US" sz="800" b="0" i="0" dirty="0">
                <a:latin typeface="Courier" pitchFamily="2" charset="0"/>
              </a:rPr>
              <a:t>  {</a:t>
            </a:r>
          </a:p>
          <a:p>
            <a:r>
              <a:rPr lang="en-US" sz="800" b="0" i="0" dirty="0">
                <a:latin typeface="Courier" pitchFamily="2" charset="0"/>
              </a:rPr>
              <a:t>    if(</a:t>
            </a:r>
            <a:r>
              <a:rPr lang="en-US" sz="800" b="0" i="0" dirty="0" err="1">
                <a:latin typeface="Courier" pitchFamily="2" charset="0"/>
              </a:rPr>
              <a:t>values.Count</a:t>
            </a:r>
            <a:r>
              <a:rPr lang="en-US" sz="800" b="0" i="0" dirty="0">
                <a:latin typeface="Courier" pitchFamily="2" charset="0"/>
              </a:rPr>
              <a:t>() &gt; 0)</a:t>
            </a:r>
          </a:p>
          <a:p>
            <a:r>
              <a:rPr lang="en-US" sz="800" b="0" i="0" dirty="0">
                <a:latin typeface="Courier" pitchFamily="2" charset="0"/>
              </a:rPr>
              <a:t>    {</a:t>
            </a:r>
          </a:p>
          <a:p>
            <a:r>
              <a:rPr lang="en-US" sz="800" b="0" i="0" dirty="0">
                <a:latin typeface="Courier" pitchFamily="2" charset="0"/>
              </a:rPr>
              <a:t>      return </a:t>
            </a:r>
            <a:r>
              <a:rPr lang="en-US" sz="800" b="0" i="0" dirty="0" err="1">
                <a:latin typeface="Courier" pitchFamily="2" charset="0"/>
              </a:rPr>
              <a:t>String.Join</a:t>
            </a:r>
            <a:r>
              <a:rPr lang="en-US" sz="800" b="0" i="0" dirty="0">
                <a:latin typeface="Courier" pitchFamily="2" charset="0"/>
              </a:rPr>
              <a:t>("&lt;</a:t>
            </a:r>
            <a:r>
              <a:rPr lang="en-US" sz="800" b="0" i="0" dirty="0" err="1">
                <a:latin typeface="Courier" pitchFamily="2" charset="0"/>
              </a:rPr>
              <a:t>br</a:t>
            </a:r>
            <a:r>
              <a:rPr lang="en-US" sz="800" b="0" i="0" dirty="0">
                <a:latin typeface="Courier" pitchFamily="2" charset="0"/>
              </a:rPr>
              <a:t>&gt;", </a:t>
            </a:r>
            <a:r>
              <a:rPr lang="en-US" sz="800" b="0" i="0" dirty="0" err="1">
                <a:latin typeface="Courier" pitchFamily="2" charset="0"/>
              </a:rPr>
              <a:t>values.Select</a:t>
            </a:r>
            <a:r>
              <a:rPr lang="en-US" sz="800" b="0" i="0" dirty="0">
                <a:latin typeface="Courier" pitchFamily="2" charset="0"/>
              </a:rPr>
              <a:t>(e =&gt; </a:t>
            </a:r>
            <a:r>
              <a:rPr lang="en-US" sz="800" b="0" i="0" dirty="0" err="1">
                <a:latin typeface="Courier" pitchFamily="2" charset="0"/>
              </a:rPr>
              <a:t>String.Format</a:t>
            </a:r>
            <a:r>
              <a:rPr lang="en-US" sz="800" b="0" i="0" dirty="0">
                <a:latin typeface="Courier" pitchFamily="2" charset="0"/>
              </a:rPr>
              <a:t>("&lt;a </a:t>
            </a:r>
            <a:r>
              <a:rPr lang="en-US" sz="800" b="0" i="0" dirty="0" err="1">
                <a:latin typeface="Courier" pitchFamily="2" charset="0"/>
              </a:rPr>
              <a:t>href</a:t>
            </a:r>
            <a:r>
              <a:rPr lang="en-US" sz="800" b="0" i="0" dirty="0">
                <a:latin typeface="Courier" pitchFamily="2" charset="0"/>
              </a:rPr>
              <a:t>='#{0}'&gt;{0}&lt;/a&gt;", e)));</a:t>
            </a:r>
          </a:p>
          <a:p>
            <a:r>
              <a:rPr lang="en-US" sz="800" b="0" i="0" dirty="0">
                <a:latin typeface="Courier" pitchFamily="2" charset="0"/>
              </a:rPr>
              <a:t>    }</a:t>
            </a:r>
          </a:p>
          <a:p>
            <a:r>
              <a:rPr lang="en-US" sz="800" b="0" i="0" dirty="0">
                <a:latin typeface="Courier" pitchFamily="2" charset="0"/>
              </a:rPr>
              <a:t>    else</a:t>
            </a:r>
          </a:p>
          <a:p>
            <a:r>
              <a:rPr lang="en-US" sz="800" b="0" i="0" dirty="0">
                <a:latin typeface="Courier" pitchFamily="2" charset="0"/>
              </a:rPr>
              <a:t>    {</a:t>
            </a:r>
          </a:p>
          <a:p>
            <a:r>
              <a:rPr lang="en-US" sz="800" b="0" i="0" dirty="0">
                <a:latin typeface="Courier" pitchFamily="2" charset="0"/>
              </a:rPr>
              <a:t>      return "(none)";</a:t>
            </a:r>
          </a:p>
          <a:p>
            <a:r>
              <a:rPr lang="en-US" sz="800" b="0" i="0" dirty="0">
                <a:latin typeface="Courier" pitchFamily="2" charset="0"/>
              </a:rPr>
              <a:t>    }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&lt;/script&gt;</a:t>
            </a:r>
          </a:p>
          <a:p>
            <a:r>
              <a:rPr lang="en-US" sz="800" b="0" i="0" dirty="0">
                <a:latin typeface="Courier" pitchFamily="2" charset="0"/>
              </a:rPr>
              <a:t>&lt;style&gt;</a:t>
            </a:r>
          </a:p>
          <a:p>
            <a:r>
              <a:rPr lang="en-US" sz="800" b="0" i="0" dirty="0">
                <a:latin typeface="Courier" pitchFamily="2" charset="0"/>
              </a:rPr>
              <a:t>  body {</a:t>
            </a:r>
          </a:p>
          <a:p>
            <a:r>
              <a:rPr lang="en-US" sz="800" b="0" i="0" dirty="0">
                <a:latin typeface="Courier" pitchFamily="2" charset="0"/>
              </a:rPr>
              <a:t>    font: 8pt Helvetica, Arial, sans-serif;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table { </a:t>
            </a:r>
          </a:p>
          <a:p>
            <a:r>
              <a:rPr lang="en-US" sz="800" b="0" i="0" dirty="0">
                <a:latin typeface="Courier" pitchFamily="2" charset="0"/>
              </a:rPr>
              <a:t>    font: 8pt Helvetica, Arial, sans-serif;</a:t>
            </a:r>
          </a:p>
          <a:p>
            <a:r>
              <a:rPr lang="en-US" sz="800" b="0" i="0" dirty="0">
                <a:latin typeface="Courier" pitchFamily="2" charset="0"/>
              </a:rPr>
              <a:t>    width: 95%;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 {</a:t>
            </a:r>
          </a:p>
          <a:p>
            <a:r>
              <a:rPr lang="en-US" sz="800" b="0" i="0" dirty="0">
                <a:latin typeface="Courier" pitchFamily="2" charset="0"/>
              </a:rPr>
              <a:t>    background-color: black;</a:t>
            </a:r>
          </a:p>
          <a:p>
            <a:r>
              <a:rPr lang="en-US" sz="800" b="0" i="0" dirty="0">
                <a:latin typeface="Courier" pitchFamily="2" charset="0"/>
              </a:rPr>
              <a:t>    color: white;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td,th</a:t>
            </a:r>
            <a:r>
              <a:rPr lang="en-US" sz="800" b="0" i="0" dirty="0">
                <a:latin typeface="Courier" pitchFamily="2" charset="0"/>
              </a:rPr>
              <a:t> {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vertical-align:top</a:t>
            </a:r>
            <a:r>
              <a:rPr lang="en-US" sz="800" b="0" i="0" dirty="0">
                <a:latin typeface="Courier" pitchFamily="2" charset="0"/>
              </a:rPr>
              <a:t>;</a:t>
            </a:r>
          </a:p>
          <a:p>
            <a:r>
              <a:rPr lang="en-US" sz="800" b="0" i="0" dirty="0">
                <a:latin typeface="Courier" pitchFamily="2" charset="0"/>
              </a:rPr>
              <a:t>    padding: 4pt;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tbody</a:t>
            </a:r>
            <a:r>
              <a:rPr lang="en-US" sz="800" b="0" i="0" dirty="0">
                <a:latin typeface="Courier" pitchFamily="2" charset="0"/>
              </a:rPr>
              <a:t> </a:t>
            </a:r>
            <a:r>
              <a:rPr lang="en-US" sz="800" b="0" i="0" dirty="0" err="1">
                <a:latin typeface="Courier" pitchFamily="2" charset="0"/>
              </a:rPr>
              <a:t>tr:nth-child</a:t>
            </a:r>
            <a:r>
              <a:rPr lang="en-US" sz="800" b="0" i="0" dirty="0">
                <a:latin typeface="Courier" pitchFamily="2" charset="0"/>
              </a:rPr>
              <a:t>(even) {</a:t>
            </a:r>
          </a:p>
          <a:p>
            <a:r>
              <a:rPr lang="en-US" sz="800" b="0" i="0" dirty="0">
                <a:latin typeface="Courier" pitchFamily="2" charset="0"/>
              </a:rPr>
              <a:t>  	background-color: #F0F0F0;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tbody</a:t>
            </a:r>
            <a:r>
              <a:rPr lang="en-US" sz="800" b="0" i="0" dirty="0">
                <a:latin typeface="Courier" pitchFamily="2" charset="0"/>
              </a:rPr>
              <a:t> </a:t>
            </a:r>
            <a:r>
              <a:rPr lang="en-US" sz="800" b="0" i="0" dirty="0" err="1">
                <a:latin typeface="Courier" pitchFamily="2" charset="0"/>
              </a:rPr>
              <a:t>tr:hover</a:t>
            </a:r>
            <a:r>
              <a:rPr lang="en-US" sz="800" b="0" i="0" dirty="0">
                <a:latin typeface="Courier" pitchFamily="2" charset="0"/>
              </a:rPr>
              <a:t> {</a:t>
            </a:r>
          </a:p>
          <a:p>
            <a:r>
              <a:rPr lang="en-US" sz="800" b="0" i="0" dirty="0">
                <a:latin typeface="Courier" pitchFamily="2" charset="0"/>
              </a:rPr>
              <a:t>    background-color: </a:t>
            </a:r>
            <a:r>
              <a:rPr lang="en-US" sz="800" b="0" i="0" dirty="0" err="1">
                <a:latin typeface="Courier" pitchFamily="2" charset="0"/>
              </a:rPr>
              <a:t>LightSteelBlue</a:t>
            </a:r>
            <a:r>
              <a:rPr lang="en-US" sz="800" b="0" i="0" dirty="0">
                <a:latin typeface="Courier" pitchFamily="2" charset="0"/>
              </a:rPr>
              <a:t> !important;</a:t>
            </a:r>
          </a:p>
          <a:p>
            <a:r>
              <a:rPr lang="en-US" sz="800" b="0" i="0" dirty="0">
                <a:latin typeface="Courier" pitchFamily="2" charset="0"/>
              </a:rPr>
              <a:t>  }</a:t>
            </a:r>
          </a:p>
          <a:p>
            <a:r>
              <a:rPr lang="en-US" sz="800" b="0" i="0" dirty="0">
                <a:latin typeface="Courier" pitchFamily="2" charset="0"/>
              </a:rPr>
              <a:t>&lt;/style&gt;</a:t>
            </a:r>
          </a:p>
          <a:p>
            <a:r>
              <a:rPr lang="en-US" sz="800" b="0" i="0" dirty="0">
                <a:latin typeface="Courier" pitchFamily="2" charset="0"/>
              </a:rPr>
              <a:t>&lt;h1&gt;Project: &lt;%= </a:t>
            </a:r>
            <a:r>
              <a:rPr lang="en-US" sz="800" b="0" i="0" dirty="0" err="1">
                <a:latin typeface="Courier" pitchFamily="2" charset="0"/>
              </a:rPr>
              <a:t>root.AssetPath.ToString</a:t>
            </a:r>
            <a:r>
              <a:rPr lang="en-US" sz="800" b="0" i="0" dirty="0">
                <a:latin typeface="Courier" pitchFamily="2" charset="0"/>
              </a:rPr>
              <a:t>() %&gt;&lt;/h1&gt;</a:t>
            </a:r>
          </a:p>
          <a:p>
            <a:r>
              <a:rPr lang="en-US" sz="800" b="0" i="0" dirty="0">
                <a:latin typeface="Courier" pitchFamily="2" charset="0"/>
              </a:rPr>
              <a:t>&lt;table id="components"&gt;</a:t>
            </a:r>
          </a:p>
          <a:p>
            <a:r>
              <a:rPr lang="en-US" sz="800" b="0" i="0" dirty="0">
                <a:latin typeface="Courier" pitchFamily="2" charset="0"/>
              </a:rPr>
              <a:t>  &lt;</a:t>
            </a:r>
            <a:r>
              <a:rPr lang="en-US" sz="800" b="0" i="0" dirty="0" err="1">
                <a:latin typeface="Courier" pitchFamily="2" charset="0"/>
              </a:rPr>
              <a:t>thead</a:t>
            </a:r>
            <a:r>
              <a:rPr lang="en-US" sz="800" b="0" i="0" dirty="0">
                <a:latin typeface="Courier" pitchFamily="2" charset="0"/>
              </a:rPr>
              <a:t>&gt;</a:t>
            </a:r>
          </a:p>
          <a:p>
            <a:r>
              <a:rPr lang="en-US" sz="800" b="0" i="0" dirty="0">
                <a:latin typeface="Courier" pitchFamily="2" charset="0"/>
              </a:rPr>
              <a:t>    &lt;tr&gt;&lt;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 width="10%"&gt;#&lt;/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&gt;&lt;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 width="10%"&gt;ID&lt;/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&gt;&lt;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 width="40%"&gt;Path&lt;/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&gt;&lt;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 width="40%"&gt;Uses&lt;/</a:t>
            </a:r>
            <a:r>
              <a:rPr lang="en-US" sz="800" b="0" i="0" dirty="0" err="1">
                <a:latin typeface="Courier" pitchFamily="2" charset="0"/>
              </a:rPr>
              <a:t>th</a:t>
            </a:r>
            <a:r>
              <a:rPr lang="en-US" sz="800" b="0" i="0" dirty="0">
                <a:latin typeface="Courier" pitchFamily="2" charset="0"/>
              </a:rPr>
              <a:t>&gt;&lt;/tr&gt;</a:t>
            </a:r>
          </a:p>
          <a:p>
            <a:r>
              <a:rPr lang="en-US" sz="800" b="0" i="0" dirty="0">
                <a:latin typeface="Courier" pitchFamily="2" charset="0"/>
              </a:rPr>
              <a:t>  &lt;/</a:t>
            </a:r>
            <a:r>
              <a:rPr lang="en-US" sz="800" b="0" i="0" dirty="0" err="1">
                <a:latin typeface="Courier" pitchFamily="2" charset="0"/>
              </a:rPr>
              <a:t>thead</a:t>
            </a:r>
            <a:r>
              <a:rPr lang="en-US" sz="800" b="0" i="0" dirty="0">
                <a:latin typeface="Courier" pitchFamily="2" charset="0"/>
              </a:rPr>
              <a:t>&gt;</a:t>
            </a:r>
          </a:p>
          <a:p>
            <a:r>
              <a:rPr lang="en-US" sz="800" b="0" i="0" dirty="0">
                <a:latin typeface="Courier" pitchFamily="2" charset="0"/>
              </a:rPr>
              <a:t>  &lt;</a:t>
            </a:r>
            <a:r>
              <a:rPr lang="en-US" sz="800" b="0" i="0" dirty="0" err="1">
                <a:latin typeface="Courier" pitchFamily="2" charset="0"/>
              </a:rPr>
              <a:t>tbody</a:t>
            </a:r>
            <a:r>
              <a:rPr lang="en-US" sz="800" b="0" i="0" dirty="0">
                <a:latin typeface="Courier" pitchFamily="2" charset="0"/>
              </a:rPr>
              <a:t>&gt;</a:t>
            </a:r>
          </a:p>
          <a:p>
            <a:endParaRPr lang="en-US" sz="800" b="0" i="0" dirty="0">
              <a:latin typeface="Courier" pitchFamily="2" charset="0"/>
            </a:endParaRPr>
          </a:p>
          <a:p>
            <a:r>
              <a:rPr lang="en-US" sz="800" b="0" i="0" dirty="0">
                <a:latin typeface="Courier" pitchFamily="2" charset="0"/>
              </a:rPr>
              <a:t>&lt;% </a:t>
            </a:r>
          </a:p>
          <a:p>
            <a:r>
              <a:rPr lang="en-US" sz="800" b="0" i="0" dirty="0">
                <a:latin typeface="Courier" pitchFamily="2" charset="0"/>
              </a:rPr>
              <a:t>var </a:t>
            </a:r>
            <a:r>
              <a:rPr lang="en-US" sz="800" b="0" i="0" dirty="0" err="1">
                <a:latin typeface="Courier" pitchFamily="2" charset="0"/>
              </a:rPr>
              <a:t>fparams</a:t>
            </a:r>
            <a:r>
              <a:rPr lang="en-US" sz="800" b="0" i="0" dirty="0">
                <a:latin typeface="Courier" pitchFamily="2" charset="0"/>
              </a:rPr>
              <a:t> = new </a:t>
            </a:r>
            <a:r>
              <a:rPr lang="en-US" sz="800" b="0" i="0" dirty="0" err="1">
                <a:latin typeface="Courier" pitchFamily="2" charset="0"/>
              </a:rPr>
              <a:t>FilterParams</a:t>
            </a:r>
            <a:r>
              <a:rPr lang="en-US" sz="800" b="0" i="0" dirty="0">
                <a:latin typeface="Courier" pitchFamily="2" charset="0"/>
              </a:rPr>
              <a:t>();</a:t>
            </a:r>
          </a:p>
          <a:p>
            <a:r>
              <a:rPr lang="en-US" sz="800" b="0" i="0" dirty="0" err="1">
                <a:latin typeface="Courier" pitchFamily="2" charset="0"/>
              </a:rPr>
              <a:t>fparams.Add</a:t>
            </a:r>
            <a:r>
              <a:rPr lang="en-US" sz="800" b="0" i="0" dirty="0">
                <a:latin typeface="Courier" pitchFamily="2" charset="0"/>
              </a:rPr>
              <a:t>(</a:t>
            </a:r>
            <a:r>
              <a:rPr lang="en-US" sz="800" b="0" i="0" dirty="0" err="1">
                <a:latin typeface="Courier" pitchFamily="2" charset="0"/>
              </a:rPr>
              <a:t>AssetPropertyNames.TemplateLabel</a:t>
            </a:r>
            <a:r>
              <a:rPr lang="en-US" sz="800" b="0" i="0" dirty="0">
                <a:latin typeface="Courier" pitchFamily="2" charset="0"/>
              </a:rPr>
              <a:t>, </a:t>
            </a:r>
            <a:r>
              <a:rPr lang="en-US" sz="800" b="0" i="0" dirty="0" err="1">
                <a:latin typeface="Courier" pitchFamily="2" charset="0"/>
              </a:rPr>
              <a:t>Comparison.Equals</a:t>
            </a:r>
            <a:r>
              <a:rPr lang="en-US" sz="800" b="0" i="0" dirty="0">
                <a:latin typeface="Courier" pitchFamily="2" charset="0"/>
              </a:rPr>
              <a:t>, "Component Definition");</a:t>
            </a:r>
          </a:p>
          <a:p>
            <a:r>
              <a:rPr lang="en-US" sz="800" b="0" i="0" dirty="0">
                <a:latin typeface="Courier" pitchFamily="2" charset="0"/>
              </a:rPr>
              <a:t>var results = </a:t>
            </a:r>
            <a:r>
              <a:rPr lang="en-US" sz="800" b="0" i="0" dirty="0" err="1">
                <a:latin typeface="Courier" pitchFamily="2" charset="0"/>
              </a:rPr>
              <a:t>root.GetFilterList</a:t>
            </a:r>
            <a:r>
              <a:rPr lang="en-US" sz="800" b="0" i="0" dirty="0">
                <a:latin typeface="Courier" pitchFamily="2" charset="0"/>
              </a:rPr>
              <a:t>(</a:t>
            </a:r>
            <a:r>
              <a:rPr lang="en-US" sz="800" b="0" i="0" dirty="0" err="1">
                <a:latin typeface="Courier" pitchFamily="2" charset="0"/>
              </a:rPr>
              <a:t>fparams</a:t>
            </a:r>
            <a:r>
              <a:rPr lang="en-US" sz="800" b="0" i="0" dirty="0">
                <a:latin typeface="Courier" pitchFamily="2" charset="0"/>
              </a:rPr>
              <a:t>).</a:t>
            </a:r>
            <a:r>
              <a:rPr lang="en-US" sz="800" b="0" i="0" dirty="0" err="1">
                <a:latin typeface="Courier" pitchFamily="2" charset="0"/>
              </a:rPr>
              <a:t>OrderBy</a:t>
            </a:r>
            <a:r>
              <a:rPr lang="en-US" sz="800" b="0" i="0" dirty="0">
                <a:latin typeface="Courier" pitchFamily="2" charset="0"/>
              </a:rPr>
              <a:t>(a =&gt; </a:t>
            </a:r>
            <a:r>
              <a:rPr lang="en-US" sz="800" b="0" i="0" dirty="0" err="1">
                <a:latin typeface="Courier" pitchFamily="2" charset="0"/>
              </a:rPr>
              <a:t>a.AssetPath.ToString</a:t>
            </a:r>
            <a:r>
              <a:rPr lang="en-US" sz="800" b="0" i="0" dirty="0">
                <a:latin typeface="Courier" pitchFamily="2" charset="0"/>
              </a:rPr>
              <a:t>());    </a:t>
            </a:r>
          </a:p>
          <a:p>
            <a:r>
              <a:rPr lang="en-US" sz="800" b="0" i="0" dirty="0">
                <a:latin typeface="Courier" pitchFamily="2" charset="0"/>
              </a:rPr>
              <a:t>var </a:t>
            </a:r>
            <a:r>
              <a:rPr lang="en-US" sz="800" b="0" i="0" dirty="0" err="1">
                <a:latin typeface="Courier" pitchFamily="2" charset="0"/>
              </a:rPr>
              <a:t>i</a:t>
            </a:r>
            <a:r>
              <a:rPr lang="en-US" sz="800" b="0" i="0" dirty="0">
                <a:latin typeface="Courier" pitchFamily="2" charset="0"/>
              </a:rPr>
              <a:t> = 1;    </a:t>
            </a:r>
          </a:p>
          <a:p>
            <a:r>
              <a:rPr lang="en-US" sz="800" b="0" i="0" dirty="0">
                <a:latin typeface="Courier" pitchFamily="2" charset="0"/>
              </a:rPr>
              <a:t>foreach(var r in results)</a:t>
            </a:r>
          </a:p>
          <a:p>
            <a:r>
              <a:rPr lang="en-US" sz="800" b="0" i="0" dirty="0">
                <a:latin typeface="Courier" pitchFamily="2" charset="0"/>
              </a:rPr>
              <a:t>{</a:t>
            </a:r>
          </a:p>
          <a:p>
            <a:r>
              <a:rPr lang="en-US" sz="800" b="0" i="0" dirty="0">
                <a:latin typeface="Courier" pitchFamily="2" charset="0"/>
              </a:rPr>
              <a:t>  var </a:t>
            </a:r>
            <a:r>
              <a:rPr lang="en-US" sz="800" b="0" i="0" dirty="0" err="1">
                <a:latin typeface="Courier" pitchFamily="2" charset="0"/>
              </a:rPr>
              <a:t>pathElements</a:t>
            </a:r>
            <a:r>
              <a:rPr lang="en-US" sz="800" b="0" i="0" dirty="0">
                <a:latin typeface="Courier" pitchFamily="2" charset="0"/>
              </a:rPr>
              <a:t> = </a:t>
            </a:r>
            <a:r>
              <a:rPr lang="en-US" sz="800" b="0" i="0" dirty="0" err="1">
                <a:latin typeface="Courier" pitchFamily="2" charset="0"/>
              </a:rPr>
              <a:t>r.AssetPath.Count</a:t>
            </a:r>
            <a:r>
              <a:rPr lang="en-US" sz="800" b="0" i="0" dirty="0">
                <a:latin typeface="Courier" pitchFamily="2" charset="0"/>
              </a:rPr>
              <a:t>;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Out.WriteLine</a:t>
            </a:r>
            <a:r>
              <a:rPr lang="en-US" sz="800" b="0" i="0" dirty="0">
                <a:latin typeface="Courier" pitchFamily="2" charset="0"/>
              </a:rPr>
              <a:t>(</a:t>
            </a:r>
          </a:p>
          <a:p>
            <a:r>
              <a:rPr lang="en-US" sz="800" b="0" i="0" dirty="0">
                <a:latin typeface="Courier" pitchFamily="2" charset="0"/>
              </a:rPr>
              <a:t>    "&lt;tr id='{0}'&gt;&lt;td&gt;{1}&lt;/td&gt;&lt;td&gt;{2}&lt;/td&gt;&lt;td&gt;{3}&lt;/td&gt;&lt;td&gt;{4}&lt;/td&gt;&lt;/tr&gt;",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r.Raw</a:t>
            </a:r>
            <a:r>
              <a:rPr lang="en-US" sz="800" b="0" i="0" dirty="0">
                <a:latin typeface="Courier" pitchFamily="2" charset="0"/>
              </a:rPr>
              <a:t>["</a:t>
            </a:r>
            <a:r>
              <a:rPr lang="en-US" sz="800" b="0" i="0" dirty="0" err="1">
                <a:latin typeface="Courier" pitchFamily="2" charset="0"/>
              </a:rPr>
              <a:t>class_name</a:t>
            </a:r>
            <a:r>
              <a:rPr lang="en-US" sz="800" b="0" i="0" dirty="0">
                <a:latin typeface="Courier" pitchFamily="2" charset="0"/>
              </a:rPr>
              <a:t>"],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i.ToString</a:t>
            </a:r>
            <a:r>
              <a:rPr lang="en-US" sz="800" b="0" i="0" dirty="0">
                <a:latin typeface="Courier" pitchFamily="2" charset="0"/>
              </a:rPr>
              <a:t>(),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r.Id.ToString</a:t>
            </a:r>
            <a:r>
              <a:rPr lang="en-US" sz="800" b="0" i="0" dirty="0">
                <a:latin typeface="Courier" pitchFamily="2" charset="0"/>
              </a:rPr>
              <a:t>(),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pathElements</a:t>
            </a:r>
            <a:r>
              <a:rPr lang="en-US" sz="800" b="0" i="0" dirty="0">
                <a:latin typeface="Courier" pitchFamily="2" charset="0"/>
              </a:rPr>
              <a:t> &gt; 1 ? </a:t>
            </a:r>
            <a:r>
              <a:rPr lang="en-US" sz="800" b="0" i="0" dirty="0" err="1">
                <a:latin typeface="Courier" pitchFamily="2" charset="0"/>
              </a:rPr>
              <a:t>r.AssetPath</a:t>
            </a:r>
            <a:r>
              <a:rPr lang="en-US" sz="800" b="0" i="0" dirty="0">
                <a:latin typeface="Courier" pitchFamily="2" charset="0"/>
              </a:rPr>
              <a:t>[pathElements-2] + ":" + </a:t>
            </a:r>
            <a:r>
              <a:rPr lang="en-US" sz="800" b="0" i="0" dirty="0" err="1">
                <a:latin typeface="Courier" pitchFamily="2" charset="0"/>
              </a:rPr>
              <a:t>r.AssetPath</a:t>
            </a:r>
            <a:r>
              <a:rPr lang="en-US" sz="800" b="0" i="0" dirty="0">
                <a:latin typeface="Courier" pitchFamily="2" charset="0"/>
              </a:rPr>
              <a:t>[pathElements-1] : </a:t>
            </a:r>
            <a:r>
              <a:rPr lang="en-US" sz="800" b="0" i="0" dirty="0" err="1">
                <a:latin typeface="Courier" pitchFamily="2" charset="0"/>
              </a:rPr>
              <a:t>r.AssetPath.ToString</a:t>
            </a:r>
            <a:r>
              <a:rPr lang="en-US" sz="800" b="0" i="0" dirty="0">
                <a:latin typeface="Courier" pitchFamily="2" charset="0"/>
              </a:rPr>
              <a:t>(),</a:t>
            </a:r>
          </a:p>
          <a:p>
            <a:r>
              <a:rPr lang="en-US" sz="800" b="0" i="0" dirty="0">
                <a:latin typeface="Courier" pitchFamily="2" charset="0"/>
              </a:rPr>
              <a:t>    </a:t>
            </a:r>
            <a:r>
              <a:rPr lang="en-US" sz="800" b="0" i="0" dirty="0" err="1">
                <a:latin typeface="Courier" pitchFamily="2" charset="0"/>
              </a:rPr>
              <a:t>RenderLinks</a:t>
            </a:r>
            <a:r>
              <a:rPr lang="en-US" sz="800" b="0" i="0" dirty="0">
                <a:latin typeface="Courier" pitchFamily="2" charset="0"/>
              </a:rPr>
              <a:t>(</a:t>
            </a:r>
            <a:r>
              <a:rPr lang="en-US" sz="800" b="0" i="0" dirty="0" err="1">
                <a:latin typeface="Courier" pitchFamily="2" charset="0"/>
              </a:rPr>
              <a:t>PanelValues</a:t>
            </a:r>
            <a:r>
              <a:rPr lang="en-US" sz="800" b="0" i="0" dirty="0">
                <a:latin typeface="Courier" pitchFamily="2" charset="0"/>
              </a:rPr>
              <a:t>(r, "</a:t>
            </a:r>
            <a:r>
              <a:rPr lang="en-US" sz="800" b="0" i="0" dirty="0" err="1">
                <a:latin typeface="Courier" pitchFamily="2" charset="0"/>
              </a:rPr>
              <a:t>component_component_type</a:t>
            </a:r>
            <a:r>
              <a:rPr lang="en-US" sz="800" b="0" i="0" dirty="0">
                <a:latin typeface="Courier" pitchFamily="2" charset="0"/>
              </a:rPr>
              <a:t>")));</a:t>
            </a:r>
          </a:p>
          <a:p>
            <a:r>
              <a:rPr lang="en-US" sz="800" b="0" i="0" dirty="0">
                <a:latin typeface="Courier" pitchFamily="2" charset="0"/>
              </a:rPr>
              <a:t>  </a:t>
            </a:r>
            <a:r>
              <a:rPr lang="en-US" sz="800" b="0" i="0" dirty="0" err="1">
                <a:latin typeface="Courier" pitchFamily="2" charset="0"/>
              </a:rPr>
              <a:t>i</a:t>
            </a:r>
            <a:r>
              <a:rPr lang="en-US" sz="800" b="0" i="0" dirty="0">
                <a:latin typeface="Courier" pitchFamily="2" charset="0"/>
              </a:rPr>
              <a:t>++;</a:t>
            </a:r>
          </a:p>
          <a:p>
            <a:r>
              <a:rPr lang="en-US" sz="800" b="0" i="0" dirty="0">
                <a:latin typeface="Courier" pitchFamily="2" charset="0"/>
              </a:rPr>
              <a:t>}</a:t>
            </a:r>
          </a:p>
          <a:p>
            <a:r>
              <a:rPr lang="en-US" sz="800" b="0" i="0" dirty="0">
                <a:latin typeface="Courier" pitchFamily="2" charset="0"/>
              </a:rPr>
              <a:t>%&gt;    </a:t>
            </a:r>
          </a:p>
          <a:p>
            <a:r>
              <a:rPr lang="en-US" sz="800" b="0" i="0" dirty="0">
                <a:latin typeface="Courier" pitchFamily="2" charset="0"/>
              </a:rPr>
              <a:t>  &lt;/</a:t>
            </a:r>
            <a:r>
              <a:rPr lang="en-US" sz="800" b="0" i="0" dirty="0" err="1">
                <a:latin typeface="Courier" pitchFamily="2" charset="0"/>
              </a:rPr>
              <a:t>tbody</a:t>
            </a:r>
            <a:r>
              <a:rPr lang="en-US" sz="800" b="0" i="0" dirty="0">
                <a:latin typeface="Courier" pitchFamily="2" charset="0"/>
              </a:rPr>
              <a:t>&gt;</a:t>
            </a:r>
          </a:p>
          <a:p>
            <a:r>
              <a:rPr lang="en-US" sz="800" b="0" i="0" dirty="0">
                <a:latin typeface="Courier" pitchFamily="2" charset="0"/>
              </a:rPr>
              <a:t>&lt;/table&gt;</a:t>
            </a:r>
          </a:p>
          <a:p>
            <a:r>
              <a:rPr lang="en-US" sz="800" b="0" i="0" dirty="0">
                <a:latin typeface="Courier" pitchFamily="2" charset="0"/>
              </a:rPr>
              <a:t>&lt;script&gt;</a:t>
            </a:r>
          </a:p>
          <a:p>
            <a:r>
              <a:rPr lang="en-US" sz="800" b="0" i="0" dirty="0">
                <a:latin typeface="Courier" pitchFamily="2" charset="0"/>
              </a:rPr>
              <a:t>$(document).ready(function() {</a:t>
            </a:r>
          </a:p>
          <a:p>
            <a:r>
              <a:rPr lang="en-US" sz="800" b="0" i="0" dirty="0">
                <a:latin typeface="Courier" pitchFamily="2" charset="0"/>
              </a:rPr>
              <a:t>    $('#components').</a:t>
            </a:r>
            <a:r>
              <a:rPr lang="en-US" sz="800" b="0" i="0" dirty="0" err="1">
                <a:latin typeface="Courier" pitchFamily="2" charset="0"/>
              </a:rPr>
              <a:t>DataTable</a:t>
            </a:r>
            <a:r>
              <a:rPr lang="en-US" sz="800" b="0" i="0" dirty="0">
                <a:latin typeface="Courier" pitchFamily="2" charset="0"/>
              </a:rPr>
              <a:t>({</a:t>
            </a:r>
          </a:p>
          <a:p>
            <a:r>
              <a:rPr lang="en-US" sz="800" b="0" i="0" dirty="0">
                <a:latin typeface="Courier" pitchFamily="2" charset="0"/>
              </a:rPr>
              <a:t>        "paging":   false,</a:t>
            </a:r>
          </a:p>
          <a:p>
            <a:r>
              <a:rPr lang="en-US" sz="800" b="0" i="0" dirty="0">
                <a:latin typeface="Courier" pitchFamily="2" charset="0"/>
              </a:rPr>
              <a:t>        "ordering": true,</a:t>
            </a:r>
          </a:p>
          <a:p>
            <a:r>
              <a:rPr lang="en-US" sz="800" b="0" i="0" dirty="0">
                <a:latin typeface="Courier" pitchFamily="2" charset="0"/>
              </a:rPr>
              <a:t>        "info":     true</a:t>
            </a:r>
          </a:p>
          <a:p>
            <a:r>
              <a:rPr lang="en-US" sz="800" b="0" i="0" dirty="0">
                <a:latin typeface="Courier" pitchFamily="2" charset="0"/>
              </a:rPr>
              <a:t>    } );</a:t>
            </a:r>
          </a:p>
          <a:p>
            <a:r>
              <a:rPr lang="en-US" sz="800" b="0" i="0" dirty="0">
                <a:latin typeface="Courier" pitchFamily="2" charset="0"/>
              </a:rPr>
              <a:t>} );</a:t>
            </a:r>
          </a:p>
          <a:p>
            <a:r>
              <a:rPr lang="en-US" sz="800" b="0" i="0" dirty="0">
                <a:latin typeface="Courier" pitchFamily="2" charset="0"/>
              </a:rPr>
              <a:t>&lt;/script&gt;</a:t>
            </a:r>
          </a:p>
          <a:p>
            <a:endParaRPr lang="en-US" sz="800" b="0" i="0" dirty="0">
              <a:latin typeface="Courier" pitchFamily="2" charset="0"/>
            </a:endParaRPr>
          </a:p>
          <a:p>
            <a:endParaRPr lang="en-US" sz="800" b="0" i="0" dirty="0">
              <a:latin typeface="Courier" pitchFamily="2" charset="0"/>
            </a:endParaRPr>
          </a:p>
          <a:p>
            <a:endParaRPr lang="en-US" sz="800" b="0" i="0" dirty="0">
              <a:latin typeface="Courier" pitchFamily="2" charset="0"/>
            </a:endParaRPr>
          </a:p>
          <a:p>
            <a:endParaRPr lang="en-US" sz="800" b="0" i="0" dirty="0">
              <a:latin typeface="Courier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1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12 August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12 August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8/12/20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ook.integromat.com/9568bn457st5amt6kp71on8xvqi4j9us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Scripting the CMS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Developer CS templates and Template API</a:t>
            </a:r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2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Understand the unique “Developer CS” template</a:t>
            </a:r>
          </a:p>
          <a:p>
            <a:r>
              <a:rPr lang="en-GB" dirty="0"/>
              <a:t>Examine some use cases where Developer CS templates are useful</a:t>
            </a:r>
          </a:p>
          <a:p>
            <a:r>
              <a:rPr lang="en-GB" dirty="0"/>
              <a:t>Examine some of the more useful Template API methods</a:t>
            </a:r>
          </a:p>
          <a:p>
            <a:pPr marL="342900" lvl="1" indent="0">
              <a:buNone/>
            </a:pPr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4C47-CC09-E34F-875F-A125E155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73F8-6F9F-6241-9865-24AA24E260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BC217E"/>
                </a:solidFill>
              </a:rPr>
              <a:t>Regular template</a:t>
            </a:r>
          </a:p>
          <a:p>
            <a:r>
              <a:rPr lang="en-US" dirty="0"/>
              <a:t>Collection of event handlers</a:t>
            </a:r>
          </a:p>
          <a:p>
            <a:r>
              <a:rPr lang="en-US" dirty="0"/>
              <a:t>Created in {project}/Templates folder</a:t>
            </a:r>
          </a:p>
          <a:p>
            <a:r>
              <a:rPr lang="en-US" dirty="0"/>
              <a:t>Must be associated with a templated asset to use them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697951-4C77-5948-8CA6-FF02E7EFB8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BC217E"/>
                </a:solidFill>
              </a:rPr>
              <a:t>Developer CS template</a:t>
            </a:r>
          </a:p>
          <a:p>
            <a:r>
              <a:rPr lang="en-US" dirty="0"/>
              <a:t>Essentially a “naked” output handler</a:t>
            </a:r>
          </a:p>
          <a:p>
            <a:r>
              <a:rPr lang="en-US" dirty="0"/>
              <a:t>Create anywhere</a:t>
            </a:r>
          </a:p>
          <a:p>
            <a:r>
              <a:rPr lang="en-US" dirty="0"/>
              <a:t>Cannot be associated with a templated asset</a:t>
            </a:r>
          </a:p>
          <a:p>
            <a:r>
              <a:rPr lang="en-US" dirty="0"/>
              <a:t>Represent</a:t>
            </a:r>
          </a:p>
          <a:p>
            <a:pPr lvl="1"/>
            <a:r>
              <a:rPr lang="en-US" dirty="0"/>
              <a:t>Content asset directly</a:t>
            </a:r>
          </a:p>
          <a:p>
            <a:pPr lvl="1"/>
            <a:r>
              <a:rPr lang="en-US" dirty="0"/>
              <a:t>Utility assets </a:t>
            </a:r>
            <a:r>
              <a:rPr lang="en-US" dirty="0">
                <a:sym typeface="Wingdings" pitchFamily="2" charset="2"/>
              </a:rPr>
              <a:t>→ “scripts”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2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E9AB-D88D-7E4C-ABB0-DA2A28D4A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B4C7-FD5D-B844-8D27-C522AD6FC8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Generated content</a:t>
            </a:r>
          </a:p>
          <a:p>
            <a:pPr lvl="1"/>
            <a:r>
              <a:rPr lang="en-US" dirty="0" err="1"/>
              <a:t>sitemap.xml</a:t>
            </a:r>
            <a:endParaRPr lang="en-US" dirty="0"/>
          </a:p>
          <a:p>
            <a:pPr lvl="1"/>
            <a:r>
              <a:rPr lang="en-US" dirty="0"/>
              <a:t>redirect-</a:t>
            </a:r>
            <a:r>
              <a:rPr lang="en-US" dirty="0" err="1"/>
              <a:t>rules.config</a:t>
            </a:r>
            <a:endParaRPr lang="en-US" dirty="0"/>
          </a:p>
          <a:p>
            <a:r>
              <a:rPr lang="en-US" dirty="0"/>
              <a:t>Reports</a:t>
            </a:r>
          </a:p>
          <a:p>
            <a:pPr lvl="1"/>
            <a:r>
              <a:rPr lang="en-US" dirty="0"/>
              <a:t>Lists of all components and their dependencies</a:t>
            </a:r>
          </a:p>
          <a:p>
            <a:r>
              <a:rPr lang="en-US" dirty="0"/>
              <a:t>Scripting (usually one-off tasks)</a:t>
            </a:r>
          </a:p>
          <a:p>
            <a:pPr lvl="1"/>
            <a:r>
              <a:rPr lang="en-US" dirty="0"/>
              <a:t>Bulk rename assets / fields</a:t>
            </a:r>
          </a:p>
          <a:p>
            <a:r>
              <a:rPr lang="en-US" dirty="0"/>
              <a:t>Prototyping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7CDBF-48D2-254E-AB7C-477A21B58A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migration</a:t>
            </a:r>
          </a:p>
          <a:p>
            <a:pPr lvl="1"/>
            <a:r>
              <a:rPr lang="en-US" dirty="0"/>
              <a:t>Importing/processing content extracts</a:t>
            </a:r>
          </a:p>
          <a:p>
            <a:pPr lvl="1"/>
            <a:r>
              <a:rPr lang="en-US" dirty="0"/>
              <a:t>Exporting content</a:t>
            </a:r>
          </a:p>
          <a:p>
            <a:r>
              <a:rPr lang="en-US" dirty="0"/>
              <a:t>CMS functions</a:t>
            </a:r>
          </a:p>
          <a:p>
            <a:pPr lvl="1"/>
            <a:r>
              <a:rPr lang="en-US" dirty="0"/>
              <a:t>SFTP import scripts</a:t>
            </a:r>
          </a:p>
          <a:p>
            <a:pPr lvl="1"/>
            <a:r>
              <a:rPr lang="en-US" dirty="0"/>
              <a:t>Workflow scripts</a:t>
            </a:r>
          </a:p>
        </p:txBody>
      </p:sp>
    </p:spTree>
    <p:extLst>
      <p:ext uri="{BB962C8B-B14F-4D97-AF65-F5344CB8AC3E}">
        <p14:creationId xmlns:p14="http://schemas.microsoft.com/office/powerpoint/2010/main" val="350419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E9AB-D88D-7E4C-ABB0-DA2A28D4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7218"/>
            <a:ext cx="7886700" cy="994172"/>
          </a:xfrm>
        </p:spPr>
        <p:txBody>
          <a:bodyPr/>
          <a:lstStyle/>
          <a:p>
            <a:r>
              <a:rPr lang="en-US" dirty="0"/>
              <a:t>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B4C7-FD5D-B844-8D27-C522AD6FC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input controls</a:t>
            </a:r>
          </a:p>
          <a:p>
            <a:pPr lvl="1"/>
            <a:r>
              <a:rPr lang="en-US" dirty="0"/>
              <a:t>No validation of any user supplied values or content</a:t>
            </a:r>
          </a:p>
          <a:p>
            <a:r>
              <a:rPr lang="en-US" dirty="0"/>
              <a:t>Timeouts</a:t>
            </a:r>
          </a:p>
          <a:p>
            <a:pPr lvl="1"/>
            <a:r>
              <a:rPr lang="en-US" dirty="0"/>
              <a:t>All template code, with the exception of </a:t>
            </a:r>
            <a:r>
              <a:rPr lang="en-US" dirty="0" err="1"/>
              <a:t>post_save_job.aspx</a:t>
            </a:r>
            <a:r>
              <a:rPr lang="en-US" dirty="0"/>
              <a:t>, have short timeouts (~300 seconds)</a:t>
            </a:r>
          </a:p>
          <a:p>
            <a:pPr lvl="1"/>
            <a:r>
              <a:rPr lang="en-US" dirty="0"/>
              <a:t>Don’t try and do too much in your script</a:t>
            </a:r>
          </a:p>
          <a:p>
            <a:pPr lvl="1"/>
            <a:r>
              <a:rPr lang="en-US" dirty="0"/>
              <a:t>Make  your scripts resilient to </a:t>
            </a:r>
            <a:r>
              <a:rPr lang="en-US"/>
              <a:t>unexpected termination</a:t>
            </a:r>
            <a:endParaRPr lang="en-US" dirty="0"/>
          </a:p>
          <a:p>
            <a:r>
              <a:rPr lang="en-US" dirty="0"/>
              <a:t>Filename/URL control</a:t>
            </a:r>
          </a:p>
          <a:p>
            <a:pPr lvl="1"/>
            <a:r>
              <a:rPr lang="en-US" dirty="0"/>
              <a:t>System/Filenames or Project/Filenames handlers affect these assets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A08830C-882D-B247-A5CB-DDF120B59C75}"/>
              </a:ext>
            </a:extLst>
          </p:cNvPr>
          <p:cNvGrpSpPr/>
          <p:nvPr/>
        </p:nvGrpSpPr>
        <p:grpSpPr>
          <a:xfrm>
            <a:off x="0" y="0"/>
            <a:ext cx="9144001" cy="525985"/>
            <a:chOff x="0" y="-7687"/>
            <a:chExt cx="9144001" cy="525985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E77E6D9-CE02-D041-A54A-4B3BB4B9A65E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A464F63-4F95-1F49-845D-39F7B43A6F76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8C066C0-14A0-2848-80F9-C975EBC6AC82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D5B7DCF-BC3C-A245-AE23-C4E9B3187256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75FFED6-058A-B74C-AAE7-4D3E41B70611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B9249CD-417A-C342-9844-22BE75BFE6E5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C906E5-D766-5649-AF95-CAA562DEA2E7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3DBB1AB-C631-2647-8214-12647CF05568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1A0DA6F-D18D-B942-BE36-4DF179B7390E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234195C-6A41-B748-A53B-59EA1EBBF0F6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857CD525-72B6-A54B-8F91-E4A87EB5D9E8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B4DA111-E2E8-014C-A0F8-DE7BF1BF5B8A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7334848-A0F0-C840-9FE2-D10FFEF27570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3311D24-F786-E147-80C2-04B66C9E074A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2F6EDF8-EE34-1E47-8DEC-AC43EA3B6DF0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1A1F011-36DD-F448-9FA8-D6FCE664950B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345E50B-E51C-204F-B340-291F8FBCE308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74AFD0-0EF3-6E4C-9452-FBE5060B52A4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76B7D42A-8D65-B54F-826A-4E2F0DE87420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CFE4240-20E5-AF48-A7A7-12A2F84897AC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544E776-A8B1-074C-9225-6FAC6DE7936D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009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Template API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Working with assets &amp; fields</a:t>
            </a:r>
          </a:p>
        </p:txBody>
      </p:sp>
    </p:spTree>
    <p:extLst>
      <p:ext uri="{BB962C8B-B14F-4D97-AF65-F5344CB8AC3E}">
        <p14:creationId xmlns:p14="http://schemas.microsoft.com/office/powerpoint/2010/main" val="150572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asset.GetFilterList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Efficiently query CMS repository for assets meeting specified filter criteria, recurse into folders and return any matching assets.</a:t>
            </a:r>
          </a:p>
          <a:p>
            <a:r>
              <a:rPr lang="en-US" dirty="0"/>
              <a:t>The asset that is used as the call target will be used as the root for the search</a:t>
            </a:r>
          </a:p>
          <a:p>
            <a:r>
              <a:rPr lang="en-US" dirty="0" err="1"/>
              <a:t>FilterParams</a:t>
            </a:r>
            <a:endParaRPr lang="en-US" dirty="0"/>
          </a:p>
          <a:p>
            <a:pPr lvl="1"/>
            <a:r>
              <a:rPr lang="en-US" dirty="0"/>
              <a:t>Specify one or more filter criteria</a:t>
            </a:r>
          </a:p>
          <a:p>
            <a:pPr lvl="1"/>
            <a:r>
              <a:rPr lang="en-US" dirty="0"/>
              <a:t>Asset property filters (see </a:t>
            </a:r>
            <a:r>
              <a:rPr lang="en-US" dirty="0" err="1"/>
              <a:t>AssetPropertyNames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Field filters</a:t>
            </a:r>
          </a:p>
          <a:p>
            <a:pPr lvl="1"/>
            <a:r>
              <a:rPr lang="en-US" dirty="0"/>
              <a:t>Asset type filters (templates vs digital)</a:t>
            </a:r>
          </a:p>
          <a:p>
            <a:pPr lvl="1"/>
            <a:r>
              <a:rPr lang="en-US" dirty="0"/>
              <a:t>File type (file vs folder)</a:t>
            </a:r>
          </a:p>
          <a:p>
            <a:pPr lvl="1"/>
            <a:r>
              <a:rPr lang="en-US" dirty="0"/>
              <a:t>Workflow status filters</a:t>
            </a:r>
          </a:p>
          <a:p>
            <a:pPr lvl="1"/>
            <a:r>
              <a:rPr lang="en-US" dirty="0"/>
              <a:t>Result limits</a:t>
            </a:r>
          </a:p>
          <a:p>
            <a:pPr lvl="1"/>
            <a:r>
              <a:rPr lang="en-US" dirty="0"/>
              <a:t>Sorting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List&lt;Asset&gt; </a:t>
            </a:r>
            <a:r>
              <a:rPr lang="en-GB" b="1" dirty="0" err="1"/>
              <a:t>GetFilterList</a:t>
            </a:r>
            <a:r>
              <a:rPr lang="en-GB" b="1" dirty="0"/>
              <a:t>(</a:t>
            </a:r>
            <a:r>
              <a:rPr lang="en-GB" b="1" dirty="0" err="1"/>
              <a:t>FilterParams</a:t>
            </a:r>
            <a:r>
              <a:rPr lang="en-GB" b="1" dirty="0"/>
              <a:t> params)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65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asset.GetFilterList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Specify the fields you are interested in</a:t>
            </a:r>
          </a:p>
          <a:p>
            <a:pPr lvl="1"/>
            <a:r>
              <a:rPr lang="en-US" dirty="0"/>
              <a:t>Values will be cached and won’t need additional database queries to access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1046053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params.FieldList</a:t>
            </a:r>
            <a:r>
              <a:rPr lang="en-US" dirty="0"/>
              <a:t> = </a:t>
            </a:r>
            <a:r>
              <a:rPr lang="en-US" dirty="0" err="1"/>
              <a:t>Util.MakeList</a:t>
            </a:r>
            <a:r>
              <a:rPr lang="en-US" dirty="0"/>
              <a:t>(“field”, “field”, “field”);</a:t>
            </a:r>
            <a:endParaRPr lang="en-GB" b="1" dirty="0"/>
          </a:p>
          <a:p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4F0AB4B-DEDD-4142-993F-1144A58C321F}"/>
              </a:ext>
            </a:extLst>
          </p:cNvPr>
          <p:cNvGrpSpPr/>
          <p:nvPr/>
        </p:nvGrpSpPr>
        <p:grpSpPr>
          <a:xfrm>
            <a:off x="0" y="0"/>
            <a:ext cx="9144001" cy="525985"/>
            <a:chOff x="0" y="-7687"/>
            <a:chExt cx="9144001" cy="525985"/>
          </a:xfrm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FA5EDAF3-AACC-D34E-AF64-17B91963D1EE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70D2910-C4D6-044A-B9E2-6A628584AA17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18B97B9-066D-5D47-9532-6BFE20C81722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803825A4-5C3D-CD40-8EB7-58DC155902F1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98EFBFE-33AC-2C4D-91F4-4F6914E676A8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E03A2F55-4E9B-3340-97C1-C71BCE493C2E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3840B208-9234-D748-B23E-5624DF112240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0EBB804-9D1A-B549-8585-143A59AAB51C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446F7B8-49E7-F240-B44C-4C61703D119F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7277ED3-FDEE-E54F-9E51-1ECD7747E83B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74F256E0-9CF6-4F45-8058-6277E94C1015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7395D61E-87A5-AC4E-BDBE-D7B5F79253CF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74172B0-BD74-0043-998F-BC3000D09528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49BB3E0-B2E6-094D-98D5-486F0F5C5D35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C7F7D9CB-7DBA-D744-B5D3-73F9AD89C0AF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2851BF33-D799-5240-AE7D-C6691757C8AC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FC903477-0FFD-194A-B857-4EEFF18E7B4B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75371B5-82F3-DF42-A8D3-23C6B738B628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7440A47-E477-524E-849F-B690F2293C64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7E13985E-B5FF-5743-BDDC-2DDFE6C41E04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3CB9199F-3C06-E94E-B555-80109E5AE98D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70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Asset.Load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1757"/>
            <a:ext cx="7886700" cy="2920966"/>
          </a:xfrm>
        </p:spPr>
        <p:txBody>
          <a:bodyPr>
            <a:normAutofit/>
          </a:bodyPr>
          <a:lstStyle/>
          <a:p>
            <a:r>
              <a:rPr lang="en-US" dirty="0"/>
              <a:t>Loads an asset given by a reference of some kind</a:t>
            </a:r>
          </a:p>
          <a:p>
            <a:r>
              <a:rPr lang="en-US" dirty="0"/>
              <a:t>Use </a:t>
            </a:r>
            <a:r>
              <a:rPr lang="en-US" dirty="0" err="1"/>
              <a:t>IsLoaded</a:t>
            </a:r>
            <a:r>
              <a:rPr lang="en-US" dirty="0"/>
              <a:t> to test whether the method succeeded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Workflow state of the referenced asset will affect success –</a:t>
            </a:r>
            <a:br>
              <a:rPr lang="en-US" dirty="0"/>
            </a:br>
            <a:r>
              <a:rPr lang="en-US" dirty="0"/>
              <a:t>assets in Live won’t be able to load assets in Draft</a:t>
            </a:r>
          </a:p>
          <a:p>
            <a:pPr lvl="1"/>
            <a:r>
              <a:rPr lang="en-US" dirty="0"/>
              <a:t>Asset branches will affect success –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Asset Load(String | int32)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2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Asset.LoadDirect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1757"/>
            <a:ext cx="7886700" cy="2920966"/>
          </a:xfrm>
        </p:spPr>
        <p:txBody>
          <a:bodyPr>
            <a:normAutofit/>
          </a:bodyPr>
          <a:lstStyle/>
          <a:p>
            <a:r>
              <a:rPr lang="en-US" dirty="0"/>
              <a:t>Loads an asset given by a reference of some kind, </a:t>
            </a:r>
            <a:r>
              <a:rPr lang="en-US" b="1" dirty="0"/>
              <a:t>regardless of state or context.</a:t>
            </a:r>
          </a:p>
          <a:p>
            <a:r>
              <a:rPr lang="en-US" dirty="0"/>
              <a:t>Use </a:t>
            </a:r>
            <a:r>
              <a:rPr lang="en-US" dirty="0" err="1"/>
              <a:t>IsLoaded</a:t>
            </a:r>
            <a:r>
              <a:rPr lang="en-US" dirty="0"/>
              <a:t> to test whether the method succeeded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If two or more assets with the same path exist, e.g. branches, the asset with the highest asset ID (most recently created) will be returned</a:t>
            </a:r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Asset </a:t>
            </a:r>
            <a:r>
              <a:rPr lang="en-GB" b="1" dirty="0" err="1"/>
              <a:t>LoadDirect</a:t>
            </a:r>
            <a:r>
              <a:rPr lang="en-GB" b="1" dirty="0"/>
              <a:t>(String | int32)</a:t>
            </a:r>
          </a:p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E499D4-06C9-B949-93C6-D1A38B19C0DD}"/>
              </a:ext>
            </a:extLst>
          </p:cNvPr>
          <p:cNvGrpSpPr/>
          <p:nvPr/>
        </p:nvGrpSpPr>
        <p:grpSpPr>
          <a:xfrm>
            <a:off x="0" y="-7687"/>
            <a:ext cx="9144001" cy="525985"/>
            <a:chOff x="0" y="-7687"/>
            <a:chExt cx="9144001" cy="52598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89633F-A736-9C48-812C-EEA2C38C9424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196FEF-7742-1A4F-8160-24DF09DB9833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A736683-F8DF-0143-84C0-6FEA361A602C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F57DB06-CA25-7546-B34F-8F6EF06EEEED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1696289-42A9-FD45-8230-350B6845A42D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643AC74-AD48-6048-85DD-5A87E7065825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8CA29C8-5A52-5640-ACAB-C70347DA1F81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B2B4EB1-0917-B64F-B3A2-31DA7C7D9508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EC1772E-4CE4-6D4B-953D-68EE10F2F3DF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A22EC8A-8C20-4447-AAB8-1C1078015008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BE1C152-B634-A640-A0CE-4B5470E6F720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DF7EBFC-851D-5142-AA11-DF2058DC67E3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C4FBED4-AFD6-E941-AFF0-3F9C03BB6CC3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7566B45-7786-4640-95EC-4AC06E671611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0E1B386-46DF-D547-A181-FCC41BA31004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E0A6835-7331-AF4B-BF2D-E8C50A23AFB4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236ADFD-A385-AF4C-9105-D00460F87061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FF925B3-8CA9-BF40-A81B-BD09A1D1D43C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8999638-B413-4142-BCB2-5068C273BD1C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6C76804-1C7D-7B4E-938F-D1C3DD59B6D0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C93479A-7D37-A94C-9F25-84D67577FD7C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967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Asset.CreateNewAsset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1757"/>
            <a:ext cx="7886700" cy="2920966"/>
          </a:xfrm>
        </p:spPr>
        <p:txBody>
          <a:bodyPr>
            <a:normAutofit/>
          </a:bodyPr>
          <a:lstStyle/>
          <a:p>
            <a:r>
              <a:rPr lang="en-US" dirty="0"/>
              <a:t>Create a new asset with:</a:t>
            </a:r>
          </a:p>
          <a:p>
            <a:pPr lvl="1"/>
            <a:r>
              <a:rPr lang="en-US" dirty="0" err="1"/>
              <a:t>label:String</a:t>
            </a:r>
            <a:endParaRPr lang="en-US" dirty="0"/>
          </a:p>
          <a:p>
            <a:pPr lvl="1"/>
            <a:r>
              <a:rPr lang="en-US" dirty="0" err="1"/>
              <a:t>location:Asset</a:t>
            </a:r>
            <a:endParaRPr lang="en-US" dirty="0"/>
          </a:p>
          <a:p>
            <a:pPr lvl="1"/>
            <a:r>
              <a:rPr lang="en-US" dirty="0" err="1"/>
              <a:t>model:Asset</a:t>
            </a:r>
            <a:endParaRPr lang="en-US" dirty="0"/>
          </a:p>
          <a:p>
            <a:pPr lvl="1"/>
            <a:r>
              <a:rPr lang="en-US" dirty="0" err="1"/>
              <a:t>fields:Dictionary</a:t>
            </a:r>
            <a:r>
              <a:rPr lang="en-US" dirty="0"/>
              <a:t>&lt;</a:t>
            </a:r>
            <a:r>
              <a:rPr lang="en-US" dirty="0" err="1"/>
              <a:t>string,string</a:t>
            </a:r>
            <a:r>
              <a:rPr lang="en-US" dirty="0"/>
              <a:t>&gt;</a:t>
            </a:r>
          </a:p>
          <a:p>
            <a:pPr lvl="1"/>
            <a:r>
              <a:rPr lang="en-US" dirty="0" err="1"/>
              <a:t>createModelChildren:Boolean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asset.IsLoaded</a:t>
            </a:r>
            <a:r>
              <a:rPr lang="en-US" dirty="0"/>
              <a:t> to check whether creation worked or not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Asset </a:t>
            </a:r>
            <a:r>
              <a:rPr lang="en-GB" b="1" dirty="0" err="1"/>
              <a:t>SaveContentField</a:t>
            </a:r>
            <a:r>
              <a:rPr lang="en-GB" b="1" dirty="0"/>
              <a:t>(String, Asset, Asset, Dictionary&lt;</a:t>
            </a:r>
            <a:r>
              <a:rPr lang="en-GB" b="1" dirty="0" err="1"/>
              <a:t>String,String</a:t>
            </a:r>
            <a:r>
              <a:rPr lang="en-GB" b="1" dirty="0"/>
              <a:t>&gt;, Boolean)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32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Template API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Working with fields</a:t>
            </a:r>
          </a:p>
        </p:txBody>
      </p:sp>
    </p:spTree>
    <p:extLst>
      <p:ext uri="{BB962C8B-B14F-4D97-AF65-F5344CB8AC3E}">
        <p14:creationId xmlns:p14="http://schemas.microsoft.com/office/powerpoint/2010/main" val="411703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asset.GetContent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all content fields, returns a dictionary of field names to field values</a:t>
            </a:r>
          </a:p>
          <a:p>
            <a:r>
              <a:rPr lang="en-US" dirty="0"/>
              <a:t>Crucial for any scripts that need to access and/or process asset fields</a:t>
            </a:r>
          </a:p>
          <a:p>
            <a:endParaRPr lang="en-US" dirty="0"/>
          </a:p>
          <a:p>
            <a:r>
              <a:rPr lang="en-US" i="1" dirty="0"/>
              <a:t>Note: calling this method will also cache the field values so even if you ignore the result, any subsequent field access will be much quicker.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Dictionary&lt;</a:t>
            </a:r>
            <a:r>
              <a:rPr lang="en-GB" b="1" dirty="0" err="1"/>
              <a:t>String,String</a:t>
            </a:r>
            <a:r>
              <a:rPr lang="en-GB" b="1" dirty="0"/>
              <a:t>&gt; </a:t>
            </a:r>
            <a:r>
              <a:rPr lang="en-GB" b="1" dirty="0" err="1"/>
              <a:t>GetContent</a:t>
            </a:r>
            <a:r>
              <a:rPr lang="en-GB" b="1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9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D133-21E4-0048-AD87-0773962C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Content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D355-862A-A041-98E2-D4A0C240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fields are stored as key-value pairs in the repository</a:t>
            </a:r>
          </a:p>
          <a:p>
            <a:r>
              <a:rPr lang="en-US" dirty="0"/>
              <a:t>CMS will flatten lists including nested lists</a:t>
            </a:r>
          </a:p>
          <a:p>
            <a:pPr lvl="1"/>
            <a:r>
              <a:rPr lang="en-US" dirty="0"/>
              <a:t>A field with the list name is saved with the value set to the count of panels</a:t>
            </a:r>
          </a:p>
          <a:p>
            <a:pPr lvl="1"/>
            <a:r>
              <a:rPr lang="en-US" dirty="0"/>
              <a:t>An index number is appended to the field name – field:1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asset.GetPanels</a:t>
            </a:r>
            <a:r>
              <a:rPr lang="en-US" dirty="0"/>
              <a:t>(</a:t>
            </a:r>
            <a:r>
              <a:rPr lang="en-US" dirty="0" err="1"/>
              <a:t>panelName</a:t>
            </a:r>
            <a:r>
              <a:rPr lang="en-US" dirty="0"/>
              <a:t>) to process lists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panelEntry.GetPanels</a:t>
            </a:r>
            <a:r>
              <a:rPr lang="en-US" dirty="0"/>
              <a:t>(</a:t>
            </a:r>
            <a:r>
              <a:rPr lang="en-US" dirty="0" err="1"/>
              <a:t>panelName</a:t>
            </a:r>
            <a:r>
              <a:rPr lang="en-US" dirty="0"/>
              <a:t>) to process nested lists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panelEntry.GetFieldName</a:t>
            </a:r>
            <a:r>
              <a:rPr lang="en-US" dirty="0"/>
              <a:t>(</a:t>
            </a:r>
            <a:r>
              <a:rPr lang="en-US" dirty="0" err="1"/>
              <a:t>baseFieldName</a:t>
            </a:r>
            <a:r>
              <a:rPr lang="en-US" dirty="0"/>
              <a:t>) to get the actual repository field name if you need it</a:t>
            </a:r>
          </a:p>
        </p:txBody>
      </p:sp>
    </p:spTree>
    <p:extLst>
      <p:ext uri="{BB962C8B-B14F-4D97-AF65-F5344CB8AC3E}">
        <p14:creationId xmlns:p14="http://schemas.microsoft.com/office/powerpoint/2010/main" val="144742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D133-21E4-0048-AD87-0773962C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Content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D355-862A-A041-98E2-D4A0C240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CMS stores asset references like this: /{</a:t>
            </a:r>
            <a:r>
              <a:rPr lang="en-US" dirty="0" err="1"/>
              <a:t>cms</a:t>
            </a:r>
            <a:r>
              <a:rPr lang="en-US" dirty="0"/>
              <a:t>-instance}/</a:t>
            </a:r>
            <a:r>
              <a:rPr lang="en-US" dirty="0" err="1"/>
              <a:t>cpt_internal</a:t>
            </a:r>
            <a:r>
              <a:rPr lang="en-US" dirty="0"/>
              <a:t>/{asset-id}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Util.ReplaceCptInternals</a:t>
            </a:r>
            <a:r>
              <a:rPr lang="en-US" dirty="0"/>
              <a:t>(…) to replace references with the appropriate URL for the referenced asset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1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asset.SaveContent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Save all content fields from the given dictionary of field names to field values</a:t>
            </a:r>
          </a:p>
          <a:p>
            <a:r>
              <a:rPr lang="en-US" dirty="0"/>
              <a:t>Crucial for any scripts that need to access and/or process asset fields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Any existing fields with the same field name will have their field value updated</a:t>
            </a:r>
          </a:p>
          <a:p>
            <a:pPr lvl="1"/>
            <a:r>
              <a:rPr lang="en-US" dirty="0"/>
              <a:t>New fields in the dictionary will be added</a:t>
            </a:r>
          </a:p>
          <a:p>
            <a:pPr lvl="1"/>
            <a:r>
              <a:rPr lang="en-US" dirty="0"/>
              <a:t>Existing fields on the asset remain unaffected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void </a:t>
            </a:r>
            <a:r>
              <a:rPr lang="en-GB" b="1" dirty="0" err="1"/>
              <a:t>SaveContent</a:t>
            </a:r>
            <a:r>
              <a:rPr lang="en-GB" b="1" dirty="0"/>
              <a:t>(Dictionary&lt;</a:t>
            </a:r>
            <a:r>
              <a:rPr lang="en-GB" b="1" dirty="0" err="1"/>
              <a:t>String,String</a:t>
            </a:r>
            <a:r>
              <a:rPr lang="en-GB" b="1" dirty="0"/>
              <a:t>&gt;)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84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asset.SaveContent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 careful about the field names when you are </a:t>
            </a:r>
            <a:r>
              <a:rPr lang="en-US"/>
              <a:t>saving content </a:t>
            </a:r>
            <a:r>
              <a:rPr lang="en-US" dirty="0"/>
              <a:t>intended to be used with list panels – you must have the index numbers present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void </a:t>
            </a:r>
            <a:r>
              <a:rPr lang="en-GB" b="1" dirty="0" err="1"/>
              <a:t>SaveContent</a:t>
            </a:r>
            <a:r>
              <a:rPr lang="en-GB" b="1" dirty="0"/>
              <a:t>(Dictionary&lt;</a:t>
            </a:r>
            <a:r>
              <a:rPr lang="en-GB" b="1" dirty="0" err="1"/>
              <a:t>String,String</a:t>
            </a:r>
            <a:r>
              <a:rPr lang="en-GB" b="1" dirty="0"/>
              <a:t>&gt;)</a:t>
            </a:r>
          </a:p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FD7FA1-9036-F544-99C0-432D707AA066}"/>
              </a:ext>
            </a:extLst>
          </p:cNvPr>
          <p:cNvGrpSpPr/>
          <p:nvPr/>
        </p:nvGrpSpPr>
        <p:grpSpPr>
          <a:xfrm>
            <a:off x="0" y="-7687"/>
            <a:ext cx="9144001" cy="525985"/>
            <a:chOff x="0" y="-7687"/>
            <a:chExt cx="9144001" cy="52598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3C7F0C2-897D-F74B-924F-B5271E237750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2213BF9-87FA-2D4C-8506-15F701F68DAE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130BC5B-F45B-344D-8371-35C632C6C5C2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37376AB-7DDE-224D-940D-EEC0D9087F53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D9F15A7-11CE-A74A-9621-0F2D7E8F6A57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58C736B-4DFA-C640-9465-4506D0694B87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A02FC51-06D9-D346-82FE-4EAF4AC83E1C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AA89158-AE8F-B74D-8CD0-CB51607375E2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3F8E7D2-7C38-B144-9D03-AD99FC8D35D6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3AB433F-F46A-2945-812B-822B5B7F06DB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EA120E3-7B06-F640-9A18-C1C87942DAB7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7B0410-48C6-1242-9D06-85FD106B342A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CEEAE8D-09FC-5B49-94D0-DE240203B5ED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D68056C-27A9-A948-9218-106C1C26BEDB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094E262B-F14F-DE44-9345-C3C3CE6F60E4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F5FBA29-0D27-C549-B681-9FD67FF71CB6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448841C-79E5-EF43-BD49-D98BD56430D2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2E0689E-E513-BC42-A81F-7F189ADB2A39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0C3CA32-6DC1-9742-ACB4-A67A96479DF5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3913AB6-8CF9-9543-84AB-22715BBF65C4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5314856-0476-AE42-A49D-063DA734E98A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6925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asset.SaveContentField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Save a single content field – useful if you only need to add/update one field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void </a:t>
            </a:r>
            <a:r>
              <a:rPr lang="en-GB" b="1" dirty="0" err="1"/>
              <a:t>SaveContentField</a:t>
            </a:r>
            <a:r>
              <a:rPr lang="en-GB" b="1" dirty="0"/>
              <a:t>(String, String)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66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Template API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Working with workflow state</a:t>
            </a:r>
          </a:p>
        </p:txBody>
      </p:sp>
    </p:spTree>
    <p:extLst>
      <p:ext uri="{BB962C8B-B14F-4D97-AF65-F5344CB8AC3E}">
        <p14:creationId xmlns:p14="http://schemas.microsoft.com/office/powerpoint/2010/main" val="3287418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asset.Route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 the asset to the given workflow status</a:t>
            </a:r>
          </a:p>
          <a:p>
            <a:r>
              <a:rPr lang="en-US" dirty="0"/>
              <a:t>Publishing will include dependencies based on the given Boolean flag</a:t>
            </a:r>
          </a:p>
          <a:p>
            <a:r>
              <a:rPr lang="en-US" dirty="0"/>
              <a:t>Returns TRUE on success</a:t>
            </a:r>
          </a:p>
          <a:p>
            <a:r>
              <a:rPr lang="en-US" dirty="0"/>
              <a:t>If the method returns FALSE, check </a:t>
            </a:r>
            <a:r>
              <a:rPr lang="en-US" dirty="0" err="1"/>
              <a:t>context.Error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Boolean Route (Status, Boolean)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32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Asset.RouteAssets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 all assets in the given list to the given workflow status</a:t>
            </a:r>
          </a:p>
          <a:p>
            <a:r>
              <a:rPr lang="en-US" dirty="0"/>
              <a:t>Beneficial for batch/bulk updates</a:t>
            </a:r>
          </a:p>
          <a:p>
            <a:r>
              <a:rPr lang="en-US" dirty="0"/>
              <a:t>If there is any publishing triggered as a result, all publishing activity happens in the same job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</a:t>
            </a:r>
            <a:r>
              <a:rPr lang="en-GB" b="1" dirty="0" err="1"/>
              <a:t>RouteResponse</a:t>
            </a:r>
            <a:r>
              <a:rPr lang="en-GB" b="1" dirty="0"/>
              <a:t> </a:t>
            </a:r>
            <a:r>
              <a:rPr lang="en-GB" b="1" dirty="0" err="1"/>
              <a:t>RouteAssets</a:t>
            </a:r>
            <a:r>
              <a:rPr lang="en-GB" b="1" dirty="0"/>
              <a:t>(List&lt;int&gt;, Status, Boolean, Boolean)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542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asset.Publish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Trigger publishing of the asset without any workflow transitions</a:t>
            </a:r>
          </a:p>
          <a:p>
            <a:r>
              <a:rPr lang="en-US" dirty="0"/>
              <a:t>Publishing will include dependencies based on the given Boolean flag</a:t>
            </a:r>
          </a:p>
          <a:p>
            <a:r>
              <a:rPr lang="en-US" dirty="0"/>
              <a:t>Additional parameters can be passed – these will be available in the context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 err="1"/>
              <a:t>OutputContext.PublishingArgs</a:t>
            </a:r>
            <a:endParaRPr lang="en-US" dirty="0"/>
          </a:p>
          <a:p>
            <a:r>
              <a:rPr lang="en-US" dirty="0"/>
              <a:t>Returns TRUE on success</a:t>
            </a:r>
          </a:p>
          <a:p>
            <a:r>
              <a:rPr lang="en-US" dirty="0"/>
              <a:t>If the method returns FALSE, check </a:t>
            </a:r>
            <a:r>
              <a:rPr lang="en-US" dirty="0" err="1"/>
              <a:t>context.Error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Boolean Publish (Boolean, String)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98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Asset.GetLastPublishedLinks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5445"/>
            <a:ext cx="7886700" cy="2917278"/>
          </a:xfrm>
        </p:spPr>
        <p:txBody>
          <a:bodyPr>
            <a:normAutofit/>
          </a:bodyPr>
          <a:lstStyle/>
          <a:p>
            <a:r>
              <a:rPr lang="en-US" dirty="0"/>
              <a:t>Returns the last published link(s) for an asset</a:t>
            </a:r>
          </a:p>
          <a:p>
            <a:r>
              <a:rPr lang="en-US" dirty="0"/>
              <a:t>Very useful for making batch/bulk updates to a set of asset</a:t>
            </a:r>
          </a:p>
          <a:p>
            <a:r>
              <a:rPr lang="en-US" dirty="0"/>
              <a:t>DOES NOT</a:t>
            </a:r>
          </a:p>
          <a:p>
            <a:pPr lvl="1"/>
            <a:r>
              <a:rPr lang="en-US" dirty="0"/>
              <a:t>Give you the list of links by publishing status or publishing package</a:t>
            </a:r>
          </a:p>
          <a:p>
            <a:pPr lvl="1"/>
            <a:r>
              <a:rPr lang="en-US" dirty="0"/>
              <a:t>Show the URL(s) the asset would currently publish to – use </a:t>
            </a:r>
            <a:r>
              <a:rPr lang="en-US" dirty="0" err="1"/>
              <a:t>asset.GetLink</a:t>
            </a:r>
            <a:r>
              <a:rPr lang="en-US" dirty="0"/>
              <a:t>(…)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List&lt;string&gt; </a:t>
            </a:r>
            <a:r>
              <a:rPr lang="en-GB" b="1" dirty="0" err="1"/>
              <a:t>GetLastPublishedLinks</a:t>
            </a:r>
            <a:r>
              <a:rPr lang="en-GB" b="1" dirty="0"/>
              <a:t>(Boolean, </a:t>
            </a:r>
            <a:r>
              <a:rPr lang="en-GB" b="1" dirty="0" err="1"/>
              <a:t>ProtocolType</a:t>
            </a:r>
            <a:r>
              <a:rPr lang="en-GB" b="1" dirty="0"/>
              <a:t>)</a:t>
            </a:r>
          </a:p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27F358-3F01-A949-8E75-20A405F1700C}"/>
              </a:ext>
            </a:extLst>
          </p:cNvPr>
          <p:cNvGrpSpPr/>
          <p:nvPr/>
        </p:nvGrpSpPr>
        <p:grpSpPr>
          <a:xfrm>
            <a:off x="0" y="-7687"/>
            <a:ext cx="9144001" cy="525985"/>
            <a:chOff x="0" y="-7687"/>
            <a:chExt cx="9144001" cy="52598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5CAC7D5-6EB7-7D40-9BC4-77F90EE98D29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330D73-5B5D-7646-9349-52D9DFB9B40B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379D6FA-829D-7049-85C8-8EA4D49DAB1C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5475514-A67A-8747-A2FC-EA418BD71C7E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1141A7E-5D6D-E54B-9141-5DE11BBA4EE4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8E5AD82-483A-0E4B-921B-15FF3841A41C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C54062B-4BCC-BF47-980C-304492ED99D4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3C6E601-E9AE-C746-B7AD-690A693C5213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BE5F37D-57C5-2748-B4E1-2AC62FDED3B0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0E94D9D-0177-8548-8358-31EE58816564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6E0D65A-19B5-8240-A8EC-3B328B9224B6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1F74685-C87C-2F4D-8CB3-EB116322E4D6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6B24DD4-34E3-0740-8CF0-98219AA1C48D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3373040-6537-6C4C-8810-50001866E712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EB80B1D-E188-344B-AF66-7CFD62C21CDA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0C20D96-D7C2-F14E-9519-60BCC09607A4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B2980F8-B01C-8D4D-9620-B1D4468B1F59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60906EF-5A21-8A47-A177-67E8E375AD88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101B817-F8E5-1947-8CA0-27D37234E604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2F2E5BF-4704-704E-8D1A-07A8C7B7F557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9CC0599-B209-B54B-92EB-39A8BCDB4533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5825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Template API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Working with external services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Util.GetHttp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5445"/>
            <a:ext cx="7886700" cy="2917278"/>
          </a:xfrm>
        </p:spPr>
        <p:txBody>
          <a:bodyPr>
            <a:normAutofit/>
          </a:bodyPr>
          <a:lstStyle/>
          <a:p>
            <a:r>
              <a:rPr lang="en-US" dirty="0"/>
              <a:t>Sends an HTTP GET request to the given URL</a:t>
            </a:r>
          </a:p>
          <a:p>
            <a:r>
              <a:rPr lang="en-US" dirty="0"/>
              <a:t>Use </a:t>
            </a:r>
            <a:r>
              <a:rPr lang="en-US" dirty="0" err="1"/>
              <a:t>GetHttpParams</a:t>
            </a:r>
            <a:r>
              <a:rPr lang="en-US" dirty="0"/>
              <a:t> to:</a:t>
            </a:r>
          </a:p>
          <a:p>
            <a:pPr lvl="1"/>
            <a:r>
              <a:rPr lang="en-US" dirty="0"/>
              <a:t>Override the HTTP timeout (defaults to 30 seconds)</a:t>
            </a:r>
          </a:p>
          <a:p>
            <a:pPr lvl="1"/>
            <a:r>
              <a:rPr lang="en-US" dirty="0"/>
              <a:t>Add headers to the request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</a:t>
            </a:r>
            <a:r>
              <a:rPr lang="en-GB" b="1" dirty="0" err="1"/>
              <a:t>GetHttpResponse</a:t>
            </a:r>
            <a:r>
              <a:rPr lang="en-GB" b="1" dirty="0"/>
              <a:t> </a:t>
            </a:r>
            <a:r>
              <a:rPr lang="en-GB" b="1" dirty="0" err="1"/>
              <a:t>GetHttp</a:t>
            </a:r>
            <a:r>
              <a:rPr lang="en-GB" b="1" dirty="0"/>
              <a:t>(String, </a:t>
            </a:r>
            <a:r>
              <a:rPr lang="en-GB" b="1" dirty="0" err="1"/>
              <a:t>GetHttpParams</a:t>
            </a:r>
            <a:r>
              <a:rPr lang="en-GB" b="1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531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Util.PostHttp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5445"/>
            <a:ext cx="7886700" cy="2917278"/>
          </a:xfrm>
        </p:spPr>
        <p:txBody>
          <a:bodyPr>
            <a:normAutofit/>
          </a:bodyPr>
          <a:lstStyle/>
          <a:p>
            <a:r>
              <a:rPr lang="en-US" dirty="0"/>
              <a:t>Sends an HTTP POST request to the given URL</a:t>
            </a:r>
          </a:p>
          <a:p>
            <a:r>
              <a:rPr lang="en-US" dirty="0"/>
              <a:t>Use </a:t>
            </a:r>
            <a:r>
              <a:rPr lang="en-US" dirty="0" err="1"/>
              <a:t>PostHttpParams</a:t>
            </a:r>
            <a:r>
              <a:rPr lang="en-US" dirty="0"/>
              <a:t> to:</a:t>
            </a:r>
          </a:p>
          <a:p>
            <a:pPr lvl="1"/>
            <a:r>
              <a:rPr lang="en-US" dirty="0"/>
              <a:t>Override the HTTP timeout (defaults to 30 seconds)</a:t>
            </a:r>
          </a:p>
          <a:p>
            <a:pPr lvl="1"/>
            <a:r>
              <a:rPr lang="en-US" dirty="0"/>
              <a:t>Add headers to the request</a:t>
            </a:r>
          </a:p>
          <a:p>
            <a:pPr lvl="1"/>
            <a:r>
              <a:rPr lang="en-US" dirty="0"/>
              <a:t>Set the content type header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</a:t>
            </a:r>
            <a:r>
              <a:rPr lang="en-GB" b="1" dirty="0" err="1"/>
              <a:t>PostHttpResponse</a:t>
            </a:r>
            <a:r>
              <a:rPr lang="en-GB" b="1" dirty="0"/>
              <a:t> </a:t>
            </a:r>
            <a:r>
              <a:rPr lang="en-GB" b="1" dirty="0" err="1"/>
              <a:t>PostHttp</a:t>
            </a:r>
            <a:r>
              <a:rPr lang="en-GB" b="1" dirty="0"/>
              <a:t>(String, </a:t>
            </a:r>
            <a:r>
              <a:rPr lang="en-GB" b="1" dirty="0" err="1"/>
              <a:t>PostHttpParams</a:t>
            </a:r>
            <a:r>
              <a:rPr lang="en-GB" b="1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59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Util.SerialiseDataContractJson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5445"/>
            <a:ext cx="7886700" cy="2917278"/>
          </a:xfrm>
        </p:spPr>
        <p:txBody>
          <a:bodyPr>
            <a:normAutofit/>
          </a:bodyPr>
          <a:lstStyle/>
          <a:p>
            <a:r>
              <a:rPr lang="en-US" dirty="0" err="1"/>
              <a:t>Serialise</a:t>
            </a:r>
            <a:r>
              <a:rPr lang="en-US" dirty="0"/>
              <a:t> a C# class instance to JSON if the class has been decorated with </a:t>
            </a:r>
            <a:r>
              <a:rPr lang="en-US" dirty="0" err="1"/>
              <a:t>DataContract</a:t>
            </a:r>
            <a:r>
              <a:rPr lang="en-US" dirty="0"/>
              <a:t>, </a:t>
            </a:r>
            <a:r>
              <a:rPr lang="en-US" dirty="0" err="1"/>
              <a:t>DataMember</a:t>
            </a:r>
            <a:r>
              <a:rPr lang="en-US" dirty="0"/>
              <a:t> and </a:t>
            </a:r>
            <a:r>
              <a:rPr lang="en-US" dirty="0" err="1"/>
              <a:t>EnumMember</a:t>
            </a:r>
            <a:r>
              <a:rPr lang="en-US" dirty="0"/>
              <a:t> attributes</a:t>
            </a:r>
          </a:p>
          <a:p>
            <a:r>
              <a:rPr lang="en-US" dirty="0"/>
              <a:t>This is the safest way to create JSON as it takes care of any escaping that needs to happen to field names or field values.</a:t>
            </a:r>
          </a:p>
          <a:p>
            <a:r>
              <a:rPr lang="en-US" dirty="0"/>
              <a:t>Similar method exists to serialize to XML</a:t>
            </a:r>
          </a:p>
          <a:p>
            <a:r>
              <a:rPr lang="en-US" dirty="0"/>
              <a:t>Similar methods exist to deserialize JSON or XML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335CB-C9DA-3D47-A8A4-10C1DA442684}"/>
              </a:ext>
            </a:extLst>
          </p:cNvPr>
          <p:cNvSpPr txBox="1"/>
          <p:nvPr/>
        </p:nvSpPr>
        <p:spPr>
          <a:xfrm>
            <a:off x="628650" y="995452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public string </a:t>
            </a:r>
            <a:r>
              <a:rPr lang="en-US" dirty="0" err="1"/>
              <a:t>SerialiseDataContractJson</a:t>
            </a:r>
            <a:r>
              <a:rPr lang="en-GB" b="1" dirty="0"/>
              <a:t>(Object)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91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Exercise: Component Inventory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Developer CS template that:</a:t>
            </a:r>
          </a:p>
          <a:p>
            <a:pPr lvl="1"/>
            <a:r>
              <a:rPr lang="en-US" dirty="0"/>
              <a:t>Finds all component definitions in a Component Library; and</a:t>
            </a:r>
          </a:p>
          <a:p>
            <a:pPr lvl="1"/>
            <a:r>
              <a:rPr lang="en-US" dirty="0"/>
              <a:t>Render a list / table view.</a:t>
            </a:r>
          </a:p>
          <a:p>
            <a:pPr lvl="1"/>
            <a:r>
              <a:rPr lang="en-US" dirty="0"/>
              <a:t>For each component display:</a:t>
            </a:r>
          </a:p>
          <a:p>
            <a:pPr lvl="2"/>
            <a:r>
              <a:rPr lang="en-US" dirty="0"/>
              <a:t>Component path</a:t>
            </a:r>
          </a:p>
          <a:p>
            <a:pPr lvl="2"/>
            <a:r>
              <a:rPr lang="en-US" dirty="0"/>
              <a:t>Component dependencies (sub-components)</a:t>
            </a:r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744B-C9B9-314F-A767-42555FD6DC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99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Exercise: Component Inventory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Developer CS template that:</a:t>
            </a:r>
          </a:p>
          <a:p>
            <a:pPr lvl="1"/>
            <a:r>
              <a:rPr lang="en-US" dirty="0"/>
              <a:t>Finds all component definitions in a Component Library; and</a:t>
            </a:r>
          </a:p>
          <a:p>
            <a:pPr lvl="1"/>
            <a:r>
              <a:rPr lang="en-US" dirty="0"/>
              <a:t>Render a list / table view.</a:t>
            </a:r>
          </a:p>
          <a:p>
            <a:pPr lvl="1"/>
            <a:r>
              <a:rPr lang="en-US" dirty="0"/>
              <a:t>For each component display:</a:t>
            </a:r>
          </a:p>
          <a:p>
            <a:pPr lvl="2"/>
            <a:r>
              <a:rPr lang="en-US" dirty="0"/>
              <a:t>Component path</a:t>
            </a:r>
          </a:p>
          <a:p>
            <a:pPr lvl="2"/>
            <a:r>
              <a:rPr lang="en-US" dirty="0"/>
              <a:t>Component dependencies (sub-components)</a:t>
            </a:r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744B-C9B9-314F-A767-42555FD6D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74784" cy="3263504"/>
          </a:xfrm>
        </p:spPr>
        <p:txBody>
          <a:bodyPr/>
          <a:lstStyle/>
          <a:p>
            <a:r>
              <a:rPr lang="en-US" dirty="0"/>
              <a:t>Hints</a:t>
            </a:r>
          </a:p>
          <a:p>
            <a:pPr lvl="1"/>
            <a:r>
              <a:rPr lang="en-US" dirty="0" err="1"/>
              <a:t>Asset.GetFilterList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AssetPropertyNames.TemplateLabel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Asset.Load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asset.AssetPath</a:t>
            </a:r>
            <a:r>
              <a:rPr lang="en-US" dirty="0"/>
              <a:t> (only need a partial)</a:t>
            </a:r>
          </a:p>
          <a:p>
            <a:pPr lvl="1"/>
            <a:r>
              <a:rPr lang="en-US" dirty="0"/>
              <a:t>Check content fields</a:t>
            </a:r>
          </a:p>
        </p:txBody>
      </p:sp>
    </p:spTree>
    <p:extLst>
      <p:ext uri="{BB962C8B-B14F-4D97-AF65-F5344CB8AC3E}">
        <p14:creationId xmlns:p14="http://schemas.microsoft.com/office/powerpoint/2010/main" val="3742171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Exercise: Tweet when page published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Developer CS template that will be used as a workflow script</a:t>
            </a:r>
          </a:p>
          <a:p>
            <a:r>
              <a:rPr lang="en-US" dirty="0"/>
              <a:t>Script should:</a:t>
            </a:r>
          </a:p>
          <a:p>
            <a:pPr lvl="1"/>
            <a:r>
              <a:rPr lang="en-US" dirty="0"/>
              <a:t>Check for the presence of a field ‘</a:t>
            </a:r>
            <a:r>
              <a:rPr lang="en-US" dirty="0" err="1"/>
              <a:t>twitter_announce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If present and the value is ‘true’</a:t>
            </a:r>
          </a:p>
          <a:p>
            <a:pPr lvl="2"/>
            <a:r>
              <a:rPr lang="en-US" dirty="0"/>
              <a:t>Call a webhook to announce a page has been published.</a:t>
            </a:r>
          </a:p>
          <a:p>
            <a:pPr lvl="2"/>
            <a:r>
              <a:rPr lang="en-US" dirty="0"/>
              <a:t>Use fields ‘</a:t>
            </a:r>
            <a:r>
              <a:rPr lang="en-US" dirty="0" err="1"/>
              <a:t>twitter_announce_message</a:t>
            </a:r>
            <a:r>
              <a:rPr lang="en-US" dirty="0"/>
              <a:t>’ and the asset’s URL.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744B-C9B9-314F-A767-42555FD6DC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000" dirty="0"/>
              <a:t>POST </a:t>
            </a:r>
            <a:r>
              <a:rPr lang="en-US" sz="1000" dirty="0">
                <a:hlinkClick r:id="rId2"/>
              </a:rPr>
              <a:t>https://hook.integromat.com/9568bn457st5amt6kp71on8xvqi4j9us</a:t>
            </a:r>
            <a:endParaRPr lang="en-US" sz="1000" dirty="0"/>
          </a:p>
          <a:p>
            <a:r>
              <a:rPr lang="en-US" sz="1000" dirty="0"/>
              <a:t>{“message”: “…”, ”</a:t>
            </a:r>
            <a:r>
              <a:rPr lang="en-US" sz="1000" dirty="0" err="1"/>
              <a:t>url</a:t>
            </a:r>
            <a:r>
              <a:rPr lang="en-US" sz="1000" dirty="0"/>
              <a:t>”: “…”}</a:t>
            </a:r>
          </a:p>
        </p:txBody>
      </p:sp>
    </p:spTree>
    <p:extLst>
      <p:ext uri="{BB962C8B-B14F-4D97-AF65-F5344CB8AC3E}">
        <p14:creationId xmlns:p14="http://schemas.microsoft.com/office/powerpoint/2010/main" val="3411600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Props1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972B30-F4E8-490F-9BB9-05499B7EBC39}"/>
</file>

<file path=customXml/itemProps3.xml><?xml version="1.0" encoding="utf-8"?>
<ds:datastoreItem xmlns:ds="http://schemas.openxmlformats.org/officeDocument/2006/customXml" ds:itemID="{4D8A7410-A7F7-4148-B700-E9738C1947C6}">
  <ds:schemaRefs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05f533-87d1-4f38-9402-182c267fffbc"/>
    <ds:schemaRef ds:uri="631082eb-fd3e-4e0d-a348-9c93b2e913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25320</TotalTime>
  <Words>2124</Words>
  <Application>Microsoft Macintosh PowerPoint</Application>
  <PresentationFormat>On-screen Show (16:9)</PresentationFormat>
  <Paragraphs>296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Courier</vt:lpstr>
      <vt:lpstr>Office Theme</vt:lpstr>
      <vt:lpstr>Scripting the CMS</vt:lpstr>
      <vt:lpstr>Introduction</vt:lpstr>
      <vt:lpstr>Objectives</vt:lpstr>
      <vt:lpstr>Template comparison</vt:lpstr>
      <vt:lpstr>Use cases</vt:lpstr>
      <vt:lpstr>Caution</vt:lpstr>
      <vt:lpstr>Template API Methods</vt:lpstr>
      <vt:lpstr>asset.GetFilterList</vt:lpstr>
      <vt:lpstr>asset.GetFilterList</vt:lpstr>
      <vt:lpstr>Asset.Load</vt:lpstr>
      <vt:lpstr>Asset.LoadDirect</vt:lpstr>
      <vt:lpstr>Asset.CreateNewAsset</vt:lpstr>
      <vt:lpstr>Template API Methods</vt:lpstr>
      <vt:lpstr>asset.GetContent</vt:lpstr>
      <vt:lpstr>CMS Content Fields</vt:lpstr>
      <vt:lpstr>CMS Content Fields</vt:lpstr>
      <vt:lpstr>asset.SaveContent</vt:lpstr>
      <vt:lpstr>asset.SaveContent</vt:lpstr>
      <vt:lpstr>asset.SaveContentField</vt:lpstr>
      <vt:lpstr>Template API Methods</vt:lpstr>
      <vt:lpstr>asset.Route</vt:lpstr>
      <vt:lpstr>Asset.RouteAssets</vt:lpstr>
      <vt:lpstr>asset.Publish</vt:lpstr>
      <vt:lpstr>Asset.GetLastPublishedLinks</vt:lpstr>
      <vt:lpstr>Template API Methods</vt:lpstr>
      <vt:lpstr>Util.GetHttp</vt:lpstr>
      <vt:lpstr>Util.PostHttp</vt:lpstr>
      <vt:lpstr>Util.SerialiseDataContractJson</vt:lpstr>
      <vt:lpstr>Lab Exercise: Component Inventory</vt:lpstr>
      <vt:lpstr>Lab Exercise: Component Inventory</vt:lpstr>
      <vt:lpstr>Lab Exercise: Tweet when page published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398</cp:revision>
  <dcterms:created xsi:type="dcterms:W3CDTF">2014-05-29T23:54:45Z</dcterms:created>
  <dcterms:modified xsi:type="dcterms:W3CDTF">2020-08-12T12:14:27Z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