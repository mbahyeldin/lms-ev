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8" r:id="rId5"/>
  </p:sldMasterIdLst>
  <p:notesMasterIdLst>
    <p:notesMasterId r:id="rId14"/>
  </p:notesMasterIdLst>
  <p:handoutMasterIdLst>
    <p:handoutMasterId r:id="rId15"/>
  </p:handoutMasterIdLst>
  <p:sldIdLst>
    <p:sldId id="491" r:id="rId6"/>
    <p:sldId id="494" r:id="rId7"/>
    <p:sldId id="499" r:id="rId8"/>
    <p:sldId id="495" r:id="rId9"/>
    <p:sldId id="593" r:id="rId10"/>
    <p:sldId id="256" r:id="rId11"/>
    <p:sldId id="258" r:id="rId12"/>
    <p:sldId id="5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rownpeak Architecture" id="{1E04763C-7AE0-E544-812C-C28FC06E5BCF}">
          <p14:sldIdLst>
            <p14:sldId id="491"/>
            <p14:sldId id="494"/>
            <p14:sldId id="499"/>
            <p14:sldId id="495"/>
            <p14:sldId id="593"/>
            <p14:sldId id="256"/>
            <p14:sldId id="258"/>
            <p14:sldId id="5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217E"/>
    <a:srgbClr val="FFFFFF"/>
    <a:srgbClr val="E63512"/>
    <a:srgbClr val="CDC1CE"/>
    <a:srgbClr val="001A2A"/>
    <a:srgbClr val="00243A"/>
    <a:srgbClr val="BBD7E4"/>
    <a:srgbClr val="EB5D41"/>
    <a:srgbClr val="000000"/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41" autoAdjust="0"/>
    <p:restoredTop sz="93680" autoAdjust="0"/>
  </p:normalViewPr>
  <p:slideViewPr>
    <p:cSldViewPr snapToGrid="0" snapToObjects="1">
      <p:cViewPr varScale="1">
        <p:scale>
          <a:sx n="79" d="100"/>
          <a:sy n="79" d="100"/>
        </p:scale>
        <p:origin x="965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285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Hafez" userId="34bf7f85-a868-4b28-b526-2ac6b9d77974" providerId="ADAL" clId="{0AC241D1-FEDE-4748-822C-277A91E5F7F0}"/>
    <pc:docChg chg="delSld modSection">
      <pc:chgData name="Mohamed Hafez" userId="34bf7f85-a868-4b28-b526-2ac6b9d77974" providerId="ADAL" clId="{0AC241D1-FEDE-4748-822C-277A91E5F7F0}" dt="2021-06-24T18:00:54.633" v="0" actId="47"/>
      <pc:docMkLst>
        <pc:docMk/>
      </pc:docMkLst>
      <pc:sldChg chg="del">
        <pc:chgData name="Mohamed Hafez" userId="34bf7f85-a868-4b28-b526-2ac6b9d77974" providerId="ADAL" clId="{0AC241D1-FEDE-4748-822C-277A91E5F7F0}" dt="2021-06-24T18:00:54.633" v="0" actId="47"/>
        <pc:sldMkLst>
          <pc:docMk/>
          <pc:sldMk cId="299019706" sldId="591"/>
        </pc:sldMkLst>
      </pc:sldChg>
    </pc:docChg>
  </pc:docChgLst>
  <pc:docChgLst>
    <pc:chgData name="Mohamed Hafez" userId="85c20a92-f701-48c7-9df5-e58be70a85e6" providerId="ADAL" clId="{23CA1310-BA79-4694-9F6F-4339872C180D}"/>
    <pc:docChg chg="custSel modSld">
      <pc:chgData name="Mohamed Hafez" userId="85c20a92-f701-48c7-9df5-e58be70a85e6" providerId="ADAL" clId="{23CA1310-BA79-4694-9F6F-4339872C180D}" dt="2022-01-13T20:35:29.691" v="16" actId="20577"/>
      <pc:docMkLst>
        <pc:docMk/>
      </pc:docMkLst>
      <pc:sldChg chg="modSp mod">
        <pc:chgData name="Mohamed Hafez" userId="85c20a92-f701-48c7-9df5-e58be70a85e6" providerId="ADAL" clId="{23CA1310-BA79-4694-9F6F-4339872C180D}" dt="2022-01-13T20:35:29.691" v="16" actId="20577"/>
        <pc:sldMkLst>
          <pc:docMk/>
          <pc:sldMk cId="1783824815" sldId="494"/>
        </pc:sldMkLst>
        <pc:spChg chg="mod">
          <ac:chgData name="Mohamed Hafez" userId="85c20a92-f701-48c7-9df5-e58be70a85e6" providerId="ADAL" clId="{23CA1310-BA79-4694-9F6F-4339872C180D}" dt="2022-01-13T20:35:29.691" v="16" actId="20577"/>
          <ac:spMkLst>
            <pc:docMk/>
            <pc:sldMk cId="1783824815" sldId="494"/>
            <ac:spMk id="3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BF3E1-6EB0-49B2-BE21-95FD6D65287C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8709-76BA-47F5-BE96-E7D79077C6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88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5E8DC-D403-4C3E-9D7C-A5781DFE6FBD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492B2-0604-42AD-A7EE-8F45FD6F85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8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53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065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990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492B2-0604-42AD-A7EE-8F45FD6F85E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212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w/ PS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668" y="2171"/>
            <a:ext cx="67499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71033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>
      <p:ext uri="{BB962C8B-B14F-4D97-AF65-F5344CB8AC3E}">
        <p14:creationId xmlns:p14="http://schemas.microsoft.com/office/powerpoint/2010/main" val="832633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47786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>
      <p:ext uri="{BB962C8B-B14F-4D97-AF65-F5344CB8AC3E}">
        <p14:creationId xmlns:p14="http://schemas.microsoft.com/office/powerpoint/2010/main" val="37295440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31294" y="-1484"/>
            <a:ext cx="6121119" cy="6870116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rgbClr val="B5217E"/>
                </a:solidFill>
                <a:latin typeface="+mn-lt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31295" y="-14286"/>
            <a:ext cx="6738111" cy="3681221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908391" y="4347786"/>
            <a:ext cx="9144000" cy="293957"/>
          </a:xfrm>
        </p:spPr>
        <p:txBody>
          <a:bodyPr>
            <a:normAutofit/>
          </a:bodyPr>
          <a:lstStyle>
            <a:lvl1pPr marL="0" indent="0" algn="r">
              <a:buNone/>
              <a:defRPr sz="1600" baseline="0">
                <a:solidFill>
                  <a:srgbClr val="00395A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Name of Presenter / Job Title / Date</a:t>
            </a:r>
          </a:p>
        </p:txBody>
      </p:sp>
    </p:spTree>
    <p:extLst>
      <p:ext uri="{BB962C8B-B14F-4D97-AF65-F5344CB8AC3E}">
        <p14:creationId xmlns:p14="http://schemas.microsoft.com/office/powerpoint/2010/main" val="1781730254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2229180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967533138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aseline="0"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6858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aseline="0"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gradFill>
            <a:gsLst>
              <a:gs pos="0">
                <a:schemeClr val="tx1">
                  <a:lumMod val="90000"/>
                  <a:lumOff val="10000"/>
                </a:schemeClr>
              </a:gs>
              <a:gs pos="54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rgbClr val="001A2A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061145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+mn-lt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+mn-lt"/>
                <a:ea typeface="Calibri Light" charset="0"/>
                <a:cs typeface="Calibri Light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800" b="0" i="0">
                <a:solidFill>
                  <a:srgbClr val="00395A"/>
                </a:solidFill>
                <a:latin typeface="+mn-lt"/>
                <a:ea typeface="Calibri Light" charset="0"/>
                <a:cs typeface="Calibri Light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>
                <a:latin typeface="+mn-lt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>
                <a:latin typeface="+mn-lt"/>
              </a:defRPr>
            </a:lvl4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9523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5" y="0"/>
            <a:ext cx="12191395" cy="6886576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14853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1346" y="5895601"/>
            <a:ext cx="10729912" cy="456236"/>
          </a:xfr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731346" y="457196"/>
            <a:ext cx="10729912" cy="5300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2946" y="703878"/>
            <a:ext cx="7986713" cy="490032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600075" y="5738436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97680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1636" y="-12192"/>
            <a:ext cx="12240000" cy="6897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34757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605" y="-14288"/>
            <a:ext cx="12191395" cy="6886576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10044" y="2532137"/>
            <a:ext cx="9144000" cy="1120331"/>
          </a:xfrm>
        </p:spPr>
        <p:txBody>
          <a:bodyPr anchor="b">
            <a:normAutofit/>
          </a:bodyPr>
          <a:lstStyle>
            <a:lvl1pPr algn="r">
              <a:defRPr sz="4400" b="0" i="0" baseline="0">
                <a:ln>
                  <a:noFill/>
                </a:ln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10044" y="3652468"/>
            <a:ext cx="9144000" cy="456236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2368" y="858602"/>
            <a:ext cx="2148810" cy="40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00585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F8F09-7D3A-D943-A5F1-20432652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840C-AF81-A149-A472-B6E5093C7284}" type="datetimeFigureOut">
              <a:rPr lang="en-US" smtClean="0"/>
              <a:t>1/13/2022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1921A-D3A9-6940-B227-18904D1E5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D694F-19A2-E14E-9653-827E99F7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E0BB-4E67-D649-B2F5-F0554E052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92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6.jp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8DA93-349A-FE4F-9D40-97DBBA2B1A4C}" type="datetimeFigureOut">
              <a:rPr lang="en-US" smtClean="0"/>
              <a:t>1/13/2022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34DDC-89ED-2A40-BF57-81CE12B188D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70" r:id="rId3"/>
    <p:sldLayoutId id="2147483661" r:id="rId4"/>
    <p:sldLayoutId id="2147483662" r:id="rId5"/>
    <p:sldLayoutId id="2147483650" r:id="rId6"/>
    <p:sldLayoutId id="2147483671" r:id="rId7"/>
    <p:sldLayoutId id="2147483652" r:id="rId8"/>
    <p:sldLayoutId id="2147483663" r:id="rId9"/>
    <p:sldLayoutId id="2147483664" r:id="rId10"/>
    <p:sldLayoutId id="2147483665" r:id="rId11"/>
    <p:sldLayoutId id="2147483669" r:id="rId12"/>
    <p:sldLayoutId id="2147483690" r:id="rId13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415E7-76CE-6D4A-8492-ABFF9DCD3F6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1/13/2022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7676F-40EF-E142-8E6D-70AA2D65BA9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545" y="0"/>
            <a:ext cx="12188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Crownpeak Architecture</a:t>
            </a:r>
          </a:p>
        </p:txBody>
      </p:sp>
    </p:spTree>
    <p:extLst>
      <p:ext uri="{BB962C8B-B14F-4D97-AF65-F5344CB8AC3E}">
        <p14:creationId xmlns:p14="http://schemas.microsoft.com/office/powerpoint/2010/main" val="61225667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Architecture: Management vs. Delivery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32144" y="1728751"/>
            <a:ext cx="3420495" cy="2302670"/>
          </a:xfrm>
          <a:prstGeom prst="roundRect">
            <a:avLst>
              <a:gd name="adj" fmla="val 5085"/>
            </a:avLst>
          </a:prstGeom>
          <a:solidFill>
            <a:schemeClr val="tx1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91135" y="2153171"/>
            <a:ext cx="3110076" cy="1673309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rmAutofit/>
          </a:bodyPr>
          <a:lstStyle/>
          <a:p>
            <a:pPr algn="ctr"/>
            <a:endParaRPr lang="en-US" dirty="0">
              <a:solidFill>
                <a:schemeClr val="bg1"/>
              </a:solidFill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  <a:latin typeface="Myriad Web Pro"/>
            </a:endParaRPr>
          </a:p>
        </p:txBody>
      </p:sp>
      <p:pic>
        <p:nvPicPr>
          <p:cNvPr id="14" name="Picture 13" descr="tablet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8542" y="2278270"/>
            <a:ext cx="1014917" cy="76804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037738" y="4165443"/>
            <a:ext cx="3414900" cy="1836540"/>
          </a:xfrm>
          <a:prstGeom prst="roundRect">
            <a:avLst>
              <a:gd name="adj" fmla="val 5085"/>
            </a:avLst>
          </a:prstGeom>
          <a:solidFill>
            <a:schemeClr val="tx1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Dynamic Services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47927" y="1728752"/>
            <a:ext cx="4703470" cy="4273233"/>
          </a:xfrm>
          <a:prstGeom prst="roundRect">
            <a:avLst>
              <a:gd name="adj" fmla="val 5085"/>
            </a:avLst>
          </a:prstGeom>
          <a:solidFill>
            <a:schemeClr val="tx1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Core Content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9139" y="2153170"/>
            <a:ext cx="3932725" cy="2012273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Template-Managed I/O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4802" y="3146267"/>
            <a:ext cx="3542297" cy="63261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Policies and Standards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53463" y="2375965"/>
            <a:ext cx="1633803" cy="55388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Input Processing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89682" y="5228484"/>
            <a:ext cx="2903776" cy="511962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Search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9682" y="4531939"/>
            <a:ext cx="2903776" cy="55870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Targeting and Personalization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9139" y="4531938"/>
            <a:ext cx="3932725" cy="1208508"/>
          </a:xfrm>
          <a:prstGeom prst="roundRect">
            <a:avLst>
              <a:gd name="adj" fmla="val 10755"/>
            </a:avLst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Repository</a:t>
            </a:r>
          </a:p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(content, security, workflow)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467666" y="1576839"/>
            <a:ext cx="2012538" cy="967978"/>
            <a:chOff x="423231" y="4775847"/>
            <a:chExt cx="2012538" cy="967978"/>
          </a:xfrm>
        </p:grpSpPr>
        <p:pic>
          <p:nvPicPr>
            <p:cNvPr id="24" name="Picture 23" descr="user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3231" y="5055342"/>
              <a:ext cx="808070" cy="615198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13105" y="4775847"/>
              <a:ext cx="4283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2">
                      <a:lumMod val="75000"/>
                    </a:schemeClr>
                  </a:solidFill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End</a:t>
              </a:r>
            </a:p>
            <a:p>
              <a:pPr algn="ctr"/>
              <a:r>
                <a:rPr lang="en-US" sz="1000" dirty="0">
                  <a:solidFill>
                    <a:schemeClr val="tx2">
                      <a:lumMod val="75000"/>
                    </a:schemeClr>
                  </a:solidFill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User</a:t>
              </a:r>
            </a:p>
          </p:txBody>
        </p:sp>
        <p:sp>
          <p:nvSpPr>
            <p:cNvPr id="26" name="Up Arrow 25"/>
            <p:cNvSpPr/>
            <p:nvPr/>
          </p:nvSpPr>
          <p:spPr>
            <a:xfrm rot="17351497" flipV="1">
              <a:off x="1489616" y="4797672"/>
              <a:ext cx="514774" cy="1377532"/>
            </a:xfrm>
            <a:prstGeom prst="up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48801" y="2925572"/>
            <a:ext cx="2081938" cy="1136340"/>
            <a:chOff x="1133283" y="4056297"/>
            <a:chExt cx="2081938" cy="1136340"/>
          </a:xfrm>
        </p:grpSpPr>
        <p:pic>
          <p:nvPicPr>
            <p:cNvPr id="28" name="Picture 27" descr="server-system.png"/>
            <p:cNvPicPr>
              <a:picLocks noChangeAspect="1"/>
            </p:cNvPicPr>
            <p:nvPr/>
          </p:nvPicPr>
          <p:blipFill>
            <a:blip r:embed="rId6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33283" y="4336618"/>
              <a:ext cx="809495" cy="614436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1260549" y="4946416"/>
              <a:ext cx="55496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2">
                      <a:lumMod val="75000"/>
                    </a:schemeClr>
                  </a:solidFill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System</a:t>
              </a:r>
            </a:p>
          </p:txBody>
        </p:sp>
        <p:sp>
          <p:nvSpPr>
            <p:cNvPr id="30" name="Up Arrow 29"/>
            <p:cNvSpPr/>
            <p:nvPr/>
          </p:nvSpPr>
          <p:spPr>
            <a:xfrm rot="14937573" flipV="1">
              <a:off x="2249133" y="3604983"/>
              <a:ext cx="514774" cy="1417402"/>
            </a:xfrm>
            <a:prstGeom prst="up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1" name="Picture 30" descr="website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1136" y="2233834"/>
            <a:ext cx="1011869" cy="768045"/>
          </a:xfrm>
          <a:prstGeom prst="rect">
            <a:avLst/>
          </a:prstGeom>
        </p:spPr>
      </p:pic>
      <p:pic>
        <p:nvPicPr>
          <p:cNvPr id="32" name="Picture 31" descr="smartphone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120" y="2327613"/>
            <a:ext cx="1011869" cy="768045"/>
          </a:xfrm>
          <a:prstGeom prst="rect">
            <a:avLst/>
          </a:prstGeom>
        </p:spPr>
      </p:pic>
      <p:pic>
        <p:nvPicPr>
          <p:cNvPr id="33" name="Picture 32" descr="xml.png"/>
          <p:cNvPicPr>
            <a:picLocks noChangeAspect="1"/>
          </p:cNvPicPr>
          <p:nvPr/>
        </p:nvPicPr>
        <p:blipFill>
          <a:blip r:embed="rId9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7037" y="3095657"/>
            <a:ext cx="811934" cy="614436"/>
          </a:xfrm>
          <a:prstGeom prst="rect">
            <a:avLst/>
          </a:prstGeom>
        </p:spPr>
      </p:pic>
      <p:pic>
        <p:nvPicPr>
          <p:cNvPr id="34" name="Picture 33" descr="web-service.png"/>
          <p:cNvPicPr>
            <a:picLocks noChangeAspect="1"/>
          </p:cNvPicPr>
          <p:nvPr/>
        </p:nvPicPr>
        <p:blipFill>
          <a:blip r:embed="rId10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8989" y="3174589"/>
            <a:ext cx="809495" cy="614436"/>
          </a:xfrm>
          <a:prstGeom prst="rect">
            <a:avLst/>
          </a:prstGeom>
        </p:spPr>
      </p:pic>
      <p:sp>
        <p:nvSpPr>
          <p:cNvPr id="35" name="Up Arrow 34"/>
          <p:cNvSpPr/>
          <p:nvPr/>
        </p:nvSpPr>
        <p:spPr>
          <a:xfrm flipV="1">
            <a:off x="2975210" y="4149930"/>
            <a:ext cx="643467" cy="502218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Up Arrow 35"/>
          <p:cNvSpPr/>
          <p:nvPr/>
        </p:nvSpPr>
        <p:spPr>
          <a:xfrm rot="10800000" flipV="1">
            <a:off x="4924775" y="4149930"/>
            <a:ext cx="643467" cy="502218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1655215" y="1117597"/>
            <a:ext cx="8800111" cy="5737059"/>
            <a:chOff x="131214" y="914400"/>
            <a:chExt cx="8800111" cy="5737059"/>
          </a:xfrm>
        </p:grpSpPr>
        <p:sp>
          <p:nvSpPr>
            <p:cNvPr id="38" name="Right Arrow 37"/>
            <p:cNvSpPr/>
            <p:nvPr/>
          </p:nvSpPr>
          <p:spPr>
            <a:xfrm>
              <a:off x="5508143" y="5841981"/>
              <a:ext cx="3423182" cy="609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Presentation layer</a:t>
              </a:r>
            </a:p>
          </p:txBody>
        </p:sp>
        <p:sp>
          <p:nvSpPr>
            <p:cNvPr id="39" name="Left Arrow 38"/>
            <p:cNvSpPr/>
            <p:nvPr/>
          </p:nvSpPr>
          <p:spPr>
            <a:xfrm>
              <a:off x="131214" y="5851296"/>
              <a:ext cx="4896182" cy="600285"/>
            </a:xfrm>
            <a:prstGeom prst="lef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Content Management</a:t>
              </a:r>
            </a:p>
          </p:txBody>
        </p:sp>
        <p:cxnSp>
          <p:nvCxnSpPr>
            <p:cNvPr id="40" name="Straight Connector 39"/>
            <p:cNvCxnSpPr/>
            <p:nvPr/>
          </p:nvCxnSpPr>
          <p:spPr>
            <a:xfrm>
              <a:off x="5273791" y="914400"/>
              <a:ext cx="0" cy="5737059"/>
            </a:xfrm>
            <a:prstGeom prst="line">
              <a:avLst/>
            </a:prstGeom>
            <a:ln>
              <a:solidFill>
                <a:schemeClr val="bg2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ounded Rectangle 40"/>
          <p:cNvSpPr/>
          <p:nvPr/>
        </p:nvSpPr>
        <p:spPr>
          <a:xfrm>
            <a:off x="4215951" y="2363827"/>
            <a:ext cx="1767023" cy="55388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Output Generation</a:t>
            </a:r>
          </a:p>
        </p:txBody>
      </p:sp>
      <p:sp>
        <p:nvSpPr>
          <p:cNvPr id="42" name="Up Arrow 41"/>
          <p:cNvSpPr/>
          <p:nvPr/>
        </p:nvSpPr>
        <p:spPr>
          <a:xfrm rot="5400000">
            <a:off x="6363360" y="1926207"/>
            <a:ext cx="515386" cy="1401984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Up Arrow 42"/>
          <p:cNvSpPr/>
          <p:nvPr/>
        </p:nvSpPr>
        <p:spPr>
          <a:xfrm rot="8669017">
            <a:off x="6376424" y="2534309"/>
            <a:ext cx="554559" cy="2416883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2481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35" grpId="0" animBg="1"/>
      <p:bldP spid="35" grpId="1" animBg="1"/>
      <p:bldP spid="36" grpId="0" animBg="1"/>
      <p:bldP spid="41" grpId="0" animBg="1"/>
      <p:bldP spid="42" grpId="0" animBg="1"/>
      <p:bldP spid="4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Architecture: Any Deployment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32144" y="1525555"/>
            <a:ext cx="3420495" cy="4273233"/>
          </a:xfrm>
          <a:prstGeom prst="roundRect">
            <a:avLst>
              <a:gd name="adj" fmla="val 5085"/>
            </a:avLst>
          </a:prstGeom>
          <a:solidFill>
            <a:schemeClr val="tx1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927" y="1525556"/>
            <a:ext cx="4703470" cy="4273233"/>
          </a:xfrm>
          <a:prstGeom prst="roundRect">
            <a:avLst>
              <a:gd name="adj" fmla="val 5085"/>
            </a:avLst>
          </a:prstGeom>
          <a:solidFill>
            <a:schemeClr val="tx1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Core Content Management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9139" y="1949974"/>
            <a:ext cx="3932725" cy="2012273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Template-Managed I/O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44802" y="2943071"/>
            <a:ext cx="3542297" cy="63261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Policies and Standards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3463" y="2172769"/>
            <a:ext cx="1633803" cy="55388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Input Processing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9139" y="4328742"/>
            <a:ext cx="3932725" cy="1208508"/>
          </a:xfrm>
          <a:prstGeom prst="roundRect">
            <a:avLst>
              <a:gd name="adj" fmla="val 10755"/>
            </a:avLst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Repository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91135" y="1949975"/>
            <a:ext cx="3110076" cy="1075169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Crownpeak-Hosted Platform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1655215" y="914401"/>
            <a:ext cx="8800111" cy="5737059"/>
            <a:chOff x="131214" y="914400"/>
            <a:chExt cx="8800111" cy="5737059"/>
          </a:xfrm>
        </p:grpSpPr>
        <p:sp>
          <p:nvSpPr>
            <p:cNvPr id="30" name="Right Arrow 29"/>
            <p:cNvSpPr/>
            <p:nvPr/>
          </p:nvSpPr>
          <p:spPr>
            <a:xfrm>
              <a:off x="5508143" y="5841981"/>
              <a:ext cx="3423182" cy="609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Content Delivery</a:t>
              </a:r>
            </a:p>
          </p:txBody>
        </p:sp>
        <p:sp>
          <p:nvSpPr>
            <p:cNvPr id="31" name="Left Arrow 30"/>
            <p:cNvSpPr/>
            <p:nvPr/>
          </p:nvSpPr>
          <p:spPr>
            <a:xfrm>
              <a:off x="131214" y="5851296"/>
              <a:ext cx="4896182" cy="600285"/>
            </a:xfrm>
            <a:prstGeom prst="lef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Content Management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5273791" y="914400"/>
              <a:ext cx="0" cy="5737059"/>
            </a:xfrm>
            <a:prstGeom prst="line">
              <a:avLst/>
            </a:prstGeom>
            <a:ln>
              <a:solidFill>
                <a:schemeClr val="bg2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Up Arrow 32"/>
          <p:cNvSpPr/>
          <p:nvPr/>
        </p:nvSpPr>
        <p:spPr>
          <a:xfrm rot="5400000">
            <a:off x="6363360" y="1716709"/>
            <a:ext cx="515386" cy="1401984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/>
          <p:cNvSpPr/>
          <p:nvPr/>
        </p:nvSpPr>
        <p:spPr>
          <a:xfrm>
            <a:off x="7191135" y="3205034"/>
            <a:ext cx="3110076" cy="1075169"/>
          </a:xfrm>
          <a:prstGeom prst="roundRect">
            <a:avLst>
              <a:gd name="adj" fmla="val 4831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Customer-Hosted Platform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91135" y="4460093"/>
            <a:ext cx="3110076" cy="1075169"/>
          </a:xfrm>
          <a:prstGeom prst="roundRect">
            <a:avLst>
              <a:gd name="adj" fmla="val 4831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Third-Party Service</a:t>
            </a:r>
          </a:p>
          <a:p>
            <a:pPr algn="ctr"/>
            <a:r>
              <a:rPr lang="en-US" sz="19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(e.g. AWS, Azure, Rackspace, Google Cloud)</a:t>
            </a:r>
          </a:p>
        </p:txBody>
      </p:sp>
      <p:sp>
        <p:nvSpPr>
          <p:cNvPr id="36" name="Up Arrow 35"/>
          <p:cNvSpPr/>
          <p:nvPr/>
        </p:nvSpPr>
        <p:spPr>
          <a:xfrm rot="7560668">
            <a:off x="6293704" y="2040957"/>
            <a:ext cx="515386" cy="1760060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Up Arrow 36"/>
          <p:cNvSpPr/>
          <p:nvPr/>
        </p:nvSpPr>
        <p:spPr>
          <a:xfrm rot="8855055">
            <a:off x="6352790" y="2237988"/>
            <a:ext cx="515386" cy="2662121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4215951" y="2160631"/>
            <a:ext cx="1767023" cy="55388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Output Generation</a:t>
            </a:r>
          </a:p>
        </p:txBody>
      </p:sp>
    </p:spTree>
    <p:extLst>
      <p:ext uri="{BB962C8B-B14F-4D97-AF65-F5344CB8AC3E}">
        <p14:creationId xmlns:p14="http://schemas.microsoft.com/office/powerpoint/2010/main" val="10201000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88386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Architecture: Any Technology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32144" y="1525555"/>
            <a:ext cx="3420495" cy="4273233"/>
          </a:xfrm>
          <a:prstGeom prst="roundRect">
            <a:avLst>
              <a:gd name="adj" fmla="val 5085"/>
            </a:avLst>
          </a:prstGeom>
          <a:solidFill>
            <a:schemeClr val="tx1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Delivery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847927" y="1525556"/>
            <a:ext cx="4703470" cy="4273233"/>
          </a:xfrm>
          <a:prstGeom prst="roundRect">
            <a:avLst>
              <a:gd name="adj" fmla="val 5085"/>
            </a:avLst>
          </a:prstGeom>
          <a:solidFill>
            <a:schemeClr val="tx1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>
            <a:no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Core Content Management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49139" y="1949974"/>
            <a:ext cx="3932725" cy="2012273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Template-Managed I/O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44802" y="2943071"/>
            <a:ext cx="3542297" cy="63261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Policies and Standards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53463" y="2172769"/>
            <a:ext cx="1633803" cy="55388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Input Processing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49139" y="4328742"/>
            <a:ext cx="3932725" cy="1208508"/>
          </a:xfrm>
          <a:prstGeom prst="roundRect">
            <a:avLst>
              <a:gd name="adj" fmla="val 10755"/>
            </a:avLst>
          </a:prstGeom>
          <a:solidFill>
            <a:schemeClr val="accent2"/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Repository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91135" y="2088331"/>
            <a:ext cx="2008372" cy="723700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Java EE (JSP)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655215" y="914401"/>
            <a:ext cx="8800111" cy="5737059"/>
            <a:chOff x="131214" y="914400"/>
            <a:chExt cx="8800111" cy="5737059"/>
          </a:xfrm>
        </p:grpSpPr>
        <p:sp>
          <p:nvSpPr>
            <p:cNvPr id="52" name="Right Arrow 51"/>
            <p:cNvSpPr/>
            <p:nvPr/>
          </p:nvSpPr>
          <p:spPr>
            <a:xfrm>
              <a:off x="5508143" y="5841981"/>
              <a:ext cx="3423182" cy="6096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Content Delivery</a:t>
              </a:r>
            </a:p>
          </p:txBody>
        </p:sp>
        <p:sp>
          <p:nvSpPr>
            <p:cNvPr id="53" name="Left Arrow 52"/>
            <p:cNvSpPr/>
            <p:nvPr/>
          </p:nvSpPr>
          <p:spPr>
            <a:xfrm>
              <a:off x="131214" y="5851296"/>
              <a:ext cx="4896182" cy="600285"/>
            </a:xfrm>
            <a:prstGeom prst="left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effectLst>
                    <a:outerShdw blurRad="50800" dist="38100" dir="2700000" algn="tl" rotWithShape="0">
                      <a:srgbClr val="000000">
                        <a:alpha val="43000"/>
                      </a:srgbClr>
                    </a:outerShdw>
                  </a:effectLst>
                  <a:cs typeface="Myriad Pro"/>
                </a:rPr>
                <a:t>Content Management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5273791" y="914400"/>
              <a:ext cx="0" cy="5737059"/>
            </a:xfrm>
            <a:prstGeom prst="line">
              <a:avLst/>
            </a:prstGeom>
            <a:ln>
              <a:solidFill>
                <a:schemeClr val="bg2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Up Arrow 54"/>
          <p:cNvSpPr/>
          <p:nvPr/>
        </p:nvSpPr>
        <p:spPr>
          <a:xfrm rot="5400000">
            <a:off x="6363360" y="1716709"/>
            <a:ext cx="515386" cy="1401984"/>
          </a:xfrm>
          <a:prstGeom prst="up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/>
          <p:cNvSpPr/>
          <p:nvPr/>
        </p:nvSpPr>
        <p:spPr>
          <a:xfrm>
            <a:off x="4215951" y="2160631"/>
            <a:ext cx="1767023" cy="55388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Output Generation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18154" y="2654214"/>
            <a:ext cx="2008372" cy="723700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.Net (ASP)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45173" y="3220097"/>
            <a:ext cx="2008372" cy="723700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PHP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72192" y="3785980"/>
            <a:ext cx="2008372" cy="723700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XML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99211" y="4351863"/>
            <a:ext cx="2008372" cy="723700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JSON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326231" y="4917744"/>
            <a:ext cx="2008372" cy="723700"/>
          </a:xfrm>
          <a:prstGeom prst="roundRect">
            <a:avLst>
              <a:gd name="adj" fmla="val 4831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63500" dir="5400000" algn="tl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>
            <a:norm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anything </a:t>
            </a:r>
            <a:r>
              <a:rPr lang="is-IS" sz="2400" dirty="0">
                <a:solidFill>
                  <a:schemeClr val="bg1"/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</a:rPr>
              <a:t>…</a:t>
            </a:r>
            <a:endParaRPr lang="en-US" sz="2400" dirty="0">
              <a:solidFill>
                <a:schemeClr val="bg1"/>
              </a:solidFill>
              <a:effectLst>
                <a:outerShdw blurRad="50800" dist="38100" dir="27000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4698412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5" grpId="0" animBg="1"/>
      <p:bldP spid="57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3C78-6FF2-3441-8E02-80958ED2DE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Implementation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05E61-4C3C-4C47-A7B7-AA3BF27190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6113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BA2C35FF-CB65-DB4A-AC59-3C8AFBB2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CMS Implementation Process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EE0A868-8A1E-E145-872D-7124B94ADA48}"/>
              </a:ext>
            </a:extLst>
          </p:cNvPr>
          <p:cNvSpPr/>
          <p:nvPr/>
        </p:nvSpPr>
        <p:spPr>
          <a:xfrm>
            <a:off x="2942143" y="2831593"/>
            <a:ext cx="2320303" cy="928121"/>
          </a:xfrm>
          <a:custGeom>
            <a:avLst/>
            <a:gdLst>
              <a:gd name="connsiteX0" fmla="*/ 0 w 2320303"/>
              <a:gd name="connsiteY0" fmla="*/ 0 h 928121"/>
              <a:gd name="connsiteX1" fmla="*/ 1856243 w 2320303"/>
              <a:gd name="connsiteY1" fmla="*/ 0 h 928121"/>
              <a:gd name="connsiteX2" fmla="*/ 2320303 w 2320303"/>
              <a:gd name="connsiteY2" fmla="*/ 464061 h 928121"/>
              <a:gd name="connsiteX3" fmla="*/ 1856243 w 2320303"/>
              <a:gd name="connsiteY3" fmla="*/ 928121 h 928121"/>
              <a:gd name="connsiteX4" fmla="*/ 0 w 2320303"/>
              <a:gd name="connsiteY4" fmla="*/ 928121 h 928121"/>
              <a:gd name="connsiteX5" fmla="*/ 464061 w 2320303"/>
              <a:gd name="connsiteY5" fmla="*/ 464061 h 928121"/>
              <a:gd name="connsiteX6" fmla="*/ 0 w 2320303"/>
              <a:gd name="connsiteY6" fmla="*/ 0 h 928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0303" h="928121">
                <a:moveTo>
                  <a:pt x="0" y="0"/>
                </a:moveTo>
                <a:lnTo>
                  <a:pt x="1856243" y="0"/>
                </a:lnTo>
                <a:lnTo>
                  <a:pt x="2320303" y="464061"/>
                </a:lnTo>
                <a:lnTo>
                  <a:pt x="1856243" y="928121"/>
                </a:lnTo>
                <a:lnTo>
                  <a:pt x="0" y="928121"/>
                </a:lnTo>
                <a:lnTo>
                  <a:pt x="464061" y="46406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8069" tIns="21336" rIns="485396" bIns="21336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/>
              <a:t>Final design / build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B590AE-1F6B-2149-9980-98F73647157D}"/>
              </a:ext>
            </a:extLst>
          </p:cNvPr>
          <p:cNvGrpSpPr/>
          <p:nvPr/>
        </p:nvGrpSpPr>
        <p:grpSpPr>
          <a:xfrm>
            <a:off x="2942143" y="7048506"/>
            <a:ext cx="4395512" cy="928122"/>
            <a:chOff x="2942143" y="7048506"/>
            <a:chExt cx="4395512" cy="928122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92AEC9F-B8E6-D943-8A5B-BAE7C8A72EC4}"/>
                </a:ext>
              </a:extLst>
            </p:cNvPr>
            <p:cNvSpPr/>
            <p:nvPr/>
          </p:nvSpPr>
          <p:spPr>
            <a:xfrm>
              <a:off x="2942143" y="7048507"/>
              <a:ext cx="2320303" cy="928121"/>
            </a:xfrm>
            <a:custGeom>
              <a:avLst/>
              <a:gdLst>
                <a:gd name="connsiteX0" fmla="*/ 0 w 2320303"/>
                <a:gd name="connsiteY0" fmla="*/ 0 h 928121"/>
                <a:gd name="connsiteX1" fmla="*/ 1856243 w 2320303"/>
                <a:gd name="connsiteY1" fmla="*/ 0 h 928121"/>
                <a:gd name="connsiteX2" fmla="*/ 2320303 w 2320303"/>
                <a:gd name="connsiteY2" fmla="*/ 464061 h 928121"/>
                <a:gd name="connsiteX3" fmla="*/ 1856243 w 2320303"/>
                <a:gd name="connsiteY3" fmla="*/ 928121 h 928121"/>
                <a:gd name="connsiteX4" fmla="*/ 0 w 2320303"/>
                <a:gd name="connsiteY4" fmla="*/ 928121 h 928121"/>
                <a:gd name="connsiteX5" fmla="*/ 464061 w 2320303"/>
                <a:gd name="connsiteY5" fmla="*/ 464061 h 928121"/>
                <a:gd name="connsiteX6" fmla="*/ 0 w 2320303"/>
                <a:gd name="connsiteY6" fmla="*/ 0 h 92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303" h="928121">
                  <a:moveTo>
                    <a:pt x="0" y="0"/>
                  </a:moveTo>
                  <a:lnTo>
                    <a:pt x="1856243" y="0"/>
                  </a:lnTo>
                  <a:lnTo>
                    <a:pt x="2320303" y="464061"/>
                  </a:lnTo>
                  <a:lnTo>
                    <a:pt x="1856243" y="928121"/>
                  </a:lnTo>
                  <a:lnTo>
                    <a:pt x="0" y="928121"/>
                  </a:lnTo>
                  <a:lnTo>
                    <a:pt x="464061" y="464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8069" tIns="21336" rIns="485396" bIns="2133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CMS Implementation</a:t>
              </a: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9AE7E387-F0A6-0C48-B399-D1A07FBA72B6}"/>
                </a:ext>
              </a:extLst>
            </p:cNvPr>
            <p:cNvSpPr/>
            <p:nvPr/>
          </p:nvSpPr>
          <p:spPr>
            <a:xfrm>
              <a:off x="5017352" y="7048506"/>
              <a:ext cx="2320303" cy="928121"/>
            </a:xfrm>
            <a:custGeom>
              <a:avLst/>
              <a:gdLst>
                <a:gd name="connsiteX0" fmla="*/ 0 w 2320303"/>
                <a:gd name="connsiteY0" fmla="*/ 0 h 928121"/>
                <a:gd name="connsiteX1" fmla="*/ 1856243 w 2320303"/>
                <a:gd name="connsiteY1" fmla="*/ 0 h 928121"/>
                <a:gd name="connsiteX2" fmla="*/ 2320303 w 2320303"/>
                <a:gd name="connsiteY2" fmla="*/ 464061 h 928121"/>
                <a:gd name="connsiteX3" fmla="*/ 1856243 w 2320303"/>
                <a:gd name="connsiteY3" fmla="*/ 928121 h 928121"/>
                <a:gd name="connsiteX4" fmla="*/ 0 w 2320303"/>
                <a:gd name="connsiteY4" fmla="*/ 928121 h 928121"/>
                <a:gd name="connsiteX5" fmla="*/ 464061 w 2320303"/>
                <a:gd name="connsiteY5" fmla="*/ 464061 h 928121"/>
                <a:gd name="connsiteX6" fmla="*/ 0 w 2320303"/>
                <a:gd name="connsiteY6" fmla="*/ 0 h 92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303" h="928121">
                  <a:moveTo>
                    <a:pt x="0" y="0"/>
                  </a:moveTo>
                  <a:lnTo>
                    <a:pt x="1856243" y="0"/>
                  </a:lnTo>
                  <a:lnTo>
                    <a:pt x="2320303" y="464061"/>
                  </a:lnTo>
                  <a:lnTo>
                    <a:pt x="1856243" y="928121"/>
                  </a:lnTo>
                  <a:lnTo>
                    <a:pt x="0" y="928121"/>
                  </a:lnTo>
                  <a:lnTo>
                    <a:pt x="464061" y="464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8069" tIns="21336" rIns="485396" bIns="2133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Content Entry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C27AD-0484-B34D-8903-4D3F6DE8E68F}"/>
              </a:ext>
            </a:extLst>
          </p:cNvPr>
          <p:cNvGrpSpPr/>
          <p:nvPr/>
        </p:nvGrpSpPr>
        <p:grpSpPr>
          <a:xfrm>
            <a:off x="5017353" y="2831593"/>
            <a:ext cx="4395513" cy="928121"/>
            <a:chOff x="5017353" y="2831593"/>
            <a:chExt cx="4395513" cy="928121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F27966A-FA8D-E14E-AA21-A77EDAF9237C}"/>
                </a:ext>
              </a:extLst>
            </p:cNvPr>
            <p:cNvSpPr/>
            <p:nvPr/>
          </p:nvSpPr>
          <p:spPr>
            <a:xfrm>
              <a:off x="5017353" y="2831593"/>
              <a:ext cx="2320303" cy="928121"/>
            </a:xfrm>
            <a:custGeom>
              <a:avLst/>
              <a:gdLst>
                <a:gd name="connsiteX0" fmla="*/ 0 w 2320303"/>
                <a:gd name="connsiteY0" fmla="*/ 0 h 928121"/>
                <a:gd name="connsiteX1" fmla="*/ 1856243 w 2320303"/>
                <a:gd name="connsiteY1" fmla="*/ 0 h 928121"/>
                <a:gd name="connsiteX2" fmla="*/ 2320303 w 2320303"/>
                <a:gd name="connsiteY2" fmla="*/ 464061 h 928121"/>
                <a:gd name="connsiteX3" fmla="*/ 1856243 w 2320303"/>
                <a:gd name="connsiteY3" fmla="*/ 928121 h 928121"/>
                <a:gd name="connsiteX4" fmla="*/ 0 w 2320303"/>
                <a:gd name="connsiteY4" fmla="*/ 928121 h 928121"/>
                <a:gd name="connsiteX5" fmla="*/ 464061 w 2320303"/>
                <a:gd name="connsiteY5" fmla="*/ 464061 h 928121"/>
                <a:gd name="connsiteX6" fmla="*/ 0 w 2320303"/>
                <a:gd name="connsiteY6" fmla="*/ 0 h 92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303" h="928121">
                  <a:moveTo>
                    <a:pt x="0" y="0"/>
                  </a:moveTo>
                  <a:lnTo>
                    <a:pt x="1856243" y="0"/>
                  </a:lnTo>
                  <a:lnTo>
                    <a:pt x="2320303" y="464061"/>
                  </a:lnTo>
                  <a:lnTo>
                    <a:pt x="1856243" y="928121"/>
                  </a:lnTo>
                  <a:lnTo>
                    <a:pt x="0" y="928121"/>
                  </a:lnTo>
                  <a:lnTo>
                    <a:pt x="464061" y="4640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8069" tIns="21336" rIns="485396" bIns="2133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Acceptance Testing</a:t>
              </a: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2F737DB-0554-FD47-92D8-83FC14DA0C0D}"/>
                </a:ext>
              </a:extLst>
            </p:cNvPr>
            <p:cNvSpPr/>
            <p:nvPr/>
          </p:nvSpPr>
          <p:spPr>
            <a:xfrm>
              <a:off x="7092563" y="2831593"/>
              <a:ext cx="2320303" cy="928121"/>
            </a:xfrm>
            <a:custGeom>
              <a:avLst/>
              <a:gdLst>
                <a:gd name="connsiteX0" fmla="*/ 0 w 2320303"/>
                <a:gd name="connsiteY0" fmla="*/ 0 h 928121"/>
                <a:gd name="connsiteX1" fmla="*/ 1856243 w 2320303"/>
                <a:gd name="connsiteY1" fmla="*/ 0 h 928121"/>
                <a:gd name="connsiteX2" fmla="*/ 2320303 w 2320303"/>
                <a:gd name="connsiteY2" fmla="*/ 464061 h 928121"/>
                <a:gd name="connsiteX3" fmla="*/ 1856243 w 2320303"/>
                <a:gd name="connsiteY3" fmla="*/ 928121 h 928121"/>
                <a:gd name="connsiteX4" fmla="*/ 0 w 2320303"/>
                <a:gd name="connsiteY4" fmla="*/ 928121 h 928121"/>
                <a:gd name="connsiteX5" fmla="*/ 464061 w 2320303"/>
                <a:gd name="connsiteY5" fmla="*/ 464061 h 928121"/>
                <a:gd name="connsiteX6" fmla="*/ 0 w 2320303"/>
                <a:gd name="connsiteY6" fmla="*/ 0 h 92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303" h="928121">
                  <a:moveTo>
                    <a:pt x="0" y="0"/>
                  </a:moveTo>
                  <a:lnTo>
                    <a:pt x="1856243" y="0"/>
                  </a:lnTo>
                  <a:lnTo>
                    <a:pt x="2320303" y="464061"/>
                  </a:lnTo>
                  <a:lnTo>
                    <a:pt x="1856243" y="928121"/>
                  </a:lnTo>
                  <a:lnTo>
                    <a:pt x="0" y="928121"/>
                  </a:lnTo>
                  <a:lnTo>
                    <a:pt x="464061" y="46406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28069" tIns="21336" rIns="485396" bIns="2133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Launch</a:t>
              </a:r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EEF690A5-1D95-AC49-B09D-1C8797F39B04}"/>
              </a:ext>
            </a:extLst>
          </p:cNvPr>
          <p:cNvSpPr/>
          <p:nvPr/>
        </p:nvSpPr>
        <p:spPr>
          <a:xfrm>
            <a:off x="866933" y="2831592"/>
            <a:ext cx="2320303" cy="928121"/>
          </a:xfrm>
          <a:custGeom>
            <a:avLst/>
            <a:gdLst>
              <a:gd name="connsiteX0" fmla="*/ 0 w 2320303"/>
              <a:gd name="connsiteY0" fmla="*/ 0 h 928121"/>
              <a:gd name="connsiteX1" fmla="*/ 1856243 w 2320303"/>
              <a:gd name="connsiteY1" fmla="*/ 0 h 928121"/>
              <a:gd name="connsiteX2" fmla="*/ 2320303 w 2320303"/>
              <a:gd name="connsiteY2" fmla="*/ 464061 h 928121"/>
              <a:gd name="connsiteX3" fmla="*/ 1856243 w 2320303"/>
              <a:gd name="connsiteY3" fmla="*/ 928121 h 928121"/>
              <a:gd name="connsiteX4" fmla="*/ 0 w 2320303"/>
              <a:gd name="connsiteY4" fmla="*/ 928121 h 928121"/>
              <a:gd name="connsiteX5" fmla="*/ 464061 w 2320303"/>
              <a:gd name="connsiteY5" fmla="*/ 464061 h 928121"/>
              <a:gd name="connsiteX6" fmla="*/ 0 w 2320303"/>
              <a:gd name="connsiteY6" fmla="*/ 0 h 928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0303" h="928121">
                <a:moveTo>
                  <a:pt x="0" y="0"/>
                </a:moveTo>
                <a:lnTo>
                  <a:pt x="1856243" y="0"/>
                </a:lnTo>
                <a:lnTo>
                  <a:pt x="2320303" y="464061"/>
                </a:lnTo>
                <a:lnTo>
                  <a:pt x="1856243" y="928121"/>
                </a:lnTo>
                <a:lnTo>
                  <a:pt x="0" y="928121"/>
                </a:lnTo>
                <a:lnTo>
                  <a:pt x="464061" y="46406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8069" tIns="21336" rIns="485396" bIns="21336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dirty="0"/>
              <a:t>Design iterations</a:t>
            </a:r>
            <a:endParaRPr lang="en-US" sz="1600" kern="1200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0FD2BC-0363-F244-AD02-A72BFACA973E}"/>
              </a:ext>
            </a:extLst>
          </p:cNvPr>
          <p:cNvSpPr/>
          <p:nvPr/>
        </p:nvSpPr>
        <p:spPr>
          <a:xfrm>
            <a:off x="9167773" y="2831591"/>
            <a:ext cx="2320303" cy="928121"/>
          </a:xfrm>
          <a:custGeom>
            <a:avLst/>
            <a:gdLst>
              <a:gd name="connsiteX0" fmla="*/ 0 w 2320303"/>
              <a:gd name="connsiteY0" fmla="*/ 0 h 928121"/>
              <a:gd name="connsiteX1" fmla="*/ 1856243 w 2320303"/>
              <a:gd name="connsiteY1" fmla="*/ 0 h 928121"/>
              <a:gd name="connsiteX2" fmla="*/ 2320303 w 2320303"/>
              <a:gd name="connsiteY2" fmla="*/ 464061 h 928121"/>
              <a:gd name="connsiteX3" fmla="*/ 1856243 w 2320303"/>
              <a:gd name="connsiteY3" fmla="*/ 928121 h 928121"/>
              <a:gd name="connsiteX4" fmla="*/ 0 w 2320303"/>
              <a:gd name="connsiteY4" fmla="*/ 928121 h 928121"/>
              <a:gd name="connsiteX5" fmla="*/ 464061 w 2320303"/>
              <a:gd name="connsiteY5" fmla="*/ 464061 h 928121"/>
              <a:gd name="connsiteX6" fmla="*/ 0 w 2320303"/>
              <a:gd name="connsiteY6" fmla="*/ 0 h 928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0303" h="928121">
                <a:moveTo>
                  <a:pt x="0" y="0"/>
                </a:moveTo>
                <a:lnTo>
                  <a:pt x="1856243" y="0"/>
                </a:lnTo>
                <a:lnTo>
                  <a:pt x="2320303" y="464061"/>
                </a:lnTo>
                <a:lnTo>
                  <a:pt x="1856243" y="928121"/>
                </a:lnTo>
                <a:lnTo>
                  <a:pt x="0" y="928121"/>
                </a:lnTo>
                <a:lnTo>
                  <a:pt x="464061" y="46406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28069" tIns="21336" rIns="485396" bIns="21336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dirty="0"/>
              <a:t>Maintenance</a:t>
            </a:r>
            <a:endParaRPr lang="en-US" sz="1600" kern="1200" dirty="0"/>
          </a:p>
        </p:txBody>
      </p:sp>
    </p:spTree>
    <p:extLst>
      <p:ext uri="{BB962C8B-B14F-4D97-AF65-F5344CB8AC3E}">
        <p14:creationId xmlns:p14="http://schemas.microsoft.com/office/powerpoint/2010/main" val="40167134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44444E-6 L -0.17253 -0.00047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33" y="-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02 0.00138 L 0.17005 0.00138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9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4.375E-6 -3.7037E-7 L -0.00325 -0.61528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" y="-3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B33E10C-8EEF-DC4E-9AA7-9B75EE1AA28D}"/>
              </a:ext>
            </a:extLst>
          </p:cNvPr>
          <p:cNvSpPr/>
          <p:nvPr/>
        </p:nvSpPr>
        <p:spPr>
          <a:xfrm>
            <a:off x="4860000" y="3688336"/>
            <a:ext cx="2520000" cy="316966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sz="2000" dirty="0">
                <a:latin typeface="CombiNumerals Ltd" pitchFamily="2" charset="0"/>
              </a:rPr>
              <a:t>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Avenir Next Condensed Medium" panose="020B0506020202020204" pitchFamily="34" charset="0"/>
              </a:rPr>
              <a:t>Digital assets uploaded</a:t>
            </a:r>
            <a:br>
              <a:rPr lang="en-US" sz="1400" dirty="0">
                <a:latin typeface="Avenir Next Condensed Medium" panose="020B0506020202020204" pitchFamily="34" charset="0"/>
              </a:rPr>
            </a:br>
            <a:r>
              <a:rPr lang="en-US" sz="1400" dirty="0">
                <a:latin typeface="Avenir Next Condensed Medium" panose="020B0506020202020204" pitchFamily="34" charset="0"/>
              </a:rPr>
              <a:t>as-is.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Avenir Next Condensed Medium" panose="020B0506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Avenir Next Condensed Medium" panose="020B0506020202020204" pitchFamily="34" charset="0"/>
              </a:rPr>
              <a:t>Create CMS templates for each archetype.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Avenir Next Condensed Medium" panose="020B0506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Avenir Next Condensed Medium" panose="020B0506020202020204" pitchFamily="34" charset="0"/>
              </a:rPr>
              <a:t>Create CMS models to allow creation of content assets using the templates.</a:t>
            </a:r>
          </a:p>
          <a:p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45226A-E999-2249-9350-B49B04473AB1}"/>
              </a:ext>
            </a:extLst>
          </p:cNvPr>
          <p:cNvSpPr/>
          <p:nvPr/>
        </p:nvSpPr>
        <p:spPr>
          <a:xfrm>
            <a:off x="7380000" y="3688336"/>
            <a:ext cx="2520000" cy="3169664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sz="2000" dirty="0">
                <a:latin typeface="CombiNumerals Ltd" pitchFamily="2" charset="0"/>
              </a:rPr>
              <a:t>r</a:t>
            </a:r>
          </a:p>
          <a:p>
            <a:r>
              <a:rPr lang="en-US" sz="1400" dirty="0">
                <a:latin typeface="Avenir Next Condensed Medium" panose="020B0506020202020204" pitchFamily="34" charset="0"/>
              </a:rPr>
              <a:t>Use CMS models to create content assets.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F256C0-ADF3-2343-9CE1-0AFA5ED262F5}"/>
              </a:ext>
            </a:extLst>
          </p:cNvPr>
          <p:cNvSpPr/>
          <p:nvPr/>
        </p:nvSpPr>
        <p:spPr>
          <a:xfrm>
            <a:off x="2340000" y="3688336"/>
            <a:ext cx="2520000" cy="31698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sz="2000" dirty="0">
                <a:latin typeface="CombiNumerals Ltd" pitchFamily="2" charset="0"/>
              </a:rPr>
              <a:t>w</a:t>
            </a:r>
            <a:endParaRPr lang="en-US" sz="2000" dirty="0">
              <a:latin typeface="Avenir Next Condensed Medium" panose="020B0506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Avenir Next Condensed Medium" panose="020B0506020202020204" pitchFamily="34" charset="0"/>
              </a:rPr>
              <a:t>Split resources into</a:t>
            </a:r>
          </a:p>
          <a:p>
            <a:pPr marL="581025" lvl="1" indent="-2222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Next Condensed Medium" panose="020B0506020202020204" pitchFamily="34" charset="0"/>
              </a:rPr>
              <a:t>“digital assets” (no content management) such as </a:t>
            </a:r>
            <a:r>
              <a:rPr lang="en-US" sz="1400" dirty="0" err="1">
                <a:latin typeface="Avenir Next Condensed Medium" panose="020B0506020202020204" pitchFamily="34" charset="0"/>
              </a:rPr>
              <a:t>png</a:t>
            </a:r>
            <a:r>
              <a:rPr lang="en-US" sz="1400" dirty="0">
                <a:latin typeface="Avenir Next Condensed Medium" panose="020B0506020202020204" pitchFamily="34" charset="0"/>
              </a:rPr>
              <a:t>, jpg, mp4, </a:t>
            </a:r>
            <a:r>
              <a:rPr lang="en-US" sz="1400" dirty="0" err="1">
                <a:latin typeface="Avenir Next Condensed Medium" panose="020B0506020202020204" pitchFamily="34" charset="0"/>
              </a:rPr>
              <a:t>js</a:t>
            </a:r>
            <a:r>
              <a:rPr lang="en-US" sz="1400" dirty="0">
                <a:latin typeface="Avenir Next Condensed Medium" panose="020B0506020202020204" pitchFamily="34" charset="0"/>
              </a:rPr>
              <a:t>?, </a:t>
            </a:r>
            <a:r>
              <a:rPr lang="en-US" sz="1400" dirty="0" err="1">
                <a:latin typeface="Avenir Next Condensed Medium" panose="020B0506020202020204" pitchFamily="34" charset="0"/>
              </a:rPr>
              <a:t>css</a:t>
            </a:r>
            <a:r>
              <a:rPr lang="en-US" sz="1400" dirty="0">
                <a:latin typeface="Avenir Next Condensed Medium" panose="020B0506020202020204" pitchFamily="34" charset="0"/>
              </a:rPr>
              <a:t>? etc.; and</a:t>
            </a:r>
          </a:p>
          <a:p>
            <a:pPr marL="581025" lvl="1" indent="-2222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Next Condensed Medium" panose="020B0506020202020204" pitchFamily="34" charset="0"/>
              </a:rPr>
              <a:t>“templated assets” (content management required).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latin typeface="Avenir Next Condensed Medium" panose="020B0506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Avenir Next Condensed Medium" panose="020B0506020202020204" pitchFamily="34" charset="0"/>
              </a:rPr>
              <a:t>Identify page / elements “archetypes” (landing page, press release, article etc.)</a:t>
            </a:r>
          </a:p>
          <a:p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061166-51B6-024F-B0D3-7259C672543D}"/>
              </a:ext>
            </a:extLst>
          </p:cNvPr>
          <p:cNvSpPr/>
          <p:nvPr/>
        </p:nvSpPr>
        <p:spPr>
          <a:xfrm>
            <a:off x="0" y="3688336"/>
            <a:ext cx="2340000" cy="316966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sz="2000" dirty="0">
                <a:latin typeface="CombiNumerals Ltd" pitchFamily="2" charset="0"/>
              </a:rPr>
              <a:t>q</a:t>
            </a:r>
          </a:p>
          <a:p>
            <a:r>
              <a:rPr lang="en-US" sz="1400" dirty="0">
                <a:latin typeface="Avenir Next Condensed Medium" panose="020B0506020202020204" pitchFamily="34" charset="0"/>
              </a:rPr>
              <a:t>Final build resources.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FE052C-DAF4-574E-A801-B52E6ECD6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16" y="422399"/>
            <a:ext cx="11394768" cy="2934275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D821956-8767-9A4D-88A8-D71E756AFE0D}"/>
              </a:ext>
            </a:extLst>
          </p:cNvPr>
          <p:cNvSpPr/>
          <p:nvPr/>
        </p:nvSpPr>
        <p:spPr>
          <a:xfrm>
            <a:off x="9900000" y="3688336"/>
            <a:ext cx="2340000" cy="3169664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sz="2000" dirty="0">
                <a:latin typeface="CombiNumerals Ltd" pitchFamily="2" charset="0"/>
              </a:rPr>
              <a:t>t</a:t>
            </a:r>
          </a:p>
          <a:p>
            <a:r>
              <a:rPr lang="en-US" sz="1400" dirty="0">
                <a:latin typeface="Avenir Next Condensed Medium" panose="020B0506020202020204" pitchFamily="34" charset="0"/>
              </a:rPr>
              <a:t>Publish all assets.</a:t>
            </a:r>
          </a:p>
        </p:txBody>
      </p:sp>
    </p:spTree>
    <p:extLst>
      <p:ext uri="{BB962C8B-B14F-4D97-AF65-F5344CB8AC3E}">
        <p14:creationId xmlns:p14="http://schemas.microsoft.com/office/powerpoint/2010/main" val="116284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5" grpId="0" animBg="1"/>
      <p:bldP spid="6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ED1A-683B-4C4D-B84A-4E714369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Approaches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DE978-2E82-764C-BFB1-FEE603406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1603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Component Library</a:t>
            </a:r>
          </a:p>
          <a:p>
            <a:r>
              <a:rPr lang="en-US" dirty="0"/>
              <a:t>Design- or markup-centric</a:t>
            </a:r>
          </a:p>
          <a:p>
            <a:r>
              <a:rPr lang="en-US" dirty="0"/>
              <a:t>Uses code generation</a:t>
            </a:r>
          </a:p>
          <a:p>
            <a:pPr>
              <a:buFont typeface="Apple Color Emoji" pitchFamily="2" charset="0"/>
              <a:buChar char="➕"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46EBCE-2A7E-0A4D-A482-069FF90B2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825625"/>
            <a:ext cx="5181600" cy="1325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Classic Templating</a:t>
            </a:r>
          </a:p>
          <a:p>
            <a:r>
              <a:rPr lang="en-US" dirty="0"/>
              <a:t>Code-centric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5B3E90-D267-0B46-BCE5-B8F73C41AD04}"/>
              </a:ext>
            </a:extLst>
          </p:cNvPr>
          <p:cNvSpPr txBox="1"/>
          <p:nvPr/>
        </p:nvSpPr>
        <p:spPr>
          <a:xfrm>
            <a:off x="733697" y="3907910"/>
            <a:ext cx="48441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B050"/>
              </a:buClr>
              <a:buFont typeface="Apple Color Emoji" pitchFamily="2" charset="0"/>
              <a:buChar char="➕"/>
            </a:pPr>
            <a:r>
              <a:rPr lang="en-US" sz="2400" dirty="0"/>
              <a:t>Fast time to value</a:t>
            </a:r>
          </a:p>
          <a:p>
            <a:pPr>
              <a:buClr>
                <a:srgbClr val="00B050"/>
              </a:buClr>
              <a:buFont typeface="Apple Color Emoji" pitchFamily="2" charset="0"/>
              <a:buChar char="➕"/>
            </a:pPr>
            <a:r>
              <a:rPr lang="en-US" sz="2400" dirty="0"/>
              <a:t>Encourages code re-use</a:t>
            </a:r>
          </a:p>
          <a:p>
            <a:pPr>
              <a:buClr>
                <a:srgbClr val="00B050"/>
              </a:buClr>
              <a:buFont typeface="Apple Color Emoji" pitchFamily="2" charset="0"/>
              <a:buChar char="➕"/>
            </a:pPr>
            <a:r>
              <a:rPr lang="en-US" sz="2400" dirty="0"/>
              <a:t>Can dive into the code to customize</a:t>
            </a:r>
          </a:p>
          <a:p>
            <a:pPr>
              <a:buClr>
                <a:srgbClr val="00B050"/>
              </a:buClr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9FF4D-37A8-EC48-ABC8-448595225C4E}"/>
              </a:ext>
            </a:extLst>
          </p:cNvPr>
          <p:cNvSpPr txBox="1"/>
          <p:nvPr/>
        </p:nvSpPr>
        <p:spPr>
          <a:xfrm>
            <a:off x="6019800" y="3907910"/>
            <a:ext cx="4844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B050"/>
              </a:buClr>
              <a:buFont typeface="Apple Color Emoji" pitchFamily="2" charset="0"/>
              <a:buChar char="➕"/>
            </a:pPr>
            <a:r>
              <a:rPr lang="en-US" sz="2400" dirty="0"/>
              <a:t>Greatest degree of control</a:t>
            </a:r>
          </a:p>
          <a:p>
            <a:pPr>
              <a:buClr>
                <a:srgbClr val="00B050"/>
              </a:buClr>
              <a:buFont typeface="Apple Color Emoji" pitchFamily="2" charset="0"/>
              <a:buChar char="➕"/>
            </a:pPr>
            <a:r>
              <a:rPr lang="en-US" sz="2400" dirty="0"/>
              <a:t>Non-markup outputs</a:t>
            </a:r>
          </a:p>
          <a:p>
            <a:pPr>
              <a:buClr>
                <a:srgbClr val="00B050"/>
              </a:buClr>
              <a:buFont typeface="Apple Color Emoji" pitchFamily="2" charset="0"/>
              <a:buChar char="➕"/>
            </a:pPr>
            <a:r>
              <a:rPr lang="en-US" sz="2400" dirty="0"/>
              <a:t>Integrations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945A0A-D4D0-ED40-81DB-9146E2682504}"/>
              </a:ext>
            </a:extLst>
          </p:cNvPr>
          <p:cNvSpPr txBox="1"/>
          <p:nvPr/>
        </p:nvSpPr>
        <p:spPr>
          <a:xfrm>
            <a:off x="733696" y="5288340"/>
            <a:ext cx="4844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pple Color Emoji" pitchFamily="2" charset="0"/>
              <a:buChar char="➖"/>
            </a:pPr>
            <a:r>
              <a:rPr lang="en-US" sz="2400" dirty="0"/>
              <a:t>Longer compile times</a:t>
            </a:r>
          </a:p>
          <a:p>
            <a:pPr marL="342900" indent="-342900">
              <a:buFont typeface="Apple Color Emoji" pitchFamily="2" charset="0"/>
              <a:buChar char="➖"/>
            </a:pPr>
            <a:r>
              <a:rPr lang="en-US" sz="2400" dirty="0"/>
              <a:t>Debugging complexity</a:t>
            </a:r>
          </a:p>
          <a:p>
            <a:pPr marL="342900" indent="-342900">
              <a:buFont typeface="Apple Color Emoji" pitchFamily="2" charset="0"/>
              <a:buChar char="➖"/>
            </a:pP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241791-5DDB-2B4F-B2B5-6BFF7CE1F5D9}"/>
              </a:ext>
            </a:extLst>
          </p:cNvPr>
          <p:cNvSpPr txBox="1"/>
          <p:nvPr/>
        </p:nvSpPr>
        <p:spPr>
          <a:xfrm>
            <a:off x="6019799" y="5288339"/>
            <a:ext cx="518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pple Color Emoji" pitchFamily="2" charset="0"/>
              <a:buChar char="➖"/>
            </a:pPr>
            <a:r>
              <a:rPr lang="en-US" sz="2400" dirty="0"/>
              <a:t>Greater C#/</a:t>
            </a:r>
            <a:r>
              <a:rPr lang="en-US" sz="2400" dirty="0" err="1"/>
              <a:t>.Net</a:t>
            </a:r>
            <a:r>
              <a:rPr lang="en-US" sz="2400" dirty="0"/>
              <a:t> knowledge required</a:t>
            </a:r>
          </a:p>
          <a:p>
            <a:pPr marL="342900" indent="-342900">
              <a:buFont typeface="Apple Color Emoji" pitchFamily="2" charset="0"/>
              <a:buChar char="➖"/>
            </a:pPr>
            <a:r>
              <a:rPr lang="en-US" sz="2400" dirty="0"/>
              <a:t>Slower time to value</a:t>
            </a:r>
          </a:p>
          <a:p>
            <a:pPr marL="342900" indent="-342900">
              <a:buFont typeface="Apple Color Emoji" pitchFamily="2" charset="0"/>
              <a:buChar char="➖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958049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rownpeak Brand">
      <a:dk1>
        <a:srgbClr val="003A5A"/>
      </a:dk1>
      <a:lt1>
        <a:sysClr val="window" lastClr="FFFFFF"/>
      </a:lt1>
      <a:dk2>
        <a:srgbClr val="003A5A"/>
      </a:dk2>
      <a:lt2>
        <a:srgbClr val="FFFFFF"/>
      </a:lt2>
      <a:accent1>
        <a:srgbClr val="003A5A"/>
      </a:accent1>
      <a:accent2>
        <a:srgbClr val="B61F7E"/>
      </a:accent2>
      <a:accent3>
        <a:srgbClr val="D9036A"/>
      </a:accent3>
      <a:accent4>
        <a:srgbClr val="E63512"/>
      </a:accent4>
      <a:accent5>
        <a:srgbClr val="1D79A4"/>
      </a:accent5>
      <a:accent6>
        <a:srgbClr val="5B335C"/>
      </a:accent6>
      <a:hlink>
        <a:srgbClr val="1D79A4"/>
      </a:hlink>
      <a:folHlink>
        <a:srgbClr val="1D79A4"/>
      </a:folHlink>
    </a:clrScheme>
    <a:fontScheme name="Crownpeak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A64C90-4A44-4F11-BEC2-8CB76D07F0E0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c81fd3e1-4b46-4bb7-aee6-da9f3dad3097"/>
    <ds:schemaRef ds:uri="631082eb-fd3e-4e0d-a348-9c93b2e913b5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FC7FBC2-262F-4150-8BC5-0B38796992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2A3778-D5D7-43E6-BCCF-0D464BE15BEC}"/>
</file>

<file path=docProps/app.xml><?xml version="1.0" encoding="utf-8"?>
<Properties xmlns="http://schemas.openxmlformats.org/officeDocument/2006/extended-properties" xmlns:vt="http://schemas.openxmlformats.org/officeDocument/2006/docPropsVTypes">
  <TotalTime>10329</TotalTime>
  <Words>304</Words>
  <Application>Microsoft Office PowerPoint</Application>
  <PresentationFormat>Widescreen</PresentationFormat>
  <Paragraphs>95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Apple Color Emoji</vt:lpstr>
      <vt:lpstr>Arial</vt:lpstr>
      <vt:lpstr>Avenir Next Condensed Medium</vt:lpstr>
      <vt:lpstr>Calibri</vt:lpstr>
      <vt:lpstr>Calibri Light</vt:lpstr>
      <vt:lpstr>CombiNumerals Ltd</vt:lpstr>
      <vt:lpstr>Myriad Web Pro</vt:lpstr>
      <vt:lpstr>Office Theme</vt:lpstr>
      <vt:lpstr>Custom Design</vt:lpstr>
      <vt:lpstr>Crownpeak Architecture</vt:lpstr>
      <vt:lpstr>Core Architecture: Management vs. Delivery</vt:lpstr>
      <vt:lpstr>Core Architecture: Any Deployment Target</vt:lpstr>
      <vt:lpstr>Core Architecture: Any Technology</vt:lpstr>
      <vt:lpstr>Implementation Process</vt:lpstr>
      <vt:lpstr>CMS Implementation Process</vt:lpstr>
      <vt:lpstr>PowerPoint Presentation</vt:lpstr>
      <vt:lpstr>Implementation Approaches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kendall</dc:creator>
  <cp:lastModifiedBy>Mohamed Hafez</cp:lastModifiedBy>
  <cp:revision>355</cp:revision>
  <dcterms:created xsi:type="dcterms:W3CDTF">2016-06-20T21:16:35Z</dcterms:created>
  <dcterms:modified xsi:type="dcterms:W3CDTF">2022-01-13T22:59:18Z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