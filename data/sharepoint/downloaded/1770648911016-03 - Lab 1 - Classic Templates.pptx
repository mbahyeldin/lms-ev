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2" r:id="rId4"/>
  </p:sldMasterIdLst>
  <p:notesMasterIdLst>
    <p:notesMasterId r:id="rId46"/>
  </p:notesMasterIdLst>
  <p:handoutMasterIdLst>
    <p:handoutMasterId r:id="rId47"/>
  </p:handoutMasterIdLst>
  <p:sldIdLst>
    <p:sldId id="256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53" r:id="rId17"/>
    <p:sldId id="340" r:id="rId18"/>
    <p:sldId id="341" r:id="rId19"/>
    <p:sldId id="368" r:id="rId20"/>
    <p:sldId id="342" r:id="rId21"/>
    <p:sldId id="343" r:id="rId22"/>
    <p:sldId id="344" r:id="rId23"/>
    <p:sldId id="345" r:id="rId24"/>
    <p:sldId id="346" r:id="rId25"/>
    <p:sldId id="347" r:id="rId26"/>
    <p:sldId id="367" r:id="rId27"/>
    <p:sldId id="348" r:id="rId28"/>
    <p:sldId id="349" r:id="rId29"/>
    <p:sldId id="352" r:id="rId30"/>
    <p:sldId id="350" r:id="rId31"/>
    <p:sldId id="351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4" r:id="rId42"/>
    <p:sldId id="365" r:id="rId43"/>
    <p:sldId id="366" r:id="rId44"/>
    <p:sldId id="328" r:id="rId4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4D7FE53-884E-FB44-BA47-7F4DC794B0F8}">
          <p14:sldIdLst>
            <p14:sldId id="256"/>
          </p14:sldIdLst>
        </p14:section>
        <p14:section name="Slides" id="{FDC05B97-ECA3-814E-A7AC-D49BEC64439C}">
          <p14:sldIdLst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53"/>
            <p14:sldId id="340"/>
            <p14:sldId id="341"/>
            <p14:sldId id="368"/>
            <p14:sldId id="342"/>
            <p14:sldId id="343"/>
            <p14:sldId id="344"/>
            <p14:sldId id="345"/>
            <p14:sldId id="346"/>
            <p14:sldId id="347"/>
            <p14:sldId id="367"/>
            <p14:sldId id="348"/>
            <p14:sldId id="349"/>
            <p14:sldId id="352"/>
            <p14:sldId id="350"/>
            <p14:sldId id="351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4"/>
            <p14:sldId id="365"/>
            <p14:sldId id="366"/>
          </p14:sldIdLst>
        </p14:section>
        <p14:section name="Wrap-Up" id="{F53CF82D-9C9C-C848-AE6E-43FCDA4A19F2}">
          <p14:sldIdLst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4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e Duncan" initials="DD" lastIdx="3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00" autoAdjust="0"/>
    <p:restoredTop sz="81720" autoAdjust="0"/>
  </p:normalViewPr>
  <p:slideViewPr>
    <p:cSldViewPr snapToGrid="0" snapToObjects="1">
      <p:cViewPr varScale="1">
        <p:scale>
          <a:sx n="191" d="100"/>
          <a:sy n="191" d="100"/>
        </p:scale>
        <p:origin x="608" y="184"/>
      </p:cViewPr>
      <p:guideLst>
        <p:guide orient="horz" pos="3239"/>
        <p:guide pos="4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01" d="100"/>
          <a:sy n="101" d="100"/>
        </p:scale>
        <p:origin x="3552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commentAuthors" Target="commentAuthors.xml"/><Relationship Id="rId49" Type="http://schemas.openxmlformats.org/officeDocument/2006/relationships/presProps" Target="presProps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9" Type="http://schemas.openxmlformats.org/officeDocument/2006/relationships/slide" Target="slides/slide5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3E295-345A-EC4B-9F1D-2F0A42EACD60}" type="datetimeFigureOut">
              <a:rPr lang="en-US" smtClean="0"/>
              <a:t>3/12/18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9D6-E646-234E-84F5-6A2E3B8AC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8393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015F3-BD29-154F-B5A6-B0809F0C39E0}" type="datetimeFigureOut">
              <a:rPr lang="en-US" smtClean="0"/>
              <a:t>3/12/18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F15A1-762E-3242-BF3A-E1B71DAA62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004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6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Extra credit:</a:t>
            </a:r>
          </a:p>
          <a:p>
            <a:r>
              <a:rPr lang="en-GB" dirty="0" smtClean="0"/>
              <a:t>	second object to provide a default for the document picker</a:t>
            </a:r>
          </a:p>
          <a:p>
            <a:r>
              <a:rPr lang="en-GB" dirty="0" smtClean="0"/>
              <a:t>	avoid hard-coding the</a:t>
            </a:r>
            <a:r>
              <a:rPr lang="en-GB" baseline="0" dirty="0" smtClean="0"/>
              <a:t> site path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354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Extra credit:</a:t>
            </a:r>
          </a:p>
          <a:p>
            <a:r>
              <a:rPr lang="en-GB" dirty="0" smtClean="0"/>
              <a:t>	CSS for </a:t>
            </a:r>
            <a:r>
              <a:rPr lang="en-GB" dirty="0" err="1" smtClean="0"/>
              <a:t>wysiwyg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095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Extra</a:t>
            </a:r>
            <a:r>
              <a:rPr lang="en-GB" baseline="0" dirty="0" smtClean="0"/>
              <a:t> credit:</a:t>
            </a:r>
          </a:p>
          <a:p>
            <a:r>
              <a:rPr lang="en-GB" baseline="0" dirty="0" smtClean="0"/>
              <a:t>	Certain number of characters in the title</a:t>
            </a:r>
          </a:p>
          <a:p>
            <a:r>
              <a:rPr lang="en-GB" baseline="0" dirty="0" smtClean="0"/>
              <a:t>	Rename the asset with the title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202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Extra credit</a:t>
            </a:r>
          </a:p>
          <a:p>
            <a:r>
              <a:rPr lang="en-GB" dirty="0" smtClean="0"/>
              <a:t>	Alt text for image</a:t>
            </a:r>
          </a:p>
          <a:p>
            <a:r>
              <a:rPr lang="en-GB" dirty="0" smtClean="0"/>
              <a:t>	Default folder for image</a:t>
            </a:r>
          </a:p>
          <a:p>
            <a:r>
              <a:rPr lang="en-GB" dirty="0" smtClean="0"/>
              <a:t>	Default</a:t>
            </a:r>
            <a:r>
              <a:rPr lang="en-GB" baseline="0" dirty="0" smtClean="0"/>
              <a:t> folder for document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55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Extra</a:t>
            </a:r>
            <a:r>
              <a:rPr lang="en-GB" baseline="0" dirty="0" smtClean="0"/>
              <a:t> credit:</a:t>
            </a:r>
          </a:p>
          <a:p>
            <a:r>
              <a:rPr lang="en-GB" baseline="0" dirty="0" smtClean="0"/>
              <a:t>	alt text for image</a:t>
            </a:r>
          </a:p>
          <a:p>
            <a:r>
              <a:rPr lang="en-GB" baseline="0" dirty="0" smtClean="0"/>
              <a:t>	don’t output panel if no image is picked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254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Extra credit:</a:t>
            </a:r>
          </a:p>
          <a:p>
            <a:r>
              <a:rPr lang="en-GB" dirty="0" smtClean="0"/>
              <a:t>	add a second type to the model </a:t>
            </a:r>
            <a:r>
              <a:rPr lang="en-GB" smtClean="0"/>
              <a:t>- Widget</a:t>
            </a:r>
            <a:endParaRPr lang="en-GB" dirty="0" smtClean="0"/>
          </a:p>
          <a:p>
            <a:r>
              <a:rPr lang="en-GB" dirty="0" smtClean="0"/>
              <a:t>	make a recursive</a:t>
            </a:r>
            <a:r>
              <a:rPr lang="en-GB" baseline="0" dirty="0" smtClean="0"/>
              <a:t> model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608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1" y="1628"/>
            <a:ext cx="506246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35902B22-8956-46D5-824C-D7C7DC1E9C2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12 March 2018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8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E354890E-E41F-4ECD-B53C-931DF6A975C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12 March 2018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5197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8395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62207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70435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3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5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596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06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806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77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48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454" y="-10716"/>
            <a:ext cx="9143546" cy="5164932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25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95397-5482-F245-8ABB-32E8412BBEEF}" type="slidenum">
              <a:rPr kumimoji="0" lang="en-US" sz="135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</a:rPr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39427" y="311718"/>
            <a:ext cx="7018952" cy="228524"/>
          </a:xfrm>
        </p:spPr>
        <p:txBody>
          <a:bodyPr wrap="square" lIns="0" tIns="0" rIns="0" bIns="0">
            <a:spAutoFit/>
          </a:bodyPr>
          <a:lstStyle>
            <a:lvl1pPr>
              <a:defRPr sz="1650" b="1">
                <a:solidFill>
                  <a:schemeClr val="accent1"/>
                </a:solidFill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9427" y="100798"/>
            <a:ext cx="7018952" cy="220445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957613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68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8DA93-349A-FE4F-9D40-97DBBA2B1A4C}" type="datetimeFigureOut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l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3/12/18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534DDC-89ED-2A40-BF57-81CE12B188D6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354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Developer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Lab 1: Classic Templates</a:t>
            </a:r>
            <a:endParaRPr lang="en-US" dirty="0"/>
          </a:p>
        </p:txBody>
      </p:sp>
      <p:sp>
        <p:nvSpPr>
          <p:cNvPr id="4" name="Subtitle 3"/>
          <p:cNvSpPr txBox="1">
            <a:spLocks/>
          </p:cNvSpPr>
          <p:nvPr/>
        </p:nvSpPr>
        <p:spPr>
          <a:xfrm>
            <a:off x="4434242" y="3233928"/>
            <a:ext cx="4606291" cy="11011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b="0" i="0" kern="120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57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22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we’ll be making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700" y="1370013"/>
            <a:ext cx="4766600" cy="3262312"/>
          </a:xfrm>
        </p:spPr>
      </p:pic>
    </p:spTree>
    <p:extLst>
      <p:ext uri="{BB962C8B-B14F-4D97-AF65-F5344CB8AC3E}">
        <p14:creationId xmlns:p14="http://schemas.microsoft.com/office/powerpoint/2010/main" val="408368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we’ll be making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3682093" cy="3263504"/>
          </a:xfrm>
        </p:spPr>
        <p:txBody>
          <a:bodyPr>
            <a:normAutofit/>
          </a:bodyPr>
          <a:lstStyle/>
          <a:p>
            <a:r>
              <a:rPr lang="en-GB" dirty="0" smtClean="0"/>
              <a:t>Site Configuration asset</a:t>
            </a:r>
          </a:p>
          <a:p>
            <a:r>
              <a:rPr lang="en-GB" dirty="0" smtClean="0"/>
              <a:t>Navigation Wrapper template</a:t>
            </a:r>
          </a:p>
          <a:p>
            <a:r>
              <a:rPr lang="en-GB" dirty="0" smtClean="0"/>
              <a:t>Simple Page template</a:t>
            </a:r>
          </a:p>
          <a:p>
            <a:pPr lvl="1"/>
            <a:r>
              <a:rPr lang="en-GB" dirty="0" smtClean="0"/>
              <a:t>Input</a:t>
            </a:r>
          </a:p>
          <a:p>
            <a:pPr lvl="1"/>
            <a:r>
              <a:rPr lang="en-GB" dirty="0" smtClean="0"/>
              <a:t>Post input</a:t>
            </a:r>
          </a:p>
          <a:p>
            <a:pPr lvl="1"/>
            <a:r>
              <a:rPr lang="en-GB" dirty="0" smtClean="0"/>
              <a:t>Output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463143" y="1369219"/>
            <a:ext cx="4052207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Arial"/>
              <a:buChar char="•"/>
              <a:defRPr sz="1800" b="0" i="0" kern="120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Widget template</a:t>
            </a:r>
          </a:p>
          <a:p>
            <a:r>
              <a:rPr lang="en-GB" dirty="0" smtClean="0"/>
              <a:t>Add a widget to our simple page</a:t>
            </a:r>
          </a:p>
          <a:p>
            <a:r>
              <a:rPr lang="en-GB" dirty="0" smtClean="0"/>
              <a:t>Improve the user experience by configuring models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202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Site Configuration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96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06" y="181484"/>
            <a:ext cx="7358787" cy="4805596"/>
          </a:xfrm>
        </p:spPr>
      </p:pic>
    </p:spTree>
    <p:extLst>
      <p:ext uri="{BB962C8B-B14F-4D97-AF65-F5344CB8AC3E}">
        <p14:creationId xmlns:p14="http://schemas.microsoft.com/office/powerpoint/2010/main" val="427118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Planning our Site Configuration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Header needs:</a:t>
            </a:r>
          </a:p>
          <a:p>
            <a:pPr lvl="1"/>
            <a:r>
              <a:rPr lang="en-GB" dirty="0" smtClean="0"/>
              <a:t>Logo</a:t>
            </a:r>
          </a:p>
          <a:p>
            <a:pPr lvl="1"/>
            <a:r>
              <a:rPr lang="en-GB" dirty="0" smtClean="0"/>
              <a:t>Four names and links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Footer needs:</a:t>
            </a:r>
          </a:p>
          <a:p>
            <a:pPr lvl="1"/>
            <a:r>
              <a:rPr lang="en-GB" dirty="0" smtClean="0"/>
              <a:t>Phone and fax numbers</a:t>
            </a:r>
          </a:p>
          <a:p>
            <a:pPr lvl="1"/>
            <a:r>
              <a:rPr lang="en-GB" dirty="0" smtClean="0"/>
              <a:t>Logo</a:t>
            </a:r>
          </a:p>
          <a:p>
            <a:pPr lvl="1"/>
            <a:r>
              <a:rPr lang="en-GB" dirty="0" smtClean="0"/>
              <a:t>Social media icons and links</a:t>
            </a:r>
            <a:endParaRPr lang="en-GB" dirty="0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02"/>
          <a:stretch/>
        </p:blipFill>
        <p:spPr>
          <a:xfrm>
            <a:off x="628650" y="1473454"/>
            <a:ext cx="3886200" cy="253746"/>
          </a:xfrm>
          <a:prstGeom prst="rect">
            <a:avLst/>
          </a:prstGeom>
        </p:spPr>
      </p:pic>
      <p:pic>
        <p:nvPicPr>
          <p:cNvPr id="6" name="Content Placeholder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69"/>
          <a:stretch/>
        </p:blipFill>
        <p:spPr>
          <a:xfrm>
            <a:off x="4640855" y="1473454"/>
            <a:ext cx="3874495" cy="64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7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Site Configuration Template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Open Visual Studio</a:t>
            </a:r>
          </a:p>
          <a:p>
            <a:r>
              <a:rPr lang="en-GB" dirty="0" smtClean="0"/>
              <a:t>Click the Folder icon on the CP add-in</a:t>
            </a:r>
          </a:p>
          <a:p>
            <a:r>
              <a:rPr lang="en-GB" dirty="0" smtClean="0"/>
              <a:t>Navigate </a:t>
            </a:r>
            <a:r>
              <a:rPr lang="en-GB" dirty="0"/>
              <a:t>to </a:t>
            </a:r>
            <a:endParaRPr lang="en-GB" dirty="0" smtClean="0"/>
          </a:p>
          <a:p>
            <a:pPr lvl="1"/>
            <a:r>
              <a:rPr lang="en-GB" dirty="0" smtClean="0"/>
              <a:t>Training</a:t>
            </a:r>
            <a:endParaRPr lang="en-GB" dirty="0" smtClean="0"/>
          </a:p>
          <a:p>
            <a:pPr lvl="1"/>
            <a:r>
              <a:rPr lang="en-GB" dirty="0" smtClean="0"/>
              <a:t>Developer Training</a:t>
            </a:r>
          </a:p>
          <a:p>
            <a:pPr lvl="1"/>
            <a:r>
              <a:rPr lang="en-GB" dirty="0" smtClean="0"/>
              <a:t>Project</a:t>
            </a:r>
          </a:p>
          <a:p>
            <a:pPr lvl="1"/>
            <a:r>
              <a:rPr lang="en-GB" dirty="0" smtClean="0"/>
              <a:t>Templates</a:t>
            </a:r>
            <a:endParaRPr lang="en-GB" dirty="0"/>
          </a:p>
          <a:p>
            <a:pPr lvl="1"/>
            <a:r>
              <a:rPr lang="en-GB" i="1" dirty="0" smtClean="0"/>
              <a:t>[Folder with your name]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Right-click on the folder</a:t>
            </a:r>
          </a:p>
          <a:p>
            <a:r>
              <a:rPr lang="en-GB" dirty="0" smtClean="0"/>
              <a:t>New &gt; Template C#</a:t>
            </a:r>
          </a:p>
          <a:p>
            <a:r>
              <a:rPr lang="en-GB" dirty="0" smtClean="0"/>
              <a:t>Enter “Site </a:t>
            </a:r>
            <a:r>
              <a:rPr lang="en-GB" dirty="0" err="1" smtClean="0"/>
              <a:t>Config</a:t>
            </a:r>
            <a:r>
              <a:rPr lang="en-GB" dirty="0" smtClean="0"/>
              <a:t>” for the name</a:t>
            </a:r>
          </a:p>
          <a:p>
            <a:pPr lvl="1"/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930" y="2844132"/>
            <a:ext cx="2765863" cy="17885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099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Site Configuration Input Template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Double-click on input.aspx file</a:t>
            </a:r>
          </a:p>
          <a:p>
            <a:r>
              <a:rPr lang="en-GB" dirty="0" smtClean="0"/>
              <a:t>Add code to capture the header logo</a:t>
            </a:r>
          </a:p>
          <a:p>
            <a:r>
              <a:rPr lang="en-GB" sz="1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Input.ShowAcquireImage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Header Logo", "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header_logo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GB" dirty="0"/>
              <a:t>Add code for a panel</a:t>
            </a:r>
          </a:p>
          <a:p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while (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Input.NextPanel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 "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header_links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")) { 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Add code inside the while loop to capture the name and link</a:t>
            </a:r>
          </a:p>
          <a:p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Input.ShowTextBox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("Link Name", "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link_name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Input.ShowAcquireDocument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("Link", "link");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149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Site Configuration Asset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In Crownpeak V3, navigate to</a:t>
            </a:r>
          </a:p>
          <a:p>
            <a:pPr lvl="1"/>
            <a:r>
              <a:rPr lang="en-GB" dirty="0" smtClean="0"/>
              <a:t>Training</a:t>
            </a:r>
            <a:endParaRPr lang="en-GB" dirty="0"/>
          </a:p>
          <a:p>
            <a:pPr lvl="1"/>
            <a:r>
              <a:rPr lang="en-GB" dirty="0" smtClean="0"/>
              <a:t>Developer </a:t>
            </a:r>
            <a:r>
              <a:rPr lang="en-GB" dirty="0"/>
              <a:t>Training</a:t>
            </a:r>
          </a:p>
          <a:p>
            <a:pPr lvl="1"/>
            <a:r>
              <a:rPr lang="en-GB" i="1" dirty="0" smtClean="0"/>
              <a:t>[</a:t>
            </a:r>
            <a:r>
              <a:rPr lang="en-GB" i="1" dirty="0"/>
              <a:t>Folder with your name</a:t>
            </a:r>
            <a:r>
              <a:rPr lang="en-GB" i="1" dirty="0" smtClean="0"/>
              <a:t>]</a:t>
            </a:r>
          </a:p>
          <a:p>
            <a:r>
              <a:rPr lang="en-GB" dirty="0" smtClean="0"/>
              <a:t>Choose File &gt; New &gt; File from menu</a:t>
            </a:r>
          </a:p>
          <a:p>
            <a:r>
              <a:rPr lang="en-GB" dirty="0" smtClean="0"/>
              <a:t>Enter the name as “_Site </a:t>
            </a:r>
            <a:r>
              <a:rPr lang="en-GB" dirty="0" err="1" smtClean="0"/>
              <a:t>Config</a:t>
            </a:r>
            <a:r>
              <a:rPr lang="en-GB" dirty="0" smtClean="0"/>
              <a:t>”</a:t>
            </a:r>
          </a:p>
          <a:p>
            <a:endParaRPr lang="en-GB" dirty="0" smtClean="0"/>
          </a:p>
          <a:p>
            <a:pPr lvl="1"/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1094780"/>
            <a:ext cx="2000250" cy="6477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4514850" y="1369219"/>
            <a:ext cx="38862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Arial"/>
              <a:buChar char="•"/>
              <a:defRPr sz="1800" b="0" i="0" kern="120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  <a:p>
            <a:r>
              <a:rPr lang="en-GB" dirty="0" smtClean="0"/>
              <a:t>Click </a:t>
            </a:r>
            <a:r>
              <a:rPr lang="en-GB" dirty="0"/>
              <a:t>on the radio </a:t>
            </a:r>
            <a:r>
              <a:rPr lang="en-GB" dirty="0" smtClean="0"/>
              <a:t>beside “Template”</a:t>
            </a:r>
          </a:p>
          <a:p>
            <a:r>
              <a:rPr lang="en-GB" dirty="0" smtClean="0"/>
              <a:t>Click the     to go to the root, then …</a:t>
            </a:r>
          </a:p>
          <a:p>
            <a:r>
              <a:rPr lang="en-GB" dirty="0" smtClean="0"/>
              <a:t>Find the template you just created</a:t>
            </a:r>
          </a:p>
          <a:p>
            <a:pPr lvl="1"/>
            <a:r>
              <a:rPr lang="en-GB" dirty="0" smtClean="0"/>
              <a:t>Click OK on the lightbox</a:t>
            </a:r>
          </a:p>
          <a:p>
            <a:r>
              <a:rPr lang="en-GB" dirty="0" smtClean="0"/>
              <a:t>Select “Basic Workflow”</a:t>
            </a:r>
          </a:p>
          <a:p>
            <a:pPr lvl="1"/>
            <a:r>
              <a:rPr lang="en-GB" dirty="0" smtClean="0"/>
              <a:t>Click Create</a:t>
            </a:r>
          </a:p>
          <a:p>
            <a:pPr lvl="1"/>
            <a:endParaRPr lang="en-GB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161" y="2611148"/>
            <a:ext cx="142875" cy="14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4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Edit Site Configuration Asset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5060950" cy="3263504"/>
          </a:xfrm>
        </p:spPr>
        <p:txBody>
          <a:bodyPr/>
          <a:lstStyle/>
          <a:p>
            <a:r>
              <a:rPr lang="en-GB" dirty="0" smtClean="0"/>
              <a:t>If you saw a green popup, and the asset has appeared in the file view, all is well!</a:t>
            </a:r>
          </a:p>
          <a:p>
            <a:r>
              <a:rPr lang="en-GB" dirty="0" smtClean="0"/>
              <a:t>Double-click on your new asset to open preview</a:t>
            </a:r>
          </a:p>
          <a:p>
            <a:pPr lvl="1"/>
            <a:r>
              <a:rPr lang="en-GB" dirty="0" smtClean="0"/>
              <a:t>It’ll be blank – we haven’t written an output template</a:t>
            </a:r>
          </a:p>
          <a:p>
            <a:r>
              <a:rPr lang="en-GB" dirty="0" smtClean="0"/>
              <a:t>Click to enter Form View</a:t>
            </a:r>
          </a:p>
          <a:p>
            <a:r>
              <a:rPr lang="en-GB" dirty="0" smtClean="0"/>
              <a:t>Click to expand the boxes and see what you made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622" y="1369219"/>
            <a:ext cx="3593353" cy="20576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440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 far, so good…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That’s the header, now for the footer</a:t>
            </a:r>
          </a:p>
          <a:p>
            <a:r>
              <a:rPr lang="en-GB" dirty="0" smtClean="0"/>
              <a:t>How should we separate the sections?</a:t>
            </a:r>
          </a:p>
          <a:p>
            <a:r>
              <a:rPr lang="en-GB" dirty="0" smtClean="0"/>
              <a:t>What else might we need:</a:t>
            </a:r>
          </a:p>
          <a:p>
            <a:pPr lvl="1"/>
            <a:r>
              <a:rPr lang="en-GB" dirty="0" smtClean="0"/>
              <a:t>HTML title (Crownpeak | Home)</a:t>
            </a:r>
          </a:p>
          <a:p>
            <a:pPr lvl="1"/>
            <a:r>
              <a:rPr lang="en-GB" dirty="0" smtClean="0"/>
              <a:t>Copyright message</a:t>
            </a:r>
          </a:p>
          <a:p>
            <a:pPr lvl="1"/>
            <a:r>
              <a:rPr lang="en-GB" dirty="0" smtClean="0"/>
              <a:t>…?</a:t>
            </a:r>
          </a:p>
          <a:p>
            <a:r>
              <a:rPr lang="en-GB" dirty="0" smtClean="0"/>
              <a:t>Make changes in Visual Studio then return to V3 and refresh     to test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You might need:</a:t>
            </a:r>
          </a:p>
          <a:p>
            <a:pPr lvl="1"/>
            <a:r>
              <a:rPr lang="en-GB" dirty="0" err="1" smtClean="0"/>
              <a:t>Input.ShowAcquireImage</a:t>
            </a:r>
            <a:r>
              <a:rPr lang="en-GB" dirty="0" smtClean="0"/>
              <a:t>()</a:t>
            </a:r>
          </a:p>
          <a:p>
            <a:pPr lvl="1"/>
            <a:r>
              <a:rPr lang="en-GB" dirty="0" err="1" smtClean="0"/>
              <a:t>Input.ShowAcquireDocument</a:t>
            </a:r>
            <a:r>
              <a:rPr lang="en-GB" dirty="0" smtClean="0"/>
              <a:t>()</a:t>
            </a:r>
          </a:p>
          <a:p>
            <a:pPr lvl="1"/>
            <a:r>
              <a:rPr lang="en-GB" dirty="0" err="1" smtClean="0"/>
              <a:t>Input.ShowTextBox</a:t>
            </a:r>
            <a:r>
              <a:rPr lang="en-GB" dirty="0" smtClean="0"/>
              <a:t>()</a:t>
            </a:r>
          </a:p>
          <a:p>
            <a:pPr lvl="1"/>
            <a:r>
              <a:rPr lang="en-GB" dirty="0" err="1" smtClean="0"/>
              <a:t>Input.NextPanel</a:t>
            </a:r>
            <a:r>
              <a:rPr lang="en-GB" dirty="0" smtClean="0"/>
              <a:t>()</a:t>
            </a:r>
          </a:p>
          <a:p>
            <a:pPr lvl="1"/>
            <a:r>
              <a:rPr lang="en-GB" dirty="0" err="1" smtClean="0"/>
              <a:t>Input.StartTabbedPanel</a:t>
            </a:r>
            <a:r>
              <a:rPr lang="en-GB" dirty="0" smtClean="0"/>
              <a:t>()</a:t>
            </a:r>
          </a:p>
          <a:p>
            <a:pPr lvl="1"/>
            <a:r>
              <a:rPr lang="en-GB" dirty="0" err="1" smtClean="0"/>
              <a:t>Input.NextTabbedPanel</a:t>
            </a:r>
            <a:r>
              <a:rPr lang="en-GB" dirty="0" smtClean="0"/>
              <a:t>()</a:t>
            </a:r>
          </a:p>
          <a:p>
            <a:pPr lvl="1"/>
            <a:r>
              <a:rPr lang="en-GB" dirty="0" err="1" smtClean="0"/>
              <a:t>Input.EndTabbedPanel</a:t>
            </a:r>
            <a:r>
              <a:rPr lang="en-GB" dirty="0" smtClean="0"/>
              <a:t>()</a:t>
            </a:r>
          </a:p>
          <a:p>
            <a:pPr lvl="1"/>
            <a:r>
              <a:rPr lang="en-GB" dirty="0" err="1" smtClean="0"/>
              <a:t>Input.ShowMessage</a:t>
            </a:r>
            <a:r>
              <a:rPr lang="en-GB" dirty="0" smtClean="0"/>
              <a:t>()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289" y="4199803"/>
            <a:ext cx="142875" cy="14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2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Improving usability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The image picker starts in the same folder every time</a:t>
            </a:r>
          </a:p>
          <a:p>
            <a:pPr lvl="1"/>
            <a:r>
              <a:rPr lang="en-GB" dirty="0" smtClean="0"/>
              <a:t>That could get really annoying!</a:t>
            </a:r>
          </a:p>
          <a:p>
            <a:r>
              <a:rPr lang="en-GB" dirty="0" smtClean="0"/>
              <a:t>The signature for </a:t>
            </a:r>
            <a:r>
              <a:rPr lang="en-GB" dirty="0" err="1" smtClean="0"/>
              <a:t>Input.ShowAcquireImage</a:t>
            </a:r>
            <a:r>
              <a:rPr lang="en-GB" dirty="0" smtClean="0"/>
              <a:t> takes a </a:t>
            </a:r>
            <a:r>
              <a:rPr lang="en-GB" dirty="0" err="1" smtClean="0"/>
              <a:t>ShowAcquireParams</a:t>
            </a:r>
            <a:r>
              <a:rPr lang="en-GB" dirty="0" smtClean="0"/>
              <a:t> object</a:t>
            </a:r>
          </a:p>
          <a:p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var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showAcquireParams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 = new 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ShowAcquireParams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GB" sz="1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DefaultFolder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= "/Training 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Sandbox/Developer 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Training/_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Assets/images"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Input.ShowAcquireImage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("Header Logo", "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header_logo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", 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showAcquireParams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dirty="0"/>
              <a:t>Repeat for the other uses, and test it again</a:t>
            </a:r>
          </a:p>
          <a:p>
            <a:pPr lvl="1"/>
            <a:r>
              <a:rPr lang="en-GB" dirty="0"/>
              <a:t>Much better!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916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Finished Site Configuration Template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43" y="960634"/>
            <a:ext cx="6542314" cy="4100867"/>
          </a:xfrm>
        </p:spPr>
      </p:pic>
    </p:spTree>
    <p:extLst>
      <p:ext uri="{BB962C8B-B14F-4D97-AF65-F5344CB8AC3E}">
        <p14:creationId xmlns:p14="http://schemas.microsoft.com/office/powerpoint/2010/main" val="3137350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Finished Site Configuration Template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268016"/>
            <a:ext cx="3607548" cy="237111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1" y="1268016"/>
            <a:ext cx="3943350" cy="33871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183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last change…!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We don’t want the Site Configuration asset to publish a file</a:t>
            </a:r>
          </a:p>
          <a:p>
            <a:r>
              <a:rPr lang="en-US" dirty="0" smtClean="0"/>
              <a:t>Right-click on the template</a:t>
            </a:r>
          </a:p>
          <a:p>
            <a:pPr lvl="1"/>
            <a:r>
              <a:rPr lang="en-US" dirty="0" smtClean="0"/>
              <a:t>New &gt; Filename.aspx</a:t>
            </a:r>
          </a:p>
          <a:p>
            <a:pPr lvl="1"/>
            <a:r>
              <a:rPr lang="en-US" dirty="0" smtClean="0"/>
              <a:t>Open the file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</a:t>
            </a:r>
            <a:r>
              <a:rPr lang="en-US" sz="1600" dirty="0" err="1" smtClean="0">
                <a:latin typeface="Consolas" panose="020B0609020204030204" pitchFamily="49" charset="0"/>
              </a:rPr>
              <a:t>ontext.PublishPath</a:t>
            </a:r>
            <a:r>
              <a:rPr lang="en-US" sz="1600" dirty="0" smtClean="0">
                <a:latin typeface="Consolas" panose="020B0609020204030204" pitchFamily="49" charset="0"/>
              </a:rPr>
              <a:t> = "";</a:t>
            </a: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We could have manipulated the filename here instead of clearing it</a:t>
            </a:r>
          </a:p>
          <a:p>
            <a:r>
              <a:rPr lang="en-US" dirty="0" smtClean="0"/>
              <a:t>We also have url.aspx</a:t>
            </a:r>
          </a:p>
          <a:p>
            <a:pPr lvl="1"/>
            <a:r>
              <a:rPr lang="en-US" dirty="0" smtClean="0"/>
              <a:t>Could publish no file</a:t>
            </a:r>
          </a:p>
          <a:p>
            <a:pPr lvl="1"/>
            <a:r>
              <a:rPr lang="en-US" dirty="0" smtClean="0"/>
              <a:t>Set </a:t>
            </a:r>
            <a:r>
              <a:rPr lang="en-US" dirty="0" err="1" smtClean="0"/>
              <a:t>url</a:t>
            </a:r>
            <a:r>
              <a:rPr lang="en-US" dirty="0" smtClean="0"/>
              <a:t> of </a:t>
            </a:r>
            <a:r>
              <a:rPr lang="en-US" dirty="0" err="1" smtClean="0"/>
              <a:t>product.aspx?id</a:t>
            </a:r>
            <a:r>
              <a:rPr lang="en-US" dirty="0" smtClean="0"/>
              <a:t>=1234</a:t>
            </a:r>
          </a:p>
          <a:p>
            <a:r>
              <a:rPr lang="en-US" dirty="0" smtClean="0"/>
              <a:t>Also have assetfilename.aspx</a:t>
            </a:r>
          </a:p>
          <a:p>
            <a:pPr lvl="1"/>
            <a:r>
              <a:rPr lang="en-US" dirty="0" smtClean="0"/>
              <a:t>And asseturl.aspx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652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Navigation Wrapper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94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Navigation Wrapper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purpose of the </a:t>
            </a:r>
            <a:r>
              <a:rPr lang="en-GB" dirty="0" err="1" smtClean="0"/>
              <a:t>Nav</a:t>
            </a:r>
            <a:r>
              <a:rPr lang="en-GB" dirty="0" smtClean="0"/>
              <a:t> Wrap is to draw the boilerplate that’s on all pages</a:t>
            </a:r>
          </a:p>
          <a:p>
            <a:r>
              <a:rPr lang="en-GB" dirty="0" smtClean="0"/>
              <a:t>We need to grab the header and footer </a:t>
            </a:r>
            <a:r>
              <a:rPr lang="en-GB" dirty="0" err="1" smtClean="0"/>
              <a:t>markup</a:t>
            </a:r>
            <a:r>
              <a:rPr lang="en-GB" dirty="0" smtClean="0"/>
              <a:t> from the example page</a:t>
            </a:r>
          </a:p>
          <a:p>
            <a:r>
              <a:rPr lang="en-GB" dirty="0" smtClean="0"/>
              <a:t>View the source of the page</a:t>
            </a:r>
          </a:p>
          <a:p>
            <a:pPr lvl="1"/>
            <a:r>
              <a:rPr lang="en-GB" dirty="0" smtClean="0"/>
              <a:t>Header goes from &lt;!DOCTYPE html&gt; to &lt;/header&gt;</a:t>
            </a:r>
          </a:p>
          <a:p>
            <a:pPr lvl="1"/>
            <a:r>
              <a:rPr lang="en-GB" dirty="0" smtClean="0"/>
              <a:t>Footer goes from &lt;footer&gt; to &lt;/html&gt;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014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Navigation Wrapper Template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Right-click on your folder</a:t>
            </a:r>
          </a:p>
          <a:p>
            <a:r>
              <a:rPr lang="en-GB" dirty="0" smtClean="0"/>
              <a:t>Create a new template</a:t>
            </a:r>
          </a:p>
          <a:p>
            <a:pPr lvl="1"/>
            <a:r>
              <a:rPr lang="en-GB" dirty="0" smtClean="0"/>
              <a:t>“Navigation Wrapper”</a:t>
            </a:r>
          </a:p>
          <a:p>
            <a:r>
              <a:rPr lang="en-GB" dirty="0" smtClean="0"/>
              <a:t>Open output.aspx</a:t>
            </a:r>
          </a:p>
          <a:p>
            <a:r>
              <a:rPr lang="en-GB" dirty="0" smtClean="0"/>
              <a:t>In V3, find the ID of your Site </a:t>
            </a:r>
            <a:r>
              <a:rPr lang="en-GB" dirty="0" err="1" smtClean="0"/>
              <a:t>Config</a:t>
            </a:r>
            <a:endParaRPr lang="en-GB" dirty="0" smtClean="0"/>
          </a:p>
          <a:p>
            <a:pPr lvl="1"/>
            <a:r>
              <a:rPr lang="en-GB" dirty="0" smtClean="0"/>
              <a:t>Tip: Expand the File View </a:t>
            </a:r>
          </a:p>
          <a:p>
            <a:endParaRPr lang="en-GB" dirty="0" smtClean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4403489"/>
            <a:ext cx="7334732" cy="449523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124" y="3745616"/>
            <a:ext cx="152400" cy="152400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629150" y="1358507"/>
            <a:ext cx="38862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Arial"/>
              <a:buChar char="•"/>
              <a:defRPr sz="1800" b="0" i="0" kern="120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“asset” refers to the current asset</a:t>
            </a:r>
          </a:p>
          <a:p>
            <a:r>
              <a:rPr lang="en-GB" dirty="0" smtClean="0"/>
              <a:t>We need to refer to _Site </a:t>
            </a:r>
            <a:r>
              <a:rPr lang="en-GB" dirty="0" err="1" smtClean="0"/>
              <a:t>Config</a:t>
            </a:r>
            <a:endParaRPr lang="en-GB" dirty="0" smtClean="0"/>
          </a:p>
          <a:p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v</a:t>
            </a:r>
            <a:r>
              <a:rPr lang="en-GB" sz="1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ar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config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 = </a:t>
            </a:r>
            <a:r>
              <a:rPr lang="en-GB" sz="1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Asset.Load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GB" sz="1400" i="1" dirty="0" smtClean="0">
                <a:solidFill>
                  <a:srgbClr val="00B0F0"/>
                </a:solidFill>
                <a:latin typeface="Consolas" panose="020B0609020204030204" pitchFamily="49" charset="0"/>
              </a:rPr>
              <a:t>1012589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dirty="0" smtClean="0"/>
              <a:t>In the real world you’d use a path</a:t>
            </a:r>
          </a:p>
          <a:p>
            <a:pPr lvl="1"/>
            <a:r>
              <a:rPr lang="en-GB" dirty="0" smtClean="0"/>
              <a:t>Because ID changes after branch</a:t>
            </a:r>
            <a:endParaRPr lang="en-GB" dirty="0"/>
          </a:p>
          <a:p>
            <a:endParaRPr lang="en-GB" sz="1400" dirty="0" smtClean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86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Navigation Wrapper Output Template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Paste the header HTML</a:t>
            </a:r>
          </a:p>
          <a:p>
            <a:r>
              <a:rPr lang="en-GB" dirty="0" smtClean="0"/>
              <a:t>Add the content placeholder… can you remember?</a:t>
            </a:r>
          </a:p>
          <a:p>
            <a:r>
              <a:rPr lang="en-GB" dirty="0" smtClean="0">
                <a:solidFill>
                  <a:srgbClr val="00B0F0"/>
                </a:solidFill>
                <a:latin typeface="Consolas" panose="020B0609020204030204" pitchFamily="49" charset="0"/>
              </a:rPr>
              <a:t>&lt;%= </a:t>
            </a:r>
            <a:r>
              <a:rPr lang="en-GB" dirty="0" err="1">
                <a:solidFill>
                  <a:srgbClr val="00B0F0"/>
                </a:solidFill>
                <a:latin typeface="Consolas" panose="020B0609020204030204" pitchFamily="49" charset="0"/>
              </a:rPr>
              <a:t>Out.GetWrapContentPlaceholder</a:t>
            </a:r>
            <a:r>
              <a:rPr lang="en-GB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() %&gt;</a:t>
            </a:r>
          </a:p>
          <a:p>
            <a:r>
              <a:rPr lang="en-GB" dirty="0" smtClean="0"/>
              <a:t>Append the footer HTML</a:t>
            </a:r>
          </a:p>
          <a:p>
            <a:r>
              <a:rPr lang="en-GB" dirty="0" smtClean="0"/>
              <a:t>Now we can replace the fixed items with values from the Site Configuration</a:t>
            </a:r>
            <a:endParaRPr lang="en-GB" dirty="0"/>
          </a:p>
          <a:p>
            <a:endParaRPr lang="en-GB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7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Navigation Wrapper Output Template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Look for </a:t>
            </a:r>
          </a:p>
          <a:p>
            <a:pPr lvl="1"/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img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src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="/classic/_assets/images/nav-logo.png" class="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nav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-logo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"/&gt;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endParaRPr lang="en-GB" sz="1400" dirty="0" smtClean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lvl="1"/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ul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 class="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nav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-links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"&gt;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  &lt;li&gt;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    &lt;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a 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href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="/classic/standard-home-video.html"&gt;Home 1&lt;/a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&gt;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  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&lt;/li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&gt;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  ...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ul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&gt;</a:t>
            </a:r>
            <a:endParaRPr lang="en-GB" sz="1400" dirty="0" smtClean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lvl="1"/>
            <a:endParaRPr lang="en-GB" sz="1400" dirty="0" smtClean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GB" dirty="0"/>
              <a:t>Repeat for the other fields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4850" y="1369219"/>
            <a:ext cx="4000500" cy="3263504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Replace with</a:t>
            </a:r>
          </a:p>
          <a:p>
            <a:pPr lvl="1"/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img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src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="&lt;%= 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config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["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header_logo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"] %&gt;" class="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nav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-logo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"/&gt;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endParaRPr lang="en-GB" sz="1400" dirty="0" smtClean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lvl="1"/>
            <a:r>
              <a:rPr lang="en-GB" sz="1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foreach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var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 panel in 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config.GetPanels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("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header_links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"))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  </a:t>
            </a:r>
            <a:r>
              <a:rPr lang="en-GB" sz="1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Out.WriteLine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("&lt;li&gt;&lt;a </a:t>
            </a:r>
            <a:r>
              <a:rPr lang="en-GB" sz="1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href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=\"{0}\"&gt;{1}&lt;/a&gt;&lt;/li&gt;", panel["link"], panel["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link_name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"]);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dirty="0" smtClean="0"/>
              <a:t>Note: keep the &lt;</a:t>
            </a:r>
            <a:r>
              <a:rPr lang="en-GB" dirty="0" err="1" smtClean="0"/>
              <a:t>ul</a:t>
            </a:r>
            <a:r>
              <a:rPr lang="en-GB" dirty="0" smtClean="0"/>
              <a:t>&gt; and &lt;/</a:t>
            </a:r>
            <a:r>
              <a:rPr lang="en-GB" dirty="0" err="1" smtClean="0"/>
              <a:t>ul</a:t>
            </a:r>
            <a:r>
              <a:rPr lang="en-GB" dirty="0" smtClean="0"/>
              <a:t>&gt;</a:t>
            </a: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420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Navigation Wrapper Output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Next we need to fix the CSS, JavaScript links and images to refer to CMS assets</a:t>
            </a:r>
          </a:p>
          <a:p>
            <a:pPr lvl="1"/>
            <a:r>
              <a:rPr lang="en-GB" dirty="0" smtClean="0"/>
              <a:t>This makes the preview work properly, and is definitely best practice</a:t>
            </a:r>
          </a:p>
          <a:p>
            <a:r>
              <a:rPr lang="en-GB" dirty="0" smtClean="0"/>
              <a:t>Make helper variables:</a:t>
            </a:r>
          </a:p>
          <a:p>
            <a:pPr lvl="1"/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	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var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 root = "/Training 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Sandbox/Developer 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Training/";</a:t>
            </a:r>
          </a:p>
          <a:p>
            <a:pPr lvl="1"/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	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var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 me = root + "Richard Lund/";</a:t>
            </a:r>
          </a:p>
          <a:p>
            <a:pPr lvl="1"/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	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var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 assets = root + "_Assets/";</a:t>
            </a:r>
          </a:p>
          <a:p>
            <a:r>
              <a:rPr lang="en-GB" dirty="0" smtClean="0"/>
              <a:t>Look for CSS references and replace the whole line with</a:t>
            </a:r>
          </a:p>
          <a:p>
            <a:pPr lvl="1"/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&lt;% =</a:t>
            </a:r>
            <a:r>
              <a:rPr lang="en-GB" sz="1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ServicesOutput.RenderCSSLink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(assets 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+ "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css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/</a:t>
            </a:r>
            <a:r>
              <a:rPr lang="en-GB" sz="1400" i="1" dirty="0">
                <a:solidFill>
                  <a:srgbClr val="00B0F0"/>
                </a:solidFill>
                <a:latin typeface="Consolas" panose="020B0609020204030204" pitchFamily="49" charset="0"/>
              </a:rPr>
              <a:t>style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.css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") %&gt;</a:t>
            </a:r>
            <a:endParaRPr lang="en-GB" sz="1400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3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Navigation Wrapper Output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Look for JavaScript references and replace the whole line with</a:t>
            </a:r>
          </a:p>
          <a:p>
            <a:pPr lvl="1"/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&lt;%= </a:t>
            </a:r>
            <a:r>
              <a:rPr lang="en-GB" sz="1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ServicesOutput.RenderScriptLink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(assets 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+ "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js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/</a:t>
            </a:r>
            <a:r>
              <a:rPr lang="en-GB" sz="1400" i="1" dirty="0">
                <a:solidFill>
                  <a:srgbClr val="00B0F0"/>
                </a:solidFill>
                <a:latin typeface="Consolas" panose="020B0609020204030204" pitchFamily="49" charset="0"/>
              </a:rPr>
              <a:t>util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.js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") %&gt;</a:t>
            </a:r>
          </a:p>
          <a:p>
            <a:r>
              <a:rPr lang="en-GB" dirty="0"/>
              <a:t>Look for </a:t>
            </a:r>
            <a:r>
              <a:rPr lang="en-GB" dirty="0" smtClean="0"/>
              <a:t>images and replace the </a:t>
            </a:r>
            <a:r>
              <a:rPr lang="en-GB" dirty="0" err="1" smtClean="0"/>
              <a:t>src</a:t>
            </a:r>
            <a:r>
              <a:rPr lang="en-GB" dirty="0" smtClean="0"/>
              <a:t> attribute like the following</a:t>
            </a:r>
          </a:p>
          <a:p>
            <a:pPr lvl="1"/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img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src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="&lt;%= 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Asset.Load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(assets + "images/</a:t>
            </a:r>
            <a:r>
              <a:rPr lang="en-GB" sz="1400" i="1" dirty="0">
                <a:solidFill>
                  <a:srgbClr val="00B0F0"/>
                </a:solidFill>
                <a:latin typeface="Consolas" panose="020B0609020204030204" pitchFamily="49" charset="0"/>
              </a:rPr>
              <a:t>nav-button-open.png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").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GetLink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() %&gt;" </a:t>
            </a:r>
            <a:r>
              <a:rPr lang="en-GB" sz="1400" i="1" dirty="0">
                <a:solidFill>
                  <a:srgbClr val="00B0F0"/>
                </a:solidFill>
                <a:latin typeface="Consolas" panose="020B0609020204030204" pitchFamily="49" charset="0"/>
              </a:rPr>
              <a:t>class="expand"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/&gt;</a:t>
            </a:r>
          </a:p>
          <a:p>
            <a:r>
              <a:rPr lang="en-GB" dirty="0" smtClean="0"/>
              <a:t>If you find anything else… use your skill and judgement!</a:t>
            </a:r>
            <a:endParaRPr lang="en-GB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83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Simple Page Template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39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Simple Page Template - Input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In Visual Studio:</a:t>
            </a:r>
          </a:p>
          <a:p>
            <a:pPr lvl="1"/>
            <a:r>
              <a:rPr lang="en-GB" dirty="0" smtClean="0"/>
              <a:t>Right-click</a:t>
            </a:r>
          </a:p>
          <a:p>
            <a:pPr lvl="1"/>
            <a:r>
              <a:rPr lang="en-GB" dirty="0" smtClean="0"/>
              <a:t>Choose New &gt; Template C#</a:t>
            </a:r>
          </a:p>
          <a:p>
            <a:pPr lvl="1"/>
            <a:r>
              <a:rPr lang="en-GB" dirty="0" smtClean="0"/>
              <a:t>“Simple Page”</a:t>
            </a:r>
          </a:p>
          <a:p>
            <a:r>
              <a:rPr lang="en-GB" dirty="0" smtClean="0"/>
              <a:t>Open input.aspx</a:t>
            </a:r>
          </a:p>
          <a:p>
            <a:r>
              <a:rPr lang="en-GB" dirty="0" smtClean="0"/>
              <a:t>Capture a text field for the page title</a:t>
            </a:r>
          </a:p>
          <a:p>
            <a:r>
              <a:rPr lang="en-GB" dirty="0" smtClean="0"/>
              <a:t>… and a WYSIWYG field for the body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 smtClean="0"/>
              <a:t>You will need:</a:t>
            </a:r>
          </a:p>
          <a:p>
            <a:pPr lvl="1"/>
            <a:r>
              <a:rPr lang="en-GB" dirty="0" err="1" smtClean="0"/>
              <a:t>Input.ShowTextBox</a:t>
            </a:r>
            <a:r>
              <a:rPr lang="en-GB" dirty="0" smtClean="0"/>
              <a:t>()</a:t>
            </a:r>
          </a:p>
          <a:p>
            <a:pPr lvl="1"/>
            <a:r>
              <a:rPr lang="en-GB" dirty="0" err="1" smtClean="0"/>
              <a:t>Input.ShowWysiwyg</a:t>
            </a:r>
            <a:r>
              <a:rPr lang="en-GB" dirty="0" smtClean="0"/>
              <a:t>()</a:t>
            </a:r>
          </a:p>
          <a:p>
            <a:pPr lvl="1"/>
            <a:r>
              <a:rPr lang="en-GB" dirty="0" err="1" smtClean="0"/>
              <a:t>ServicesInput.FullWYSIWYG</a:t>
            </a:r>
            <a:r>
              <a:rPr lang="en-GB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812" y="3071091"/>
            <a:ext cx="471487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9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Simple Page Template - Validation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Add some validation</a:t>
            </a:r>
          </a:p>
          <a:p>
            <a:r>
              <a:rPr lang="en-GB" dirty="0" smtClean="0"/>
              <a:t>In Visual Studio:</a:t>
            </a:r>
          </a:p>
          <a:p>
            <a:pPr lvl="1"/>
            <a:r>
              <a:rPr lang="en-GB" dirty="0" smtClean="0"/>
              <a:t>Right-click on your template folder</a:t>
            </a:r>
          </a:p>
          <a:p>
            <a:pPr lvl="1"/>
            <a:r>
              <a:rPr lang="en-GB" dirty="0" smtClean="0"/>
              <a:t>Choose New &gt; post_input.aspx</a:t>
            </a:r>
          </a:p>
          <a:p>
            <a:r>
              <a:rPr lang="en-GB" dirty="0" smtClean="0"/>
              <a:t>Open the post_input.aspx file</a:t>
            </a:r>
          </a:p>
          <a:p>
            <a:r>
              <a:rPr lang="en-GB" dirty="0" smtClean="0"/>
              <a:t>Add code to check for the title field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You will need:</a:t>
            </a:r>
          </a:p>
          <a:p>
            <a:pPr lvl="1"/>
            <a:r>
              <a:rPr lang="en-GB" dirty="0" err="1" smtClean="0"/>
              <a:t>context.InputForm.HasField</a:t>
            </a:r>
            <a:r>
              <a:rPr lang="en-GB" dirty="0" smtClean="0"/>
              <a:t>()</a:t>
            </a:r>
          </a:p>
          <a:p>
            <a:pPr lvl="1"/>
            <a:r>
              <a:rPr lang="en-GB" dirty="0" err="1"/>
              <a:t>c</a:t>
            </a:r>
            <a:r>
              <a:rPr lang="en-GB" dirty="0" err="1" smtClean="0"/>
              <a:t>ontext.ValidationErrorFields</a:t>
            </a:r>
            <a:endParaRPr lang="en-GB" dirty="0" smtClean="0"/>
          </a:p>
          <a:p>
            <a:pPr lvl="1"/>
            <a:endParaRPr lang="en-GB" dirty="0"/>
          </a:p>
          <a:p>
            <a:pPr lvl="1"/>
            <a:endParaRPr lang="en-GB" dirty="0" smtClean="0"/>
          </a:p>
          <a:p>
            <a:pPr lvl="1"/>
            <a:endParaRPr lang="en-GB" dirty="0"/>
          </a:p>
          <a:p>
            <a:pPr lvl="1"/>
            <a:endParaRPr lang="en-GB" dirty="0" smtClean="0"/>
          </a:p>
          <a:p>
            <a:r>
              <a:rPr lang="en-GB" dirty="0" smtClean="0"/>
              <a:t>You can be much cleverer than this if you like!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98" y="2725375"/>
            <a:ext cx="4138167" cy="87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6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Simple Page </a:t>
            </a:r>
            <a:r>
              <a:rPr lang="en-GB" dirty="0" smtClean="0"/>
              <a:t>Template - Output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Open output.aspx</a:t>
            </a:r>
          </a:p>
          <a:p>
            <a:r>
              <a:rPr lang="en-GB" dirty="0" smtClean="0"/>
              <a:t>Create some simple </a:t>
            </a:r>
            <a:r>
              <a:rPr lang="en-GB" dirty="0" err="1" smtClean="0"/>
              <a:t>markup</a:t>
            </a:r>
            <a:r>
              <a:rPr lang="en-GB" dirty="0" smtClean="0"/>
              <a:t> to display your fields</a:t>
            </a:r>
          </a:p>
          <a:p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&lt;h1&gt;&lt;%= asset["title"] %&gt;&lt;/h1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&gt;</a:t>
            </a:r>
            <a:b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&lt;%= 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asset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["body"] %&gt;</a:t>
            </a:r>
          </a:p>
          <a:p>
            <a:r>
              <a:rPr lang="en-GB" dirty="0" smtClean="0"/>
              <a:t>Note that the WYSIWYG field needs no extra </a:t>
            </a:r>
            <a:r>
              <a:rPr lang="en-GB" dirty="0" err="1" smtClean="0"/>
              <a:t>markup</a:t>
            </a:r>
            <a:endParaRPr lang="en-GB" dirty="0" smtClean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Create a new file in the CMS</a:t>
            </a:r>
          </a:p>
          <a:p>
            <a:pPr lvl="1"/>
            <a:r>
              <a:rPr lang="en-GB" dirty="0"/>
              <a:t>Simple Page</a:t>
            </a:r>
          </a:p>
          <a:p>
            <a:r>
              <a:rPr lang="en-GB" dirty="0" smtClean="0"/>
              <a:t>Choose your “Simple Page” template</a:t>
            </a:r>
          </a:p>
          <a:p>
            <a:r>
              <a:rPr lang="en-GB" dirty="0" smtClean="0"/>
              <a:t>Select the “Basic Workflow”</a:t>
            </a:r>
          </a:p>
          <a:p>
            <a:r>
              <a:rPr lang="en-GB" dirty="0" smtClean="0"/>
              <a:t>Open it and add some data</a:t>
            </a:r>
          </a:p>
          <a:p>
            <a:r>
              <a:rPr lang="en-GB" dirty="0" smtClean="0"/>
              <a:t>Save and preview!</a:t>
            </a:r>
          </a:p>
          <a:p>
            <a:r>
              <a:rPr lang="en-GB" dirty="0" smtClean="0"/>
              <a:t>It works, but we have no wrapper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325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Simple Page Template - Output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Wrap your output with your Navigation Wrapper… can you remember how?</a:t>
            </a:r>
          </a:p>
          <a:p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&lt;% </a:t>
            </a:r>
            <a:r>
              <a:rPr lang="en-GB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Out.Wrap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("/Training 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Sandbox/Developer Training/Project/Templates/</a:t>
            </a:r>
            <a:r>
              <a:rPr lang="en-GB" sz="1400" i="1" dirty="0" smtClean="0">
                <a:solidFill>
                  <a:srgbClr val="00B0F0"/>
                </a:solidFill>
                <a:latin typeface="Consolas" panose="020B0609020204030204" pitchFamily="49" charset="0"/>
              </a:rPr>
              <a:t>[Your Name]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/Navigation </a:t>
            </a:r>
            <a:r>
              <a:rPr lang="en-GB" sz="1400" dirty="0">
                <a:solidFill>
                  <a:srgbClr val="00B0F0"/>
                </a:solidFill>
                <a:latin typeface="Consolas" panose="020B0609020204030204" pitchFamily="49" charset="0"/>
              </a:rPr>
              <a:t>Wrapper"); </a:t>
            </a:r>
            <a:r>
              <a:rPr lang="en-GB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%&gt;</a:t>
            </a:r>
          </a:p>
          <a:p>
            <a:r>
              <a:rPr lang="en-GB" dirty="0" smtClean="0"/>
              <a:t>Finally you can refresh your preview</a:t>
            </a:r>
            <a:endParaRPr lang="en-GB" dirty="0"/>
          </a:p>
          <a:p>
            <a:r>
              <a:rPr lang="en-GB" dirty="0"/>
              <a:t>It works! </a:t>
            </a:r>
            <a:r>
              <a:rPr lang="en-GB" dirty="0" smtClean="0"/>
              <a:t>Though it could be better.</a:t>
            </a:r>
          </a:p>
          <a:p>
            <a:pPr lvl="1"/>
            <a:r>
              <a:rPr lang="en-GB" dirty="0" smtClean="0"/>
              <a:t>Wrap your output with &lt;section&gt;&lt;div class="wrapper"&gt;</a:t>
            </a:r>
          </a:p>
          <a:p>
            <a:pPr lvl="1"/>
            <a:r>
              <a:rPr lang="en-GB" dirty="0" smtClean="0"/>
              <a:t>Refresh again</a:t>
            </a:r>
          </a:p>
          <a:p>
            <a:r>
              <a:rPr lang="en-GB" dirty="0" smtClean="0"/>
              <a:t>The links aren’t showing because they’re not linked yet – fix it!</a:t>
            </a:r>
          </a:p>
        </p:txBody>
      </p:sp>
    </p:spTree>
    <p:extLst>
      <p:ext uri="{BB962C8B-B14F-4D97-AF65-F5344CB8AC3E}">
        <p14:creationId xmlns:p14="http://schemas.microsoft.com/office/powerpoint/2010/main" val="284777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Widget Template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31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Widget Template - Input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In Visual Studio:</a:t>
            </a:r>
          </a:p>
          <a:p>
            <a:pPr lvl="1"/>
            <a:r>
              <a:rPr lang="en-GB" dirty="0" smtClean="0"/>
              <a:t>Right-click</a:t>
            </a:r>
          </a:p>
          <a:p>
            <a:pPr lvl="1"/>
            <a:r>
              <a:rPr lang="en-GB" dirty="0" smtClean="0"/>
              <a:t>Choose New &gt; Template C#</a:t>
            </a:r>
          </a:p>
          <a:p>
            <a:pPr lvl="1"/>
            <a:r>
              <a:rPr lang="en-GB" dirty="0" smtClean="0"/>
              <a:t>“Widget”</a:t>
            </a:r>
          </a:p>
          <a:p>
            <a:r>
              <a:rPr lang="en-GB" dirty="0" smtClean="0"/>
              <a:t>Open input.aspx</a:t>
            </a:r>
          </a:p>
          <a:p>
            <a:r>
              <a:rPr lang="en-GB" dirty="0" smtClean="0"/>
              <a:t>Capture a text field for the title</a:t>
            </a:r>
          </a:p>
          <a:p>
            <a:r>
              <a:rPr lang="en-GB" dirty="0" smtClean="0"/>
              <a:t>And a panel containing an image and an internal link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You will need:</a:t>
            </a:r>
          </a:p>
          <a:p>
            <a:pPr lvl="1"/>
            <a:r>
              <a:rPr lang="en-GB" dirty="0" err="1" smtClean="0"/>
              <a:t>Input.ShowTextBox</a:t>
            </a:r>
            <a:r>
              <a:rPr lang="en-GB" dirty="0" smtClean="0"/>
              <a:t>()</a:t>
            </a:r>
          </a:p>
          <a:p>
            <a:pPr lvl="1"/>
            <a:r>
              <a:rPr lang="en-GB" dirty="0" err="1" smtClean="0"/>
              <a:t>Input.ShowAcquireImage</a:t>
            </a:r>
            <a:r>
              <a:rPr lang="en-GB" dirty="0" smtClean="0"/>
              <a:t>()</a:t>
            </a:r>
          </a:p>
          <a:p>
            <a:pPr lvl="1"/>
            <a:r>
              <a:rPr lang="en-GB" dirty="0" err="1" smtClean="0"/>
              <a:t>Input.ShowAcquireDocument</a:t>
            </a:r>
            <a:r>
              <a:rPr lang="en-GB" dirty="0" smtClean="0"/>
              <a:t>()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2908132"/>
            <a:ext cx="5820578" cy="172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3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Widget Template - Output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Open output.aspx</a:t>
            </a:r>
          </a:p>
          <a:p>
            <a:r>
              <a:rPr lang="en-GB" dirty="0" smtClean="0"/>
              <a:t>Wrap the output in a section</a:t>
            </a:r>
          </a:p>
          <a:p>
            <a:r>
              <a:rPr lang="en-GB" dirty="0" smtClean="0"/>
              <a:t>And a </a:t>
            </a:r>
            <a:r>
              <a:rPr lang="en-GB" dirty="0" err="1" smtClean="0"/>
              <a:t>div.wrapper</a:t>
            </a:r>
            <a:r>
              <a:rPr lang="en-GB" dirty="0" smtClean="0"/>
              <a:t> and </a:t>
            </a:r>
            <a:r>
              <a:rPr lang="en-GB" dirty="0" err="1" smtClean="0"/>
              <a:t>div.row</a:t>
            </a:r>
            <a:endParaRPr lang="en-GB" dirty="0" smtClean="0"/>
          </a:p>
          <a:p>
            <a:r>
              <a:rPr lang="en-GB" dirty="0" smtClean="0"/>
              <a:t>Loop through and display the panels</a:t>
            </a:r>
          </a:p>
          <a:p>
            <a:r>
              <a:rPr lang="en-GB" dirty="0" smtClean="0"/>
              <a:t>Wrap each in div.col-xs-12.col-md-4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713" y="1086992"/>
            <a:ext cx="4497289" cy="3332607"/>
          </a:xfrm>
        </p:spPr>
      </p:pic>
    </p:spTree>
    <p:extLst>
      <p:ext uri="{BB962C8B-B14F-4D97-AF65-F5344CB8AC3E}">
        <p14:creationId xmlns:p14="http://schemas.microsoft.com/office/powerpoint/2010/main" val="236031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Create Widget Asset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Create a new file in the CMS</a:t>
            </a:r>
          </a:p>
          <a:p>
            <a:pPr lvl="1"/>
            <a:r>
              <a:rPr lang="en-GB" dirty="0" smtClean="0"/>
              <a:t>Name it “Widget”</a:t>
            </a:r>
          </a:p>
          <a:p>
            <a:pPr lvl="1"/>
            <a:r>
              <a:rPr lang="en-GB" dirty="0" smtClean="0"/>
              <a:t>Pick your Widget template</a:t>
            </a:r>
          </a:p>
          <a:p>
            <a:pPr lvl="1"/>
            <a:r>
              <a:rPr lang="en-GB" dirty="0" smtClean="0"/>
              <a:t>Select the Basic Workflow</a:t>
            </a:r>
          </a:p>
          <a:p>
            <a:r>
              <a:rPr lang="en-GB" dirty="0" smtClean="0"/>
              <a:t>Go to the Form view and enter data</a:t>
            </a:r>
          </a:p>
          <a:p>
            <a:r>
              <a:rPr lang="en-GB" dirty="0" smtClean="0"/>
              <a:t>Save and preview</a:t>
            </a:r>
          </a:p>
          <a:p>
            <a:r>
              <a:rPr lang="en-GB" dirty="0" smtClean="0"/>
              <a:t>It worked… sort of!</a:t>
            </a:r>
          </a:p>
          <a:p>
            <a:pPr lvl="1"/>
            <a:r>
              <a:rPr lang="en-GB" dirty="0" smtClean="0"/>
              <a:t>There’s no header or footer</a:t>
            </a:r>
          </a:p>
          <a:p>
            <a:pPr lvl="1"/>
            <a:r>
              <a:rPr lang="en-GB" dirty="0" smtClean="0"/>
              <a:t>But a widget doesn’t have one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95" y="273844"/>
            <a:ext cx="2752490" cy="4314107"/>
          </a:xfrm>
        </p:spPr>
      </p:pic>
    </p:spTree>
    <p:extLst>
      <p:ext uri="{BB962C8B-B14F-4D97-AF65-F5344CB8AC3E}">
        <p14:creationId xmlns:p14="http://schemas.microsoft.com/office/powerpoint/2010/main" val="353649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Improve Widget Template - Preview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The widget isn’t wrapped</a:t>
            </a:r>
          </a:p>
          <a:p>
            <a:pPr lvl="1"/>
            <a:r>
              <a:rPr lang="en-GB" dirty="0" smtClean="0"/>
              <a:t>Because we don’t need that</a:t>
            </a:r>
          </a:p>
          <a:p>
            <a:r>
              <a:rPr lang="en-GB" dirty="0" smtClean="0"/>
              <a:t>We can show a different preview</a:t>
            </a:r>
          </a:p>
          <a:p>
            <a:r>
              <a:rPr lang="en-GB" dirty="0" smtClean="0"/>
              <a:t>Right-click and New &gt; preview.aspx</a:t>
            </a:r>
          </a:p>
          <a:p>
            <a:r>
              <a:rPr lang="en-GB" dirty="0" smtClean="0"/>
              <a:t>Open preview.aspx</a:t>
            </a:r>
          </a:p>
          <a:p>
            <a:r>
              <a:rPr lang="en-GB" dirty="0" smtClean="0"/>
              <a:t>Use </a:t>
            </a:r>
            <a:r>
              <a:rPr lang="en-GB" dirty="0" err="1" smtClean="0"/>
              <a:t>Out.Wrap</a:t>
            </a:r>
            <a:r>
              <a:rPr lang="en-GB" dirty="0" smtClean="0"/>
              <a:t>() and </a:t>
            </a:r>
            <a:r>
              <a:rPr lang="en-GB" dirty="0" err="1" smtClean="0"/>
              <a:t>asset.Show</a:t>
            </a:r>
            <a:r>
              <a:rPr lang="en-GB" dirty="0" smtClean="0"/>
              <a:t>()</a:t>
            </a:r>
          </a:p>
          <a:p>
            <a:r>
              <a:rPr lang="en-GB" dirty="0" smtClean="0"/>
              <a:t>It works! And it’s responsive!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371253"/>
            <a:ext cx="4349258" cy="390196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864687"/>
            <a:ext cx="4315178" cy="24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5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Add a widget to the Simple Page Template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5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Update Simple Page Template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Open input.aspx for Simple Page</a:t>
            </a:r>
          </a:p>
          <a:p>
            <a:r>
              <a:rPr lang="en-GB" dirty="0" smtClean="0"/>
              <a:t>Add a control to pick a widget</a:t>
            </a:r>
          </a:p>
          <a:p>
            <a:r>
              <a:rPr lang="en-GB" dirty="0" smtClean="0"/>
              <a:t>Open output.aspx</a:t>
            </a:r>
          </a:p>
          <a:p>
            <a:r>
              <a:rPr lang="en-GB" dirty="0" smtClean="0"/>
              <a:t>Add output for the widget</a:t>
            </a:r>
          </a:p>
          <a:p>
            <a:pPr lvl="1"/>
            <a:r>
              <a:rPr lang="en-GB" dirty="0" smtClean="0"/>
              <a:t>Use </a:t>
            </a:r>
            <a:r>
              <a:rPr lang="en-GB" dirty="0" err="1" smtClean="0"/>
              <a:t>Asset.Load</a:t>
            </a:r>
            <a:r>
              <a:rPr lang="en-GB" dirty="0" smtClean="0"/>
              <a:t>()</a:t>
            </a:r>
          </a:p>
          <a:p>
            <a:pPr lvl="1"/>
            <a:r>
              <a:rPr lang="en-GB" dirty="0" smtClean="0"/>
              <a:t>And the .Show() method</a:t>
            </a:r>
          </a:p>
          <a:p>
            <a:r>
              <a:rPr lang="en-GB" dirty="0" smtClean="0"/>
              <a:t>Validate that they picked a widget?</a:t>
            </a:r>
          </a:p>
          <a:p>
            <a:pPr lvl="1"/>
            <a:r>
              <a:rPr lang="en-GB" dirty="0" smtClean="0"/>
              <a:t>What template did they pick?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Input.ShowAcquireDocument</a:t>
            </a:r>
            <a:r>
              <a:rPr lang="en-GB" sz="1200" dirty="0">
                <a:solidFill>
                  <a:srgbClr val="00B0F0"/>
                </a:solidFill>
                <a:latin typeface="Consolas" panose="020B0609020204030204" pitchFamily="49" charset="0"/>
              </a:rPr>
              <a:t>("Widget", "widget</a:t>
            </a:r>
            <a:r>
              <a:rPr lang="en-GB" sz="12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");</a:t>
            </a:r>
          </a:p>
          <a:p>
            <a:endParaRPr lang="en-GB" sz="1200" dirty="0" smtClean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endParaRPr lang="en-GB" sz="12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GB" sz="12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&lt;%= </a:t>
            </a:r>
            <a:r>
              <a:rPr lang="en-GB" sz="1200" dirty="0" err="1">
                <a:solidFill>
                  <a:srgbClr val="00B0F0"/>
                </a:solidFill>
                <a:latin typeface="Consolas" panose="020B0609020204030204" pitchFamily="49" charset="0"/>
              </a:rPr>
              <a:t>Asset.Load</a:t>
            </a:r>
            <a:r>
              <a:rPr lang="en-GB" sz="1200" dirty="0">
                <a:solidFill>
                  <a:srgbClr val="00B0F0"/>
                </a:solidFill>
                <a:latin typeface="Consolas" panose="020B0609020204030204" pitchFamily="49" charset="0"/>
              </a:rPr>
              <a:t>(asset["widget"]).Show() </a:t>
            </a:r>
            <a:r>
              <a:rPr lang="en-GB" sz="12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%&gt;</a:t>
            </a:r>
          </a:p>
          <a:p>
            <a:endParaRPr lang="en-GB" sz="1200" dirty="0" smtClean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816" y="3528019"/>
            <a:ext cx="4846184" cy="110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17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Improving the User Experience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70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Improving the User Experience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Content authors do not typically have permission to use New &gt; File in the CMS</a:t>
            </a:r>
          </a:p>
          <a:p>
            <a:r>
              <a:rPr lang="en-GB" dirty="0" smtClean="0"/>
              <a:t>Doing so would let them pick templates not designed for your site</a:t>
            </a:r>
          </a:p>
          <a:p>
            <a:r>
              <a:rPr lang="en-GB" dirty="0" smtClean="0"/>
              <a:t>Or the wrong workflow</a:t>
            </a:r>
          </a:p>
          <a:p>
            <a:r>
              <a:rPr lang="en-GB" dirty="0" smtClean="0"/>
              <a:t>Let’s move our assets around and create some models to help authors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736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Creating Models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In V3, navigate </a:t>
            </a:r>
            <a:r>
              <a:rPr lang="en-GB"/>
              <a:t>to </a:t>
            </a:r>
            <a:r>
              <a:rPr lang="en-GB" smtClean="0"/>
              <a:t>Project </a:t>
            </a:r>
            <a:r>
              <a:rPr lang="en-GB" dirty="0"/>
              <a:t>/ Models / </a:t>
            </a:r>
            <a:r>
              <a:rPr lang="en-GB" i="1" dirty="0"/>
              <a:t>[Your name]</a:t>
            </a:r>
            <a:endParaRPr lang="en-GB" dirty="0"/>
          </a:p>
          <a:p>
            <a:r>
              <a:rPr lang="en-GB" dirty="0"/>
              <a:t>Right-click and choose New &gt; Folder</a:t>
            </a:r>
          </a:p>
          <a:p>
            <a:r>
              <a:rPr lang="en-GB" dirty="0"/>
              <a:t>Name it “Pages”</a:t>
            </a:r>
          </a:p>
          <a:p>
            <a:r>
              <a:rPr lang="en-GB" dirty="0"/>
              <a:t>Navigate into the Pages folder</a:t>
            </a:r>
          </a:p>
          <a:p>
            <a:r>
              <a:rPr lang="en-GB" dirty="0"/>
              <a:t>Right-click and choose New &gt; File</a:t>
            </a:r>
          </a:p>
          <a:p>
            <a:r>
              <a:rPr lang="en-GB" dirty="0"/>
              <a:t>Name it “Simple Page”</a:t>
            </a:r>
          </a:p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Choose the Simple Page template and the Basic Workflow</a:t>
            </a:r>
          </a:p>
          <a:p>
            <a:r>
              <a:rPr lang="en-GB" dirty="0" smtClean="0"/>
              <a:t>In a minute we’ll repeat the steps to add a folder called “Widgets”</a:t>
            </a:r>
          </a:p>
          <a:p>
            <a:r>
              <a:rPr lang="en-GB" dirty="0" smtClean="0"/>
              <a:t>We won’t make one for Site </a:t>
            </a:r>
            <a:r>
              <a:rPr lang="en-GB" dirty="0" err="1" smtClean="0"/>
              <a:t>Config</a:t>
            </a:r>
            <a:endParaRPr lang="en-GB" dirty="0" smtClean="0"/>
          </a:p>
          <a:p>
            <a:pPr lvl="1"/>
            <a:r>
              <a:rPr lang="en-GB" dirty="0" smtClean="0"/>
              <a:t>Why not?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932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Assigning Models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Navigate to your folder</a:t>
            </a:r>
          </a:p>
          <a:p>
            <a:pPr lvl="1"/>
            <a:r>
              <a:rPr lang="en-GB" dirty="0" smtClean="0"/>
              <a:t>Select it</a:t>
            </a:r>
          </a:p>
          <a:p>
            <a:r>
              <a:rPr lang="en-GB" dirty="0" smtClean="0"/>
              <a:t>In the Properties panel, click Model</a:t>
            </a:r>
          </a:p>
          <a:p>
            <a:r>
              <a:rPr lang="en-GB" dirty="0" smtClean="0"/>
              <a:t>Click Browse and pick the “Pages” folder you just created</a:t>
            </a:r>
          </a:p>
          <a:p>
            <a:pPr lvl="1"/>
            <a:r>
              <a:rPr lang="en-GB" dirty="0" smtClean="0"/>
              <a:t>NOTE: not the file!</a:t>
            </a:r>
          </a:p>
          <a:p>
            <a:pPr lvl="1"/>
            <a:r>
              <a:rPr lang="en-US" dirty="0" smtClean="0"/>
              <a:t>Click OK to apply the change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Models are cached, so log out of V3</a:t>
            </a:r>
          </a:p>
          <a:p>
            <a:r>
              <a:rPr lang="en-GB" dirty="0" smtClean="0"/>
              <a:t>Log back in again and navigate to your folder</a:t>
            </a:r>
          </a:p>
          <a:p>
            <a:r>
              <a:rPr lang="en-GB" dirty="0" smtClean="0"/>
              <a:t>Try the New menu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467" y="3266394"/>
            <a:ext cx="3234419" cy="177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7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Assigning Models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/>
              <a:t>Make a new folder (not in Models)</a:t>
            </a:r>
          </a:p>
          <a:p>
            <a:pPr lvl="1"/>
            <a:r>
              <a:rPr lang="en-GB" dirty="0" smtClean="0"/>
              <a:t>Call it Widgets</a:t>
            </a:r>
          </a:p>
          <a:p>
            <a:pPr lvl="1"/>
            <a:r>
              <a:rPr lang="en-GB" dirty="0" smtClean="0"/>
              <a:t>Move your widget into the folder</a:t>
            </a:r>
          </a:p>
          <a:p>
            <a:pPr lvl="1"/>
            <a:r>
              <a:rPr lang="en-GB" dirty="0" smtClean="0"/>
              <a:t>(You might get an error here!)</a:t>
            </a:r>
          </a:p>
          <a:p>
            <a:r>
              <a:rPr lang="en-GB" dirty="0" smtClean="0"/>
              <a:t>Now make another model as before</a:t>
            </a:r>
          </a:p>
          <a:p>
            <a:pPr lvl="1"/>
            <a:r>
              <a:rPr lang="en-GB" dirty="0" smtClean="0"/>
              <a:t>Call the folder “Widgets”</a:t>
            </a:r>
          </a:p>
          <a:p>
            <a:pPr lvl="1"/>
            <a:r>
              <a:rPr lang="en-GB" dirty="0" smtClean="0"/>
              <a:t>Call the file “Widget”</a:t>
            </a:r>
          </a:p>
          <a:p>
            <a:pPr lvl="1"/>
            <a:r>
              <a:rPr lang="en-GB" dirty="0" smtClean="0"/>
              <a:t>Pick the Widget template</a:t>
            </a:r>
          </a:p>
          <a:p>
            <a:pPr lvl="1"/>
            <a:r>
              <a:rPr lang="en-GB" dirty="0" smtClean="0"/>
              <a:t>And </a:t>
            </a:r>
            <a:r>
              <a:rPr lang="en-GB" smtClean="0"/>
              <a:t>the Basic </a:t>
            </a:r>
            <a:r>
              <a:rPr lang="en-GB" dirty="0" smtClean="0"/>
              <a:t>Workflow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 smtClean="0"/>
              <a:t>Assign the model to the Widgets folder you just created</a:t>
            </a:r>
          </a:p>
          <a:p>
            <a:r>
              <a:rPr lang="en-GB" dirty="0" smtClean="0"/>
              <a:t>Log out and back into V3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215" y="2828925"/>
            <a:ext cx="3916136" cy="21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8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83C326-4A27-4EB7-B73E-9277DD4596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8A7410-A7F7-4148-B700-E9738C1947C6}">
  <ds:schemaRefs>
    <ds:schemaRef ds:uri="http://schemas.openxmlformats.org/package/2006/metadata/core-properties"/>
    <ds:schemaRef ds:uri="c81fd3e1-4b46-4bb7-aee6-da9f3dad3097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631082eb-fd3e-4e0d-a348-9c93b2e913b5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D604A15-1A45-46F2-A25A-F2D258E7DBBC}"/>
</file>

<file path=docProps/app.xml><?xml version="1.0" encoding="utf-8"?>
<Properties xmlns="http://schemas.openxmlformats.org/officeDocument/2006/extended-properties" xmlns:vt="http://schemas.openxmlformats.org/officeDocument/2006/docPropsVTypes">
  <TotalTime>6440</TotalTime>
  <Words>1525</Words>
  <Application>Microsoft Macintosh PowerPoint</Application>
  <PresentationFormat>On-screen Show (16:9)</PresentationFormat>
  <Paragraphs>322</Paragraphs>
  <Slides>41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Calibri</vt:lpstr>
      <vt:lpstr>Calibri Light</vt:lpstr>
      <vt:lpstr>Consolas</vt:lpstr>
      <vt:lpstr>Arial</vt:lpstr>
      <vt:lpstr>Office Theme</vt:lpstr>
      <vt:lpstr>Developer Training</vt:lpstr>
      <vt:lpstr>Introduction</vt:lpstr>
      <vt:lpstr>What we’ll be making</vt:lpstr>
      <vt:lpstr>What we’ll be making</vt:lpstr>
      <vt:lpstr>Site Configuration</vt:lpstr>
      <vt:lpstr>PowerPoint Presentation</vt:lpstr>
      <vt:lpstr>Planning our Site Configuration</vt:lpstr>
      <vt:lpstr>Create Site Configuration Template</vt:lpstr>
      <vt:lpstr>Create Site Configuration Input Template</vt:lpstr>
      <vt:lpstr>Create Site Configuration Asset</vt:lpstr>
      <vt:lpstr>Edit Site Configuration Asset</vt:lpstr>
      <vt:lpstr>So far, so good…</vt:lpstr>
      <vt:lpstr>Improving usability</vt:lpstr>
      <vt:lpstr>Finished Site Configuration Template</vt:lpstr>
      <vt:lpstr>Finished Site Configuration Template</vt:lpstr>
      <vt:lpstr>One last change…!</vt:lpstr>
      <vt:lpstr>Navigation Wrapper</vt:lpstr>
      <vt:lpstr>Navigation Wrapper</vt:lpstr>
      <vt:lpstr>Create Navigation Wrapper Template</vt:lpstr>
      <vt:lpstr>Create Navigation Wrapper Output Template</vt:lpstr>
      <vt:lpstr>Create Navigation Wrapper Output Template</vt:lpstr>
      <vt:lpstr>Create Navigation Wrapper Output Template</vt:lpstr>
      <vt:lpstr>Create Navigation Wrapper Output Template</vt:lpstr>
      <vt:lpstr>Simple Page Template</vt:lpstr>
      <vt:lpstr>Create Simple Page Template - Input</vt:lpstr>
      <vt:lpstr>Create Simple Page Template - Validation</vt:lpstr>
      <vt:lpstr>Create Simple Page Template - Output</vt:lpstr>
      <vt:lpstr>Create Simple Page Template - Output</vt:lpstr>
      <vt:lpstr>Widget Template</vt:lpstr>
      <vt:lpstr>Create Widget Template - Input</vt:lpstr>
      <vt:lpstr>Create Widget Template - Output</vt:lpstr>
      <vt:lpstr>Create Widget Asset</vt:lpstr>
      <vt:lpstr>Improve Widget Template - Preview</vt:lpstr>
      <vt:lpstr>Add a widget to the Simple Page Template</vt:lpstr>
      <vt:lpstr>Update Simple Page Template</vt:lpstr>
      <vt:lpstr>Improving the User Experience</vt:lpstr>
      <vt:lpstr>Improving the User Experience</vt:lpstr>
      <vt:lpstr>Creating Models</vt:lpstr>
      <vt:lpstr>Assigning Models</vt:lpstr>
      <vt:lpstr>Assigning Models</vt:lpstr>
      <vt:lpstr>Thank You!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Clark</dc:creator>
  <cp:lastModifiedBy>Marcus Edwards</cp:lastModifiedBy>
  <cp:revision>280</cp:revision>
  <dcterms:created xsi:type="dcterms:W3CDTF">2014-05-29T23:54:45Z</dcterms:created>
  <dcterms:modified xsi:type="dcterms:W3CDTF">2018-03-13T15:52:23Z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