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36"/>
  </p:notesMasterIdLst>
  <p:handoutMasterIdLst>
    <p:handoutMasterId r:id="rId37"/>
  </p:handoutMasterIdLst>
  <p:sldIdLst>
    <p:sldId id="256" r:id="rId5"/>
    <p:sldId id="427" r:id="rId6"/>
    <p:sldId id="426" r:id="rId7"/>
    <p:sldId id="334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8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328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D7FE53-884E-FB44-BA47-7F4DC794B0F8}">
          <p14:sldIdLst>
            <p14:sldId id="256"/>
          </p14:sldIdLst>
        </p14:section>
        <p14:section name="Slides" id="{FDC05B97-ECA3-814E-A7AC-D49BEC64439C}">
          <p14:sldIdLst>
            <p14:sldId id="427"/>
            <p14:sldId id="426"/>
            <p14:sldId id="334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  <p14:section name="Wrap-Up" id="{F53CF82D-9C9C-C848-AE6E-43FCDA4A19F2}">
          <p14:sldIdLst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07" autoAdjust="0"/>
    <p:restoredTop sz="81731" autoAdjust="0"/>
  </p:normalViewPr>
  <p:slideViewPr>
    <p:cSldViewPr snapToGrid="0" snapToObjects="1">
      <p:cViewPr varScale="1">
        <p:scale>
          <a:sx n="131" d="100"/>
          <a:sy n="131" d="100"/>
        </p:scale>
        <p:origin x="408" y="168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9" Type="http://schemas.openxmlformats.org/officeDocument/2006/relationships/slide" Target="slides/slide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37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1/24/18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1/24/18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24 January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24 January 2018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1/24/18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Lab 5: Advanced Component Library</a:t>
            </a:r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Real world scenarios with Component Library:</a:t>
            </a:r>
          </a:p>
          <a:p>
            <a:r>
              <a:rPr lang="en-US" dirty="0" smtClean="0"/>
              <a:t>Removing empty elements</a:t>
            </a:r>
          </a:p>
          <a:p>
            <a:r>
              <a:rPr lang="en-US" dirty="0" smtClean="0"/>
              <a:t>Localizing text strings</a:t>
            </a:r>
          </a:p>
          <a:p>
            <a:r>
              <a:rPr lang="en-US" dirty="0" smtClean="0"/>
              <a:t>Making an ASP.net master page</a:t>
            </a:r>
          </a:p>
          <a:p>
            <a:r>
              <a:rPr lang="en-US" dirty="0" smtClean="0"/>
              <a:t>Making a custom navigation wrapper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3780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2533" y="1899103"/>
            <a:ext cx="6858000" cy="840248"/>
          </a:xfrm>
        </p:spPr>
        <p:txBody>
          <a:bodyPr/>
          <a:lstStyle/>
          <a:p>
            <a:r>
              <a:rPr lang="en-GB" dirty="0" smtClean="0"/>
              <a:t>Removing empty elements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91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Add a date to your Article component, above the Byline</a:t>
            </a:r>
          </a:p>
          <a:p>
            <a:pPr lvl="1"/>
            <a:r>
              <a:rPr lang="en-US" dirty="0" smtClean="0"/>
              <a:t>&lt;p&gt;Date: {</a:t>
            </a:r>
            <a:r>
              <a:rPr lang="en-US" dirty="0" err="1" smtClean="0"/>
              <a:t>article_date</a:t>
            </a:r>
            <a:r>
              <a:rPr lang="en-US" dirty="0" smtClean="0"/>
              <a:t>}&lt;/p&gt;</a:t>
            </a:r>
          </a:p>
          <a:p>
            <a:pPr lvl="1"/>
            <a:r>
              <a:rPr lang="en-US" dirty="0" smtClean="0"/>
              <a:t>I’ll use a text component for now, but we could also make a Date component</a:t>
            </a:r>
          </a:p>
          <a:p>
            <a:r>
              <a:rPr lang="en-US" dirty="0" smtClean="0"/>
              <a:t>Save, then test it out on your page</a:t>
            </a:r>
          </a:p>
          <a:p>
            <a:r>
              <a:rPr lang="en-US" dirty="0" smtClean="0"/>
              <a:t>That works nicely, until I leave the input field blank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83" y="3542985"/>
            <a:ext cx="3903641" cy="1190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5373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In Visual Studio, navigate to the Components folder inside Component Project</a:t>
            </a:r>
          </a:p>
          <a:p>
            <a:r>
              <a:rPr lang="en-US" dirty="0" smtClean="0"/>
              <a:t>Edit </a:t>
            </a:r>
            <a:r>
              <a:rPr lang="en-US" dirty="0" err="1" smtClean="0"/>
              <a:t>Components_</a:t>
            </a:r>
            <a:r>
              <a:rPr lang="en-US" i="1" dirty="0" err="1" smtClean="0"/>
              <a:t>YourName</a:t>
            </a:r>
            <a:r>
              <a:rPr lang="en-US" dirty="0" err="1" smtClean="0"/>
              <a:t>Article.cs</a:t>
            </a:r>
            <a:endParaRPr lang="en-US" dirty="0" smtClean="0"/>
          </a:p>
          <a:p>
            <a:r>
              <a:rPr lang="en-US" dirty="0" smtClean="0"/>
              <a:t>Replace line 34 with the following code:</a:t>
            </a:r>
          </a:p>
          <a:p>
            <a:r>
              <a:rPr lang="en-GB" sz="1200" dirty="0" err="1">
                <a:latin typeface="Consolas" panose="020B0609020204030204" pitchFamily="49" charset="0"/>
              </a:rPr>
              <a:t>var</a:t>
            </a:r>
            <a:r>
              <a:rPr lang="en-GB" sz="1200" dirty="0">
                <a:latin typeface="Consolas" panose="020B0609020204030204" pitchFamily="49" charset="0"/>
              </a:rPr>
              <a:t> </a:t>
            </a:r>
            <a:r>
              <a:rPr lang="en-GB" sz="1200" dirty="0" err="1">
                <a:latin typeface="Consolas" panose="020B0609020204030204" pitchFamily="49" charset="0"/>
              </a:rPr>
              <a:t>markup</a:t>
            </a:r>
            <a:r>
              <a:rPr lang="en-GB" sz="1200" dirty="0">
                <a:latin typeface="Consolas" panose="020B0609020204030204" pitchFamily="49" charset="0"/>
              </a:rPr>
              <a:t> = </a:t>
            </a:r>
            <a:r>
              <a:rPr lang="en-GB" sz="1200" dirty="0" err="1">
                <a:latin typeface="Consolas" panose="020B0609020204030204" pitchFamily="49" charset="0"/>
              </a:rPr>
              <a:t>OutputBase</a:t>
            </a:r>
            <a:r>
              <a:rPr lang="en-GB" sz="1200" dirty="0">
                <a:latin typeface="Consolas" panose="020B0609020204030204" pitchFamily="49" charset="0"/>
              </a:rPr>
              <a:t>(asset, context, name, index, </a:t>
            </a:r>
            <a:r>
              <a:rPr lang="en-GB" sz="1200" dirty="0" err="1">
                <a:latin typeface="Consolas" panose="020B0609020204030204" pitchFamily="49" charset="0"/>
              </a:rPr>
              <a:t>isDrag</a:t>
            </a:r>
            <a:r>
              <a:rPr lang="en-GB" sz="1200" dirty="0" smtClean="0">
                <a:latin typeface="Consolas" panose="020B0609020204030204" pitchFamily="49" charset="0"/>
              </a:rPr>
              <a:t>);</a:t>
            </a:r>
            <a:br>
              <a:rPr lang="en-GB" sz="1200" dirty="0" smtClean="0">
                <a:latin typeface="Consolas" panose="020B0609020204030204" pitchFamily="49" charset="0"/>
              </a:rPr>
            </a:br>
            <a:r>
              <a:rPr lang="en-GB" sz="1200" dirty="0" smtClean="0">
                <a:latin typeface="Consolas" panose="020B0609020204030204" pitchFamily="49" charset="0"/>
              </a:rPr>
              <a:t>if </a:t>
            </a:r>
            <a:r>
              <a:rPr lang="en-GB" sz="1200" dirty="0">
                <a:latin typeface="Consolas" panose="020B0609020204030204" pitchFamily="49" charset="0"/>
              </a:rPr>
              <a:t>(</a:t>
            </a:r>
            <a:r>
              <a:rPr lang="en-GB" sz="1200" dirty="0" err="1">
                <a:latin typeface="Consolas" panose="020B0609020204030204" pitchFamily="49" charset="0"/>
              </a:rPr>
              <a:t>string.IsNullOrWhiteSpace</a:t>
            </a:r>
            <a:r>
              <a:rPr lang="en-GB" sz="1200" dirty="0">
                <a:latin typeface="Consolas" panose="020B0609020204030204" pitchFamily="49" charset="0"/>
              </a:rPr>
              <a:t>(</a:t>
            </a:r>
            <a:r>
              <a:rPr lang="en-GB" sz="1200" dirty="0" err="1">
                <a:latin typeface="Consolas" panose="020B0609020204030204" pitchFamily="49" charset="0"/>
              </a:rPr>
              <a:t>asset.Raw</a:t>
            </a:r>
            <a:r>
              <a:rPr lang="en-GB" sz="1200" dirty="0">
                <a:latin typeface="Consolas" panose="020B0609020204030204" pitchFamily="49" charset="0"/>
              </a:rPr>
              <a:t>[name + "_</a:t>
            </a:r>
            <a:r>
              <a:rPr lang="en-GB" sz="1200" dirty="0" err="1">
                <a:latin typeface="Consolas" panose="020B0609020204030204" pitchFamily="49" charset="0"/>
              </a:rPr>
              <a:t>article_date</a:t>
            </a:r>
            <a:r>
              <a:rPr lang="en-GB" sz="1200" dirty="0">
                <a:latin typeface="Consolas" panose="020B0609020204030204" pitchFamily="49" charset="0"/>
              </a:rPr>
              <a:t>" + index</a:t>
            </a:r>
            <a:r>
              <a:rPr lang="en-GB" sz="1200" dirty="0" smtClean="0">
                <a:latin typeface="Consolas" panose="020B0609020204030204" pitchFamily="49" charset="0"/>
              </a:rPr>
              <a:t>]))</a:t>
            </a:r>
            <a:br>
              <a:rPr lang="en-GB" sz="1200" dirty="0" smtClean="0">
                <a:latin typeface="Consolas" panose="020B0609020204030204" pitchFamily="49" charset="0"/>
              </a:rPr>
            </a:br>
            <a:r>
              <a:rPr lang="en-GB" sz="1200" dirty="0" smtClean="0">
                <a:latin typeface="Consolas" panose="020B0609020204030204" pitchFamily="49" charset="0"/>
              </a:rPr>
              <a:t>{</a:t>
            </a:r>
            <a:br>
              <a:rPr lang="en-GB" sz="1200" dirty="0" smtClean="0">
                <a:latin typeface="Consolas" panose="020B0609020204030204" pitchFamily="49" charset="0"/>
              </a:rPr>
            </a:br>
            <a:r>
              <a:rPr lang="en-GB" sz="1200" dirty="0" smtClean="0">
                <a:latin typeface="Consolas" panose="020B0609020204030204" pitchFamily="49" charset="0"/>
              </a:rPr>
              <a:t>    </a:t>
            </a:r>
            <a:r>
              <a:rPr lang="en-GB" sz="1200" dirty="0" err="1" smtClean="0">
                <a:latin typeface="Consolas" panose="020B0609020204030204" pitchFamily="49" charset="0"/>
              </a:rPr>
              <a:t>markup</a:t>
            </a:r>
            <a:r>
              <a:rPr lang="en-GB" sz="1200" dirty="0" smtClean="0">
                <a:latin typeface="Consolas" panose="020B0609020204030204" pitchFamily="49" charset="0"/>
              </a:rPr>
              <a:t> </a:t>
            </a:r>
            <a:r>
              <a:rPr lang="en-GB" sz="1200" dirty="0">
                <a:latin typeface="Consolas" panose="020B0609020204030204" pitchFamily="49" charset="0"/>
              </a:rPr>
              <a:t>= new </a:t>
            </a:r>
            <a:r>
              <a:rPr lang="en-GB" sz="1200" dirty="0" err="1">
                <a:latin typeface="Consolas" panose="020B0609020204030204" pitchFamily="49" charset="0"/>
              </a:rPr>
              <a:t>System.Text.RegularExpressions.Regex</a:t>
            </a:r>
            <a:r>
              <a:rPr lang="en-GB" sz="1200" dirty="0">
                <a:latin typeface="Consolas" panose="020B0609020204030204" pitchFamily="49" charset="0"/>
              </a:rPr>
              <a:t>("&lt;p&gt;Date:.*?&lt;/p&gt;").Replace(</a:t>
            </a:r>
            <a:r>
              <a:rPr lang="en-GB" sz="1200" dirty="0" err="1">
                <a:latin typeface="Consolas" panose="020B0609020204030204" pitchFamily="49" charset="0"/>
              </a:rPr>
              <a:t>markup</a:t>
            </a:r>
            <a:r>
              <a:rPr lang="en-GB" sz="1200" dirty="0">
                <a:latin typeface="Consolas" panose="020B0609020204030204" pitchFamily="49" charset="0"/>
              </a:rPr>
              <a:t>, </a:t>
            </a:r>
            <a:r>
              <a:rPr lang="en-GB" sz="1200" dirty="0" smtClean="0">
                <a:latin typeface="Consolas" panose="020B0609020204030204" pitchFamily="49" charset="0"/>
              </a:rPr>
              <a:t>"");</a:t>
            </a:r>
            <a:br>
              <a:rPr lang="en-GB" sz="1200" dirty="0" smtClean="0">
                <a:latin typeface="Consolas" panose="020B0609020204030204" pitchFamily="49" charset="0"/>
              </a:rPr>
            </a:br>
            <a:r>
              <a:rPr lang="en-GB" sz="1200" dirty="0" smtClean="0">
                <a:latin typeface="Consolas" panose="020B0609020204030204" pitchFamily="49" charset="0"/>
              </a:rPr>
              <a:t>}</a:t>
            </a:r>
            <a:br>
              <a:rPr lang="en-GB" sz="1200" dirty="0" smtClean="0">
                <a:latin typeface="Consolas" panose="020B0609020204030204" pitchFamily="49" charset="0"/>
              </a:rPr>
            </a:br>
            <a:r>
              <a:rPr lang="en-GB" sz="1200" dirty="0" smtClean="0">
                <a:latin typeface="Consolas" panose="020B0609020204030204" pitchFamily="49" charset="0"/>
              </a:rPr>
              <a:t>return </a:t>
            </a:r>
            <a:r>
              <a:rPr lang="en-GB" sz="1200" dirty="0" err="1">
                <a:latin typeface="Consolas" panose="020B0609020204030204" pitchFamily="49" charset="0"/>
              </a:rPr>
              <a:t>markup</a:t>
            </a:r>
            <a:r>
              <a:rPr lang="en-GB" sz="1200" dirty="0">
                <a:latin typeface="Consolas" panose="020B0609020204030204" pitchFamily="49" charset="0"/>
              </a:rPr>
              <a:t>;</a:t>
            </a:r>
            <a:endParaRPr lang="en-US" sz="1200" dirty="0" smtClean="0">
              <a:latin typeface="Consolas" panose="020B0609020204030204" pitchFamily="49" charset="0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2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Refresh the article preview</a:t>
            </a:r>
          </a:p>
          <a:p>
            <a:r>
              <a:rPr lang="en-US" dirty="0" smtClean="0"/>
              <a:t>The empty field has now gone</a:t>
            </a:r>
            <a:endParaRPr lang="en-US" dirty="0"/>
          </a:p>
          <a:p>
            <a:r>
              <a:rPr lang="en-US" dirty="0" smtClean="0"/>
              <a:t>It works, but we’ll have to write this code a lot</a:t>
            </a:r>
          </a:p>
          <a:p>
            <a:r>
              <a:rPr lang="en-US" dirty="0" smtClean="0"/>
              <a:t>That may be acceptable, or we can refactor to make it easier</a:t>
            </a:r>
          </a:p>
          <a:p>
            <a:r>
              <a:rPr lang="en-US" dirty="0" smtClean="0"/>
              <a:t>Make a new component: </a:t>
            </a:r>
            <a:r>
              <a:rPr lang="en-US" i="1" dirty="0" smtClean="0"/>
              <a:t>Your Name</a:t>
            </a:r>
            <a:r>
              <a:rPr lang="en-US" dirty="0" smtClean="0"/>
              <a:t> Article Date</a:t>
            </a:r>
          </a:p>
          <a:p>
            <a:pPr lvl="1"/>
            <a:r>
              <a:rPr lang="en-US" dirty="0" smtClean="0"/>
              <a:t>Use the same markup as before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8433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In Visual Studio, edit </a:t>
            </a:r>
            <a:r>
              <a:rPr lang="en-US" dirty="0" err="1" smtClean="0"/>
              <a:t>Components_</a:t>
            </a:r>
            <a:r>
              <a:rPr lang="en-US" i="1" dirty="0" err="1" smtClean="0"/>
              <a:t>YourName</a:t>
            </a:r>
            <a:r>
              <a:rPr lang="en-US" dirty="0" err="1" smtClean="0"/>
              <a:t>ArticleDate.cs</a:t>
            </a:r>
            <a:endParaRPr lang="en-US" dirty="0" smtClean="0"/>
          </a:p>
          <a:p>
            <a:r>
              <a:rPr lang="en-US" dirty="0" smtClean="0"/>
              <a:t>Replace line 34 with:</a:t>
            </a:r>
          </a:p>
          <a:p>
            <a:r>
              <a:rPr lang="en-GB" sz="1400" dirty="0">
                <a:latin typeface="Consolas" panose="020B0609020204030204" pitchFamily="49" charset="0"/>
              </a:rPr>
              <a:t>if (</a:t>
            </a:r>
            <a:r>
              <a:rPr lang="en-GB" sz="1400" dirty="0" err="1">
                <a:latin typeface="Consolas" panose="020B0609020204030204" pitchFamily="49" charset="0"/>
              </a:rPr>
              <a:t>string.IsNullOrWhiteSpace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 err="1">
                <a:latin typeface="Consolas" panose="020B0609020204030204" pitchFamily="49" charset="0"/>
              </a:rPr>
              <a:t>asset.Raw</a:t>
            </a:r>
            <a:r>
              <a:rPr lang="en-GB" sz="1400" dirty="0">
                <a:latin typeface="Consolas" panose="020B0609020204030204" pitchFamily="49" charset="0"/>
              </a:rPr>
              <a:t>[name + "_</a:t>
            </a:r>
            <a:r>
              <a:rPr lang="en-GB" sz="1400" dirty="0" err="1">
                <a:latin typeface="Consolas" panose="020B0609020204030204" pitchFamily="49" charset="0"/>
              </a:rPr>
              <a:t>article_date</a:t>
            </a:r>
            <a:r>
              <a:rPr lang="en-GB" sz="1400" dirty="0">
                <a:latin typeface="Consolas" panose="020B0609020204030204" pitchFamily="49" charset="0"/>
              </a:rPr>
              <a:t>" + index</a:t>
            </a:r>
            <a:r>
              <a:rPr lang="en-GB" sz="1400" dirty="0" smtClean="0">
                <a:latin typeface="Consolas" panose="020B0609020204030204" pitchFamily="49" charset="0"/>
              </a:rPr>
              <a:t>]))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    return </a:t>
            </a:r>
            <a:r>
              <a:rPr lang="en-GB" sz="1400" dirty="0" err="1" smtClean="0">
                <a:latin typeface="Consolas" panose="020B0609020204030204" pitchFamily="49" charset="0"/>
              </a:rPr>
              <a:t>string.Empty</a:t>
            </a:r>
            <a:r>
              <a:rPr lang="en-GB" sz="1400" dirty="0" smtClean="0">
                <a:latin typeface="Consolas" panose="020B0609020204030204" pitchFamily="49" charset="0"/>
              </a:rPr>
              <a:t>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return </a:t>
            </a:r>
            <a:r>
              <a:rPr lang="en-GB" sz="1400" dirty="0" err="1">
                <a:latin typeface="Consolas" panose="020B0609020204030204" pitchFamily="49" charset="0"/>
              </a:rPr>
              <a:t>OutputBase</a:t>
            </a:r>
            <a:r>
              <a:rPr lang="en-GB" sz="1400" dirty="0">
                <a:latin typeface="Consolas" panose="020B0609020204030204" pitchFamily="49" charset="0"/>
              </a:rPr>
              <a:t>(asset, context, name, index, </a:t>
            </a:r>
            <a:r>
              <a:rPr lang="en-GB" sz="1400" dirty="0" err="1">
                <a:latin typeface="Consolas" panose="020B0609020204030204" pitchFamily="49" charset="0"/>
              </a:rPr>
              <a:t>isDrag</a:t>
            </a:r>
            <a:r>
              <a:rPr lang="en-GB" sz="14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dirty="0" smtClean="0"/>
              <a:t>Also undo your changes in </a:t>
            </a:r>
            <a:r>
              <a:rPr lang="en-US" dirty="0" err="1" smtClean="0"/>
              <a:t>Components_</a:t>
            </a:r>
            <a:r>
              <a:rPr lang="en-US" i="1" dirty="0" err="1" smtClean="0"/>
              <a:t>YourName</a:t>
            </a:r>
            <a:r>
              <a:rPr lang="en-US" dirty="0" err="1" smtClean="0"/>
              <a:t>Article.cs</a:t>
            </a:r>
            <a:endParaRPr lang="en-US" dirty="0" smtClean="0"/>
          </a:p>
          <a:p>
            <a:pPr marL="0" indent="0">
              <a:buNone/>
            </a:pPr>
            <a:endParaRPr lang="en-GB" sz="1400" dirty="0">
              <a:latin typeface="+mj-lt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134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Remove the Date line from your article and replace it with:</a:t>
            </a:r>
          </a:p>
          <a:p>
            <a:pPr lvl="1"/>
            <a:r>
              <a:rPr lang="en-US" dirty="0" smtClean="0"/>
              <a:t>{</a:t>
            </a:r>
            <a:r>
              <a:rPr lang="en-US" dirty="0" err="1" smtClean="0"/>
              <a:t>article_date</a:t>
            </a:r>
            <a:r>
              <a:rPr lang="en-US" dirty="0" smtClean="0"/>
              <a:t> : </a:t>
            </a:r>
            <a:r>
              <a:rPr lang="en-US" i="1" dirty="0" err="1" smtClean="0"/>
              <a:t>YourName</a:t>
            </a:r>
            <a:r>
              <a:rPr lang="en-US" dirty="0" err="1" smtClean="0"/>
              <a:t>ArticleDate</a:t>
            </a:r>
            <a:r>
              <a:rPr lang="en-US" dirty="0" smtClean="0"/>
              <a:t>}</a:t>
            </a:r>
          </a:p>
          <a:p>
            <a:r>
              <a:rPr lang="en-US" dirty="0" smtClean="0"/>
              <a:t>Refresh your article preview</a:t>
            </a:r>
          </a:p>
          <a:p>
            <a:r>
              <a:rPr lang="en-US" dirty="0" smtClean="0"/>
              <a:t>This is better, as the code only needs to be written once</a:t>
            </a:r>
          </a:p>
        </p:txBody>
      </p:sp>
    </p:spTree>
    <p:extLst>
      <p:ext uri="{BB962C8B-B14F-4D97-AF65-F5344CB8AC3E}">
        <p14:creationId xmlns:p14="http://schemas.microsoft.com/office/powerpoint/2010/main" val="34097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Another option would be to give the user an explicit choice</a:t>
            </a:r>
          </a:p>
          <a:p>
            <a:r>
              <a:rPr lang="en-US" dirty="0" smtClean="0"/>
              <a:t>Edit the </a:t>
            </a:r>
            <a:r>
              <a:rPr lang="en-US" i="1" dirty="0" smtClean="0"/>
              <a:t>Your Article</a:t>
            </a:r>
            <a:r>
              <a:rPr lang="en-US" dirty="0" smtClean="0"/>
              <a:t> Date component and prepend:</a:t>
            </a:r>
          </a:p>
          <a:p>
            <a:pPr lvl="1"/>
            <a:r>
              <a:rPr lang="en-US" dirty="0" smtClean="0"/>
              <a:t>{</a:t>
            </a:r>
            <a:r>
              <a:rPr lang="en-US" dirty="0" err="1" smtClean="0"/>
              <a:t>hide_article_date</a:t>
            </a:r>
            <a:r>
              <a:rPr lang="en-US" dirty="0" smtClean="0"/>
              <a:t> : Checkbox}</a:t>
            </a:r>
            <a:endParaRPr lang="en-US" dirty="0"/>
          </a:p>
          <a:p>
            <a:r>
              <a:rPr lang="en-US" dirty="0" smtClean="0"/>
              <a:t>Save and reload the component definition</a:t>
            </a:r>
          </a:p>
          <a:p>
            <a:r>
              <a:rPr lang="en-US" dirty="0" smtClean="0"/>
              <a:t>Go to the Preview Content tab</a:t>
            </a:r>
          </a:p>
          <a:p>
            <a:r>
              <a:rPr lang="en-US" dirty="0" smtClean="0"/>
              <a:t>A checkbox has the value “yes” if it’s checked</a:t>
            </a:r>
          </a:p>
          <a:p>
            <a:pPr lvl="1"/>
            <a:r>
              <a:rPr lang="en-US" dirty="0" smtClean="0"/>
              <a:t>Empty string (or not set at all) if unchecked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72" y="3201878"/>
            <a:ext cx="2779493" cy="13356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181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empty elements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Edit </a:t>
            </a:r>
            <a:r>
              <a:rPr lang="en-US" dirty="0" err="1" smtClean="0"/>
              <a:t>Components_</a:t>
            </a:r>
            <a:r>
              <a:rPr lang="en-US" i="1" dirty="0" err="1" smtClean="0"/>
              <a:t>YourName</a:t>
            </a:r>
            <a:r>
              <a:rPr lang="en-US" dirty="0" err="1" smtClean="0"/>
              <a:t>ArticleDate.cs</a:t>
            </a:r>
            <a:endParaRPr lang="en-US" dirty="0" smtClean="0"/>
          </a:p>
          <a:p>
            <a:r>
              <a:rPr lang="en-US" dirty="0" smtClean="0"/>
              <a:t>Replace the code testing for an empty field with:</a:t>
            </a:r>
          </a:p>
          <a:p>
            <a:r>
              <a:rPr lang="en-GB" dirty="0">
                <a:latin typeface="Consolas" panose="020B0609020204030204" pitchFamily="49" charset="0"/>
              </a:rPr>
              <a:t>if (</a:t>
            </a:r>
            <a:r>
              <a:rPr lang="en-GB" dirty="0" err="1">
                <a:latin typeface="Consolas" panose="020B0609020204030204" pitchFamily="49" charset="0"/>
              </a:rPr>
              <a:t>asset.Raw</a:t>
            </a:r>
            <a:r>
              <a:rPr lang="en-GB" dirty="0">
                <a:latin typeface="Consolas" panose="020B0609020204030204" pitchFamily="49" charset="0"/>
              </a:rPr>
              <a:t>[name + "_</a:t>
            </a:r>
            <a:r>
              <a:rPr lang="en-GB" dirty="0" err="1">
                <a:latin typeface="Consolas" panose="020B0609020204030204" pitchFamily="49" charset="0"/>
              </a:rPr>
              <a:t>hide_article_date</a:t>
            </a:r>
            <a:r>
              <a:rPr lang="en-GB" dirty="0">
                <a:latin typeface="Consolas" panose="020B0609020204030204" pitchFamily="49" charset="0"/>
              </a:rPr>
              <a:t>" + index] == "yes</a:t>
            </a:r>
            <a:r>
              <a:rPr lang="en-GB" dirty="0" smtClean="0">
                <a:latin typeface="Consolas" panose="020B0609020204030204" pitchFamily="49" charset="0"/>
              </a:rPr>
              <a:t>")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    return </a:t>
            </a:r>
            <a:r>
              <a:rPr lang="en-GB" dirty="0" err="1">
                <a:latin typeface="Consolas" panose="020B0609020204030204" pitchFamily="49" charset="0"/>
              </a:rPr>
              <a:t>string.Empty</a:t>
            </a:r>
            <a:r>
              <a:rPr lang="en-GB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/>
              <a:t>Return to your article and refresh</a:t>
            </a:r>
          </a:p>
          <a:p>
            <a:r>
              <a:rPr lang="en-US" dirty="0" smtClean="0"/>
              <a:t>This is probably better, but requires an extra action from the user</a:t>
            </a:r>
          </a:p>
          <a:p>
            <a:pPr lvl="1"/>
            <a:r>
              <a:rPr lang="en-US" dirty="0" smtClean="0"/>
              <a:t>Certainly a better option for complex components</a:t>
            </a:r>
          </a:p>
          <a:p>
            <a:pPr lvl="1"/>
            <a:r>
              <a:rPr lang="en-US" dirty="0" smtClean="0"/>
              <a:t>Regular expression can be fragile and broken by small markup changes</a:t>
            </a:r>
            <a:endParaRPr lang="en-GB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972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2533" y="1899103"/>
            <a:ext cx="6858000" cy="840248"/>
          </a:xfrm>
        </p:spPr>
        <p:txBody>
          <a:bodyPr/>
          <a:lstStyle/>
          <a:p>
            <a:r>
              <a:rPr lang="en-GB" dirty="0" smtClean="0"/>
              <a:t>Localizing text strings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77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r>
              <a:rPr lang="en-US" dirty="0" smtClean="0"/>
              <a:t>Modify your Article Date component to have the following markup:</a:t>
            </a:r>
          </a:p>
          <a:p>
            <a:pPr lvl="1"/>
            <a:r>
              <a:rPr lang="fr-FR" dirty="0"/>
              <a:t>{</a:t>
            </a:r>
            <a:r>
              <a:rPr lang="fr-FR" dirty="0" err="1"/>
              <a:t>hide_article_date</a:t>
            </a:r>
            <a:r>
              <a:rPr lang="fr-FR" dirty="0"/>
              <a:t> : </a:t>
            </a:r>
            <a:r>
              <a:rPr lang="fr-FR" dirty="0" err="1"/>
              <a:t>Checkbox</a:t>
            </a:r>
            <a:r>
              <a:rPr lang="fr-FR" dirty="0" smtClean="0"/>
              <a:t>}</a:t>
            </a:r>
            <a:br>
              <a:rPr lang="fr-FR" dirty="0" smtClean="0"/>
            </a:br>
            <a:r>
              <a:rPr lang="fr-FR" dirty="0" smtClean="0"/>
              <a:t>&lt;</a:t>
            </a:r>
            <a:r>
              <a:rPr lang="fr-FR" dirty="0"/>
              <a:t>p&gt;{</a:t>
            </a:r>
            <a:r>
              <a:rPr lang="fr-FR" dirty="0" err="1"/>
              <a:t>date_label</a:t>
            </a:r>
            <a:r>
              <a:rPr lang="fr-FR" dirty="0"/>
              <a:t> : </a:t>
            </a:r>
            <a:r>
              <a:rPr lang="fr-FR" dirty="0" err="1"/>
              <a:t>Text</a:t>
            </a:r>
            <a:r>
              <a:rPr lang="fr-FR" dirty="0"/>
              <a:t>}: {</a:t>
            </a:r>
            <a:r>
              <a:rPr lang="fr-FR" dirty="0" err="1"/>
              <a:t>article_date</a:t>
            </a:r>
            <a:r>
              <a:rPr lang="fr-FR" dirty="0"/>
              <a:t> : </a:t>
            </a:r>
            <a:r>
              <a:rPr lang="fr-FR" dirty="0" err="1"/>
              <a:t>Text</a:t>
            </a:r>
            <a:r>
              <a:rPr lang="fr-FR" dirty="0"/>
              <a:t>}&lt;/p</a:t>
            </a:r>
            <a:r>
              <a:rPr lang="fr-FR" dirty="0" smtClean="0"/>
              <a:t>&gt;</a:t>
            </a:r>
          </a:p>
          <a:p>
            <a:r>
              <a:rPr lang="fr-FR" dirty="0" smtClean="0"/>
              <a:t>Save the component and </a:t>
            </a:r>
            <a:r>
              <a:rPr lang="fr-FR" dirty="0" err="1" smtClean="0"/>
              <a:t>refresh</a:t>
            </a:r>
            <a:r>
              <a:rPr lang="fr-FR" dirty="0" smtClean="0"/>
              <a:t>, </a:t>
            </a:r>
            <a:r>
              <a:rPr lang="fr-FR" dirty="0" err="1" smtClean="0"/>
              <a:t>then</a:t>
            </a:r>
            <a:r>
              <a:rPr lang="fr-FR" dirty="0" smtClean="0"/>
              <a:t> </a:t>
            </a:r>
            <a:r>
              <a:rPr lang="fr-FR" dirty="0" err="1" smtClean="0"/>
              <a:t>view</a:t>
            </a:r>
            <a:r>
              <a:rPr lang="fr-FR" dirty="0" smtClean="0"/>
              <a:t> the </a:t>
            </a:r>
            <a:r>
              <a:rPr lang="fr-FR" dirty="0" err="1" smtClean="0"/>
              <a:t>Preview</a:t>
            </a:r>
            <a:r>
              <a:rPr lang="fr-FR" dirty="0" smtClean="0"/>
              <a:t> Content tab</a:t>
            </a:r>
          </a:p>
          <a:p>
            <a:pPr lvl="1"/>
            <a:r>
              <a:rPr lang="fr-FR" dirty="0" smtClean="0"/>
              <a:t>(Note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reordered</a:t>
            </a:r>
            <a:r>
              <a:rPr lang="fr-FR" dirty="0" smtClean="0"/>
              <a:t> the components </a:t>
            </a:r>
            <a:r>
              <a:rPr lang="fr-FR" dirty="0" err="1" smtClean="0"/>
              <a:t>using</a:t>
            </a:r>
            <a:r>
              <a:rPr lang="fr-FR" dirty="0" smtClean="0"/>
              <a:t> the Component </a:t>
            </a:r>
            <a:r>
              <a:rPr lang="fr-FR" dirty="0" err="1" smtClean="0"/>
              <a:t>Details</a:t>
            </a:r>
            <a:r>
              <a:rPr lang="fr-FR" dirty="0" smtClean="0"/>
              <a:t> panel)</a:t>
            </a:r>
          </a:p>
          <a:p>
            <a:r>
              <a:rPr lang="fr-FR" dirty="0" smtClean="0"/>
              <a:t>This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most</a:t>
            </a:r>
            <a:r>
              <a:rPr lang="fr-FR" dirty="0" smtClean="0"/>
              <a:t> basic </a:t>
            </a:r>
            <a:r>
              <a:rPr lang="fr-FR" dirty="0" err="1" smtClean="0"/>
              <a:t>way</a:t>
            </a:r>
            <a:r>
              <a:rPr lang="fr-FR" dirty="0" smtClean="0"/>
              <a:t> to </a:t>
            </a:r>
            <a:r>
              <a:rPr lang="fr-FR" dirty="0" err="1" smtClean="0"/>
              <a:t>enable</a:t>
            </a:r>
            <a:r>
              <a:rPr lang="fr-FR" dirty="0" smtClean="0"/>
              <a:t> </a:t>
            </a:r>
            <a:r>
              <a:rPr lang="fr-FR" dirty="0" err="1" smtClean="0"/>
              <a:t>localization</a:t>
            </a:r>
            <a:endParaRPr lang="fr-FR" dirty="0" smtClean="0"/>
          </a:p>
          <a:p>
            <a:r>
              <a:rPr lang="fr-FR" dirty="0" smtClean="0"/>
              <a:t>But the user </a:t>
            </a:r>
            <a:r>
              <a:rPr lang="fr-FR" dirty="0" err="1" smtClean="0"/>
              <a:t>will</a:t>
            </a:r>
            <a:r>
              <a:rPr lang="fr-FR" dirty="0" smtClean="0"/>
              <a:t> have to enter </a:t>
            </a:r>
            <a:r>
              <a:rPr lang="fr-FR" dirty="0" err="1" smtClean="0"/>
              <a:t>text</a:t>
            </a:r>
            <a:r>
              <a:rPr lang="fr-FR" dirty="0" smtClean="0"/>
              <a:t> on </a:t>
            </a:r>
            <a:r>
              <a:rPr lang="fr-FR" dirty="0" err="1" smtClean="0"/>
              <a:t>every</a:t>
            </a:r>
            <a:r>
              <a:rPr lang="fr-FR" dirty="0" smtClean="0"/>
              <a:t> use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935" y="3248955"/>
            <a:ext cx="3026946" cy="17575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71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A better option is to make a component to hold your translations</a:t>
            </a:r>
          </a:p>
          <a:p>
            <a:r>
              <a:rPr lang="en-US" dirty="0" smtClean="0"/>
              <a:t>Create a new component: </a:t>
            </a:r>
            <a:r>
              <a:rPr lang="en-US" i="1" dirty="0" smtClean="0"/>
              <a:t>Your Name</a:t>
            </a:r>
            <a:r>
              <a:rPr lang="en-US" dirty="0" smtClean="0"/>
              <a:t> Translations</a:t>
            </a:r>
          </a:p>
          <a:p>
            <a:r>
              <a:rPr lang="en-US" dirty="0" smtClean="0"/>
              <a:t>Add the following markup</a:t>
            </a:r>
          </a:p>
          <a:p>
            <a:pPr lvl="1"/>
            <a:r>
              <a:rPr lang="en-US" dirty="0" smtClean="0"/>
              <a:t>{</a:t>
            </a:r>
            <a:r>
              <a:rPr lang="en-US" dirty="0" err="1" smtClean="0"/>
              <a:t>date_label</a:t>
            </a:r>
            <a:r>
              <a:rPr lang="en-US" dirty="0" smtClean="0"/>
              <a:t> : Text}</a:t>
            </a:r>
          </a:p>
          <a:p>
            <a:r>
              <a:rPr lang="en-US" dirty="0" smtClean="0"/>
              <a:t>Save your component to create it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3724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Create a new template definition: </a:t>
            </a:r>
            <a:r>
              <a:rPr lang="en-US" i="1" dirty="0" smtClean="0"/>
              <a:t>Your Name</a:t>
            </a:r>
            <a:r>
              <a:rPr lang="en-US" dirty="0" smtClean="0"/>
              <a:t> Translations Template</a:t>
            </a:r>
          </a:p>
          <a:p>
            <a:r>
              <a:rPr lang="en-US" dirty="0" smtClean="0"/>
              <a:t>Add your translations component</a:t>
            </a:r>
          </a:p>
          <a:p>
            <a:r>
              <a:rPr lang="en-US" dirty="0" smtClean="0"/>
              <a:t>You don’t need to select a wrapper</a:t>
            </a:r>
          </a:p>
          <a:p>
            <a:r>
              <a:rPr lang="en-US" dirty="0" smtClean="0"/>
              <a:t>But check the Create checkbox, and select your folder inside Templates</a:t>
            </a:r>
          </a:p>
          <a:p>
            <a:r>
              <a:rPr lang="en-US" dirty="0" smtClean="0"/>
              <a:t>Save to create your new template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0855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Create a new asset using your new Translations template</a:t>
            </a:r>
          </a:p>
          <a:p>
            <a:r>
              <a:rPr lang="en-US" dirty="0" smtClean="0"/>
              <a:t>Name it _Translations </a:t>
            </a:r>
            <a:r>
              <a:rPr lang="en-US" dirty="0" err="1" smtClean="0"/>
              <a:t>Config</a:t>
            </a:r>
            <a:endParaRPr lang="en-US" dirty="0" smtClean="0"/>
          </a:p>
          <a:p>
            <a:r>
              <a:rPr lang="en-US" dirty="0" smtClean="0"/>
              <a:t>Go to Form View and enter a label</a:t>
            </a:r>
          </a:p>
          <a:p>
            <a:r>
              <a:rPr lang="en-US" dirty="0" smtClean="0"/>
              <a:t>E.g. “Translated Date”</a:t>
            </a:r>
          </a:p>
          <a:p>
            <a:r>
              <a:rPr lang="en-US" dirty="0" smtClean="0"/>
              <a:t>Save the asset</a:t>
            </a:r>
          </a:p>
          <a:p>
            <a:r>
              <a:rPr lang="en-US" dirty="0" smtClean="0"/>
              <a:t>Stop it publishing a file</a:t>
            </a:r>
          </a:p>
          <a:p>
            <a:pPr lvl="1"/>
            <a:r>
              <a:rPr lang="en-US" dirty="0" smtClean="0"/>
              <a:t>Can you remember how?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649" y="1879249"/>
            <a:ext cx="3981080" cy="31759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22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Create a new component: </a:t>
            </a:r>
            <a:r>
              <a:rPr lang="en-US" i="1" dirty="0" smtClean="0"/>
              <a:t>Your Name</a:t>
            </a:r>
            <a:r>
              <a:rPr lang="en-US" dirty="0" smtClean="0"/>
              <a:t> Translated Text</a:t>
            </a:r>
          </a:p>
          <a:p>
            <a:r>
              <a:rPr lang="en-US" dirty="0" smtClean="0"/>
              <a:t>Leave the markup empty, and click Save to create it</a:t>
            </a:r>
          </a:p>
          <a:p>
            <a:r>
              <a:rPr lang="en-US" dirty="0" smtClean="0"/>
              <a:t>We don’t need an input experience</a:t>
            </a:r>
          </a:p>
          <a:p>
            <a:r>
              <a:rPr lang="en-US" dirty="0" smtClean="0"/>
              <a:t>The component output code will find a translation and output the text</a:t>
            </a:r>
          </a:p>
          <a:p>
            <a:r>
              <a:rPr lang="en-US" dirty="0" smtClean="0"/>
              <a:t>Edit </a:t>
            </a:r>
            <a:r>
              <a:rPr lang="en-US" dirty="0" err="1" smtClean="0"/>
              <a:t>Components_</a:t>
            </a:r>
            <a:r>
              <a:rPr lang="en-US" i="1" dirty="0" err="1" smtClean="0"/>
              <a:t>YourName</a:t>
            </a:r>
            <a:r>
              <a:rPr lang="en-US" dirty="0" err="1" smtClean="0"/>
              <a:t>TranslatedText.cs</a:t>
            </a: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8716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Replace line 34 with: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82" y="1835697"/>
            <a:ext cx="7176463" cy="317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7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Update your Article Date component to use your new component</a:t>
            </a:r>
          </a:p>
          <a:p>
            <a:pPr lvl="1"/>
            <a:r>
              <a:rPr lang="en-US" dirty="0" smtClean="0"/>
              <a:t>{</a:t>
            </a:r>
            <a:r>
              <a:rPr lang="en-US" dirty="0" err="1"/>
              <a:t>hide_article_date</a:t>
            </a:r>
            <a:r>
              <a:rPr lang="en-US" dirty="0"/>
              <a:t> : Checkbox</a:t>
            </a: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&lt;</a:t>
            </a:r>
            <a:r>
              <a:rPr lang="en-US" dirty="0"/>
              <a:t>p&gt;{</a:t>
            </a:r>
            <a:r>
              <a:rPr lang="en-US" dirty="0" err="1"/>
              <a:t>date_label</a:t>
            </a:r>
            <a:r>
              <a:rPr lang="en-US" dirty="0"/>
              <a:t> : </a:t>
            </a:r>
            <a:r>
              <a:rPr lang="en-US" dirty="0" err="1"/>
              <a:t>RichardLundTranslatedText</a:t>
            </a:r>
            <a:r>
              <a:rPr lang="en-US" dirty="0"/>
              <a:t>}: {</a:t>
            </a:r>
            <a:r>
              <a:rPr lang="en-US" dirty="0" err="1"/>
              <a:t>article_date</a:t>
            </a:r>
            <a:r>
              <a:rPr lang="en-US" dirty="0"/>
              <a:t> : Text}&lt;/p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Update your article and fill in the date, and make sure the checkbox isn’t checked</a:t>
            </a:r>
          </a:p>
          <a:p>
            <a:r>
              <a:rPr lang="en-US" dirty="0" smtClean="0"/>
              <a:t>Save and preview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613" y="3000971"/>
            <a:ext cx="4953000" cy="1543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097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Localizing text strings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In the real world, we would need to find a better way to locate the </a:t>
            </a:r>
            <a:r>
              <a:rPr lang="en-US" dirty="0" err="1" smtClean="0"/>
              <a:t>Config</a:t>
            </a:r>
            <a:r>
              <a:rPr lang="en-US" dirty="0" smtClean="0"/>
              <a:t> asset</a:t>
            </a:r>
          </a:p>
          <a:p>
            <a:r>
              <a:rPr lang="en-US" dirty="0" smtClean="0"/>
              <a:t>Typically establish a pattern where locales live under the site root</a:t>
            </a:r>
          </a:p>
          <a:p>
            <a:r>
              <a:rPr lang="en-US" dirty="0" smtClean="0"/>
              <a:t>Walk up the tree to find the nearest locale</a:t>
            </a:r>
          </a:p>
          <a:p>
            <a:r>
              <a:rPr lang="en-US" dirty="0" smtClean="0"/>
              <a:t>Then use </a:t>
            </a:r>
            <a:r>
              <a:rPr lang="en-US" dirty="0" err="1" smtClean="0"/>
              <a:t>GetFilterList</a:t>
            </a:r>
            <a:r>
              <a:rPr lang="en-US" dirty="0" smtClean="0"/>
              <a:t>() to find the Translation </a:t>
            </a:r>
            <a:r>
              <a:rPr lang="en-US" dirty="0" err="1" smtClean="0"/>
              <a:t>Config</a:t>
            </a:r>
            <a:r>
              <a:rPr lang="en-US" dirty="0" smtClean="0"/>
              <a:t> under there</a:t>
            </a:r>
          </a:p>
          <a:p>
            <a:r>
              <a:rPr lang="en-US" dirty="0" smtClean="0"/>
              <a:t>Don’t forget it needs publishing too, else it won’t get found at publish time</a:t>
            </a:r>
          </a:p>
          <a:p>
            <a:r>
              <a:rPr lang="en-US" dirty="0" smtClean="0"/>
              <a:t>You could do this many other ways – e.g. a </a:t>
            </a:r>
            <a:r>
              <a:rPr lang="en-US" dirty="0" err="1" smtClean="0"/>
              <a:t>TranslationHelper</a:t>
            </a:r>
            <a:r>
              <a:rPr lang="en-US" dirty="0" smtClean="0"/>
              <a:t> class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8135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2533" y="1899103"/>
            <a:ext cx="6858000" cy="840248"/>
          </a:xfrm>
        </p:spPr>
        <p:txBody>
          <a:bodyPr/>
          <a:lstStyle/>
          <a:p>
            <a:r>
              <a:rPr lang="en-GB" dirty="0" smtClean="0"/>
              <a:t>Making an ASP.net master page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15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The navigation wrapper is very quick and simple to create</a:t>
            </a:r>
          </a:p>
          <a:p>
            <a:r>
              <a:rPr lang="en-US" dirty="0" smtClean="0"/>
              <a:t>Great for simple sites or landing pages</a:t>
            </a:r>
          </a:p>
          <a:p>
            <a:r>
              <a:rPr lang="en-US" dirty="0" smtClean="0"/>
              <a:t>For larger site, having the navigation baked onto each page is expensive</a:t>
            </a:r>
          </a:p>
          <a:p>
            <a:r>
              <a:rPr lang="en-US" dirty="0" smtClean="0"/>
              <a:t>Each change to the navigation means a republish of every page</a:t>
            </a:r>
          </a:p>
          <a:p>
            <a:r>
              <a:rPr lang="en-US" dirty="0" smtClean="0"/>
              <a:t>Worth taking a small maintenance hit to save this effort for your users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697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In Visual Studio, navigate to your folder under Templates</a:t>
            </a:r>
          </a:p>
          <a:p>
            <a:pPr lvl="1"/>
            <a:r>
              <a:rPr lang="en-US" dirty="0" smtClean="0"/>
              <a:t>Note, NOT Template Definitions!</a:t>
            </a:r>
          </a:p>
          <a:p>
            <a:r>
              <a:rPr lang="en-US" dirty="0" smtClean="0"/>
              <a:t>Right-click and create a new Template C#</a:t>
            </a:r>
          </a:p>
          <a:p>
            <a:pPr lvl="1"/>
            <a:r>
              <a:rPr lang="en-US" dirty="0" smtClean="0"/>
              <a:t>Name it </a:t>
            </a:r>
            <a:r>
              <a:rPr lang="en-US" i="1" dirty="0" smtClean="0"/>
              <a:t>Your Name</a:t>
            </a:r>
            <a:r>
              <a:rPr lang="en-US" dirty="0" smtClean="0"/>
              <a:t> Master Page</a:t>
            </a:r>
          </a:p>
          <a:p>
            <a:r>
              <a:rPr lang="en-US" dirty="0" smtClean="0"/>
              <a:t>Copy in the markup from the Navigation Wrapper output.aspx</a:t>
            </a:r>
          </a:p>
          <a:p>
            <a:r>
              <a:rPr lang="en-US" dirty="0" smtClean="0"/>
              <a:t>Add/modify code to output relevant ASP.net markup with/instead of CP code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4407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At the top of the output:</a:t>
            </a:r>
          </a:p>
          <a:p>
            <a:r>
              <a:rPr lang="en-GB" dirty="0">
                <a:latin typeface="Consolas" panose="020B0609020204030204" pitchFamily="49" charset="0"/>
              </a:rPr>
              <a:t>if (</a:t>
            </a:r>
            <a:r>
              <a:rPr lang="en-GB" dirty="0" err="1">
                <a:latin typeface="Consolas" panose="020B0609020204030204" pitchFamily="49" charset="0"/>
              </a:rPr>
              <a:t>context.IsPublishing</a:t>
            </a:r>
            <a:r>
              <a:rPr lang="en-GB" dirty="0" smtClean="0">
                <a:latin typeface="Consolas" panose="020B0609020204030204" pitchFamily="49" charset="0"/>
              </a:rPr>
              <a:t>)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{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%&gt;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&lt;$@ </a:t>
            </a:r>
            <a:r>
              <a:rPr lang="en-GB" dirty="0">
                <a:latin typeface="Consolas" panose="020B0609020204030204" pitchFamily="49" charset="0"/>
              </a:rPr>
              <a:t>Master Language="C#" </a:t>
            </a:r>
            <a:r>
              <a:rPr lang="en-GB" dirty="0" err="1">
                <a:latin typeface="Consolas" panose="020B0609020204030204" pitchFamily="49" charset="0"/>
              </a:rPr>
              <a:t>AutoEventWireup</a:t>
            </a:r>
            <a:r>
              <a:rPr lang="en-GB" dirty="0">
                <a:latin typeface="Consolas" panose="020B0609020204030204" pitchFamily="49" charset="0"/>
              </a:rPr>
              <a:t>="true" </a:t>
            </a:r>
            <a:r>
              <a:rPr lang="en-GB" dirty="0" smtClean="0">
                <a:latin typeface="Consolas" panose="020B0609020204030204" pitchFamily="49" charset="0"/>
              </a:rPr>
              <a:t>$&gt;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&lt;%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}</a:t>
            </a:r>
            <a:br>
              <a:rPr lang="en-GB" dirty="0" smtClean="0">
                <a:latin typeface="Consolas" panose="020B0609020204030204" pitchFamily="49" charset="0"/>
              </a:rPr>
            </a:br>
            <a:r>
              <a:rPr lang="en-GB" dirty="0" smtClean="0">
                <a:latin typeface="Consolas" panose="020B0609020204030204" pitchFamily="49" charset="0"/>
              </a:rPr>
              <a:t>%&gt;</a:t>
            </a:r>
            <a:endParaRPr lang="en-US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At the end of the header:</a:t>
            </a:r>
          </a:p>
          <a:p>
            <a:r>
              <a:rPr lang="en-GB" sz="1400" dirty="0" smtClean="0">
                <a:latin typeface="Consolas" panose="020B0609020204030204" pitchFamily="49" charset="0"/>
              </a:rPr>
              <a:t>&lt;% if 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 err="1">
                <a:latin typeface="Consolas" panose="020B0609020204030204" pitchFamily="49" charset="0"/>
              </a:rPr>
              <a:t>context.IsPublishing</a:t>
            </a:r>
            <a:r>
              <a:rPr lang="en-GB" sz="1400" dirty="0" smtClean="0">
                <a:latin typeface="Consolas" panose="020B0609020204030204" pitchFamily="49" charset="0"/>
              </a:rPr>
              <a:t>) { %&gt;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    </a:t>
            </a:r>
            <a:r>
              <a:rPr lang="en-GB" sz="1400" dirty="0"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latin typeface="Consolas" panose="020B0609020204030204" pitchFamily="49" charset="0"/>
              </a:rPr>
              <a:t>asp:ContentPlaceHolder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</a:rPr>
              <a:t>runat</a:t>
            </a:r>
            <a:r>
              <a:rPr lang="en-GB" sz="1400" dirty="0">
                <a:latin typeface="Consolas" panose="020B0609020204030204" pitchFamily="49" charset="0"/>
              </a:rPr>
              <a:t>="server" ID="Header" </a:t>
            </a:r>
            <a:r>
              <a:rPr lang="en-GB" sz="1400" dirty="0" smtClean="0">
                <a:latin typeface="Consolas" panose="020B0609020204030204" pitchFamily="49" charset="0"/>
              </a:rPr>
              <a:t>/&gt;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&lt;% } else { </a:t>
            </a:r>
            <a:r>
              <a:rPr lang="en-GB" sz="1400" dirty="0" err="1" smtClean="0">
                <a:latin typeface="Consolas" panose="020B0609020204030204" pitchFamily="49" charset="0"/>
              </a:rPr>
              <a:t>Out.Write</a:t>
            </a:r>
            <a:r>
              <a:rPr lang="en-GB" sz="1400" dirty="0" smtClean="0">
                <a:latin typeface="Consolas" panose="020B0609020204030204" pitchFamily="49" charset="0"/>
              </a:rPr>
              <a:t>(</a:t>
            </a:r>
            <a:r>
              <a:rPr lang="en-GB" sz="1400" dirty="0" err="1" smtClean="0">
                <a:latin typeface="Consolas" panose="020B0609020204030204" pitchFamily="49" charset="0"/>
              </a:rPr>
              <a:t>ComponentFramework.GenerateCssHeaderDeclarations</a:t>
            </a:r>
            <a:r>
              <a:rPr lang="en-GB" sz="1400" dirty="0" smtClean="0">
                <a:latin typeface="Consolas" panose="020B0609020204030204" pitchFamily="49" charset="0"/>
              </a:rPr>
              <a:t>(</a:t>
            </a:r>
            <a:r>
              <a:rPr lang="en-GB" sz="1400" dirty="0" err="1" smtClean="0">
                <a:latin typeface="Consolas" panose="020B0609020204030204" pitchFamily="49" charset="0"/>
              </a:rPr>
              <a:t>siteConfig</a:t>
            </a:r>
            <a:r>
              <a:rPr lang="en-GB" sz="1400" dirty="0" smtClean="0">
                <a:latin typeface="Consolas" panose="020B0609020204030204" pitchFamily="49" charset="0"/>
              </a:rPr>
              <a:t>));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err="1" smtClean="0">
                <a:latin typeface="Consolas" panose="020B0609020204030204" pitchFamily="49" charset="0"/>
              </a:rPr>
              <a:t>Out.Write</a:t>
            </a:r>
            <a:r>
              <a:rPr lang="en-GB" sz="1400" dirty="0" smtClean="0">
                <a:latin typeface="Consolas" panose="020B0609020204030204" pitchFamily="49" charset="0"/>
              </a:rPr>
              <a:t>(</a:t>
            </a:r>
            <a:r>
              <a:rPr lang="en-GB" sz="1400" dirty="0" err="1" smtClean="0">
                <a:latin typeface="Consolas" panose="020B0609020204030204" pitchFamily="49" charset="0"/>
              </a:rPr>
              <a:t>metaData.ComponentOutput</a:t>
            </a:r>
            <a:r>
              <a:rPr lang="en-GB" sz="1400" dirty="0" smtClean="0">
                <a:latin typeface="Consolas" panose="020B0609020204030204" pitchFamily="49" charset="0"/>
              </a:rPr>
              <a:t>(asset</a:t>
            </a:r>
            <a:r>
              <a:rPr lang="en-GB" sz="1400" dirty="0">
                <a:latin typeface="Consolas" panose="020B0609020204030204" pitchFamily="49" charset="0"/>
              </a:rPr>
              <a:t>, context, "meta</a:t>
            </a:r>
            <a:r>
              <a:rPr lang="en-GB" sz="1400" dirty="0" smtClean="0">
                <a:latin typeface="Consolas" panose="020B0609020204030204" pitchFamily="49" charset="0"/>
              </a:rPr>
              <a:t>"));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} %&gt;</a:t>
            </a:r>
            <a:endParaRPr lang="en-US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83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Where the </a:t>
            </a:r>
            <a:r>
              <a:rPr lang="en-GB" dirty="0" err="1" smtClean="0"/>
              <a:t>GetWrapContentPlaceholder</a:t>
            </a:r>
            <a:r>
              <a:rPr lang="en-GB" dirty="0" smtClean="0"/>
              <a:t>() call is made:</a:t>
            </a:r>
            <a:endParaRPr lang="en-US" dirty="0" smtClean="0"/>
          </a:p>
          <a:p>
            <a:r>
              <a:rPr lang="en-GB" sz="1400" dirty="0" smtClean="0">
                <a:latin typeface="Consolas" panose="020B0609020204030204" pitchFamily="49" charset="0"/>
              </a:rPr>
              <a:t>&lt;% if 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 err="1">
                <a:latin typeface="Consolas" panose="020B0609020204030204" pitchFamily="49" charset="0"/>
              </a:rPr>
              <a:t>context.IsPublishing</a:t>
            </a:r>
            <a:r>
              <a:rPr lang="en-GB" sz="1400" dirty="0" smtClean="0">
                <a:latin typeface="Consolas" panose="020B0609020204030204" pitchFamily="49" charset="0"/>
              </a:rPr>
              <a:t>) { %&gt;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  &lt;</a:t>
            </a:r>
            <a:r>
              <a:rPr lang="en-GB" sz="1400" dirty="0" err="1">
                <a:latin typeface="Consolas" panose="020B0609020204030204" pitchFamily="49" charset="0"/>
              </a:rPr>
              <a:t>asp:ContentPlaceHolder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</a:rPr>
              <a:t>runat</a:t>
            </a:r>
            <a:r>
              <a:rPr lang="en-GB" sz="1400" dirty="0">
                <a:latin typeface="Consolas" panose="020B0609020204030204" pitchFamily="49" charset="0"/>
              </a:rPr>
              <a:t>="server" ID="Body" </a:t>
            </a:r>
            <a:r>
              <a:rPr lang="en-GB" sz="1400" dirty="0" smtClean="0">
                <a:latin typeface="Consolas" panose="020B0609020204030204" pitchFamily="49" charset="0"/>
              </a:rPr>
              <a:t>/&gt;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&lt;% } else {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  </a:t>
            </a:r>
            <a:r>
              <a:rPr lang="en-GB" sz="1400" dirty="0" err="1" smtClean="0">
                <a:latin typeface="Consolas" panose="020B0609020204030204" pitchFamily="49" charset="0"/>
              </a:rPr>
              <a:t>Out.GetWrapContentPlaceholder</a:t>
            </a:r>
            <a:r>
              <a:rPr lang="en-GB" sz="1400" dirty="0" smtClean="0">
                <a:latin typeface="Consolas" panose="020B0609020204030204" pitchFamily="49" charset="0"/>
              </a:rPr>
              <a:t>();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} %&gt;</a:t>
            </a:r>
            <a:endParaRPr lang="en-US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4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an ASP.net master page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Just before the &lt;/body&gt;</a:t>
            </a:r>
            <a:r>
              <a:rPr lang="en-GB" dirty="0" smtClean="0"/>
              <a:t>:</a:t>
            </a:r>
            <a:endParaRPr lang="en-US" dirty="0" smtClean="0"/>
          </a:p>
          <a:p>
            <a:r>
              <a:rPr lang="en-GB" sz="1400" dirty="0" smtClean="0">
                <a:latin typeface="Consolas" panose="020B0609020204030204" pitchFamily="49" charset="0"/>
              </a:rPr>
              <a:t>&lt;% if </a:t>
            </a:r>
            <a:r>
              <a:rPr lang="en-GB" sz="1400" dirty="0">
                <a:latin typeface="Consolas" panose="020B0609020204030204" pitchFamily="49" charset="0"/>
              </a:rPr>
              <a:t>(</a:t>
            </a:r>
            <a:r>
              <a:rPr lang="en-GB" sz="1400" dirty="0" err="1">
                <a:latin typeface="Consolas" panose="020B0609020204030204" pitchFamily="49" charset="0"/>
              </a:rPr>
              <a:t>context.IsPublishing</a:t>
            </a:r>
            <a:r>
              <a:rPr lang="en-GB" sz="1400" dirty="0" smtClean="0">
                <a:latin typeface="Consolas" panose="020B0609020204030204" pitchFamily="49" charset="0"/>
              </a:rPr>
              <a:t>) { %&gt;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  </a:t>
            </a:r>
            <a:r>
              <a:rPr lang="en-GB" sz="1400" dirty="0">
                <a:latin typeface="Consolas" panose="020B0609020204030204" pitchFamily="49" charset="0"/>
              </a:rPr>
              <a:t>&lt;</a:t>
            </a:r>
            <a:r>
              <a:rPr lang="en-GB" sz="1400" dirty="0" err="1">
                <a:latin typeface="Consolas" panose="020B0609020204030204" pitchFamily="49" charset="0"/>
              </a:rPr>
              <a:t>asp:ContentPlaceHolder</a:t>
            </a:r>
            <a:r>
              <a:rPr lang="en-GB" sz="1400" dirty="0">
                <a:latin typeface="Consolas" panose="020B0609020204030204" pitchFamily="49" charset="0"/>
              </a:rPr>
              <a:t> </a:t>
            </a:r>
            <a:r>
              <a:rPr lang="en-GB" sz="1400" dirty="0" err="1">
                <a:latin typeface="Consolas" panose="020B0609020204030204" pitchFamily="49" charset="0"/>
              </a:rPr>
              <a:t>runat</a:t>
            </a:r>
            <a:r>
              <a:rPr lang="en-GB" sz="1400" dirty="0">
                <a:latin typeface="Consolas" panose="020B0609020204030204" pitchFamily="49" charset="0"/>
              </a:rPr>
              <a:t>="server" ID="Footer" </a:t>
            </a:r>
            <a:r>
              <a:rPr lang="en-GB" sz="1400" dirty="0" smtClean="0">
                <a:latin typeface="Consolas" panose="020B0609020204030204" pitchFamily="49" charset="0"/>
              </a:rPr>
              <a:t>/&gt;</a:t>
            </a:r>
            <a:br>
              <a:rPr lang="en-GB" sz="1400" dirty="0" smtClean="0">
                <a:latin typeface="Consolas" panose="020B0609020204030204" pitchFamily="49" charset="0"/>
              </a:rPr>
            </a:br>
            <a:r>
              <a:rPr lang="en-GB" sz="1400" dirty="0" smtClean="0">
                <a:latin typeface="Consolas" panose="020B0609020204030204" pitchFamily="49" charset="0"/>
              </a:rPr>
              <a:t>&lt;% } %&gt;</a:t>
            </a:r>
            <a:endParaRPr lang="en-GB" sz="1400" dirty="0">
              <a:latin typeface="Consolas" panose="020B0609020204030204" pitchFamily="49" charset="0"/>
            </a:endParaRPr>
          </a:p>
          <a:p>
            <a:r>
              <a:rPr lang="en-US" dirty="0" smtClean="0"/>
              <a:t>Create a new asset called </a:t>
            </a:r>
            <a:r>
              <a:rPr lang="en-US" dirty="0" err="1" smtClean="0"/>
              <a:t>site.master</a:t>
            </a:r>
            <a:r>
              <a:rPr lang="en-US" dirty="0" smtClean="0"/>
              <a:t>, using your Master Page template</a:t>
            </a:r>
            <a:endParaRPr lang="en-US" dirty="0"/>
          </a:p>
          <a:p>
            <a:endParaRPr lang="en-US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53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2533" y="1899103"/>
            <a:ext cx="6858000" cy="840248"/>
          </a:xfrm>
        </p:spPr>
        <p:txBody>
          <a:bodyPr/>
          <a:lstStyle/>
          <a:p>
            <a:r>
              <a:rPr lang="en-GB" dirty="0" smtClean="0"/>
              <a:t>Making a custom navigation </a:t>
            </a:r>
            <a:r>
              <a:rPr lang="en-GB" dirty="0"/>
              <a:t>w</a:t>
            </a:r>
            <a:r>
              <a:rPr lang="en-GB" dirty="0" smtClean="0"/>
              <a:t>rapper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232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 custom navigation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Create another new Template C#</a:t>
            </a:r>
          </a:p>
          <a:p>
            <a:pPr lvl="1"/>
            <a:r>
              <a:rPr lang="en-US" dirty="0" smtClean="0"/>
              <a:t>Call it </a:t>
            </a:r>
            <a:r>
              <a:rPr lang="en-US" i="1" dirty="0" smtClean="0"/>
              <a:t>Your Name</a:t>
            </a:r>
            <a:r>
              <a:rPr lang="en-US" dirty="0" smtClean="0"/>
              <a:t> Custom Wrapper</a:t>
            </a:r>
          </a:p>
          <a:p>
            <a:r>
              <a:rPr lang="en-US" dirty="0" smtClean="0"/>
              <a:t>Edit the output.aspx</a:t>
            </a:r>
          </a:p>
          <a:p>
            <a:r>
              <a:rPr lang="en-US" dirty="0" smtClean="0"/>
              <a:t>If the current content is publishing</a:t>
            </a:r>
          </a:p>
          <a:p>
            <a:pPr lvl="1"/>
            <a:r>
              <a:rPr lang="en-US" dirty="0" smtClean="0"/>
              <a:t>Add code to output &lt;</a:t>
            </a:r>
            <a:r>
              <a:rPr lang="en-US" dirty="0" err="1" smtClean="0"/>
              <a:t>asp:Content</a:t>
            </a:r>
            <a:r>
              <a:rPr lang="en-US" dirty="0" smtClean="0"/>
              <a:t>&gt; items for your master page</a:t>
            </a:r>
          </a:p>
          <a:p>
            <a:r>
              <a:rPr lang="en-US" dirty="0" smtClean="0"/>
              <a:t>Otherwise if it’s previewing</a:t>
            </a:r>
          </a:p>
          <a:p>
            <a:pPr lvl="1"/>
            <a:r>
              <a:rPr lang="en-US" dirty="0" smtClean="0"/>
              <a:t>Call out to your Navigation Wrapper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527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 custom navigation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Finally update the Article template to use your new Custom Wrapper</a:t>
            </a:r>
          </a:p>
          <a:p>
            <a:r>
              <a:rPr lang="en-US" dirty="0" smtClean="0"/>
              <a:t>Edit Your Name Article Template</a:t>
            </a:r>
          </a:p>
          <a:p>
            <a:pPr lvl="1"/>
            <a:r>
              <a:rPr lang="en-US" dirty="0" smtClean="0"/>
              <a:t>Inside Template Definitions</a:t>
            </a:r>
          </a:p>
          <a:p>
            <a:pPr lvl="1"/>
            <a:r>
              <a:rPr lang="en-US" dirty="0" smtClean="0"/>
              <a:t>Go to the Wrapper tab</a:t>
            </a:r>
          </a:p>
          <a:p>
            <a:pPr lvl="1"/>
            <a:r>
              <a:rPr lang="en-US" dirty="0" smtClean="0"/>
              <a:t>Change to Custom Built Wrapper</a:t>
            </a:r>
          </a:p>
          <a:p>
            <a:pPr lvl="1"/>
            <a:r>
              <a:rPr lang="en-US" dirty="0" smtClean="0"/>
              <a:t>And select the template from Templates,</a:t>
            </a:r>
            <a:br>
              <a:rPr lang="en-US" dirty="0" smtClean="0"/>
            </a:br>
            <a:r>
              <a:rPr lang="en-US" dirty="0" smtClean="0"/>
              <a:t>not Template Definitions</a:t>
            </a:r>
          </a:p>
          <a:p>
            <a:r>
              <a:rPr lang="en-US" dirty="0" smtClean="0"/>
              <a:t>Finally preview your Article again</a:t>
            </a:r>
          </a:p>
          <a:p>
            <a:r>
              <a:rPr lang="en-US" dirty="0" smtClean="0"/>
              <a:t>Compare with View &gt; Output from the menu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955" y="1948617"/>
            <a:ext cx="3295754" cy="2986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8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a custom navigation wrapper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US" dirty="0" smtClean="0"/>
              <a:t>Note that you might get timeouts viewing output for Draft assets</a:t>
            </a:r>
          </a:p>
          <a:p>
            <a:pPr lvl="1"/>
            <a:r>
              <a:rPr lang="en-US" dirty="0" smtClean="0"/>
              <a:t>Publish to stage or live and try </a:t>
            </a:r>
            <a:r>
              <a:rPr lang="en-US" smtClean="0"/>
              <a:t>it again</a:t>
            </a:r>
          </a:p>
          <a:p>
            <a:r>
              <a:rPr lang="en-US" dirty="0" smtClean="0"/>
              <a:t>This makes publishing much less onerous for the user</a:t>
            </a:r>
          </a:p>
          <a:p>
            <a:r>
              <a:rPr lang="en-US" dirty="0" smtClean="0"/>
              <a:t>Just need to remember to update the Master Page if the Wrapper is updated</a:t>
            </a:r>
          </a:p>
          <a:p>
            <a:r>
              <a:rPr lang="en-US" dirty="0" smtClean="0"/>
              <a:t>Establish a process for this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3024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1E3CB-FBA5-4859-B1CB-4759BC794C92}"/>
</file>

<file path=customXml/itemProps2.xml><?xml version="1.0" encoding="utf-8"?>
<ds:datastoreItem xmlns:ds="http://schemas.openxmlformats.org/officeDocument/2006/customXml" ds:itemID="{4D8A7410-A7F7-4148-B700-E9738C1947C6}">
  <ds:schemaRefs>
    <ds:schemaRef ds:uri="http://www.w3.org/XML/1998/namespace"/>
    <ds:schemaRef ds:uri="http://purl.org/dc/dcmitype/"/>
    <ds:schemaRef ds:uri="http://purl.org/dc/terms/"/>
    <ds:schemaRef ds:uri="631082eb-fd3e-4e0d-a348-9c93b2e913b5"/>
    <ds:schemaRef ds:uri="http://purl.org/dc/elements/1.1/"/>
    <ds:schemaRef ds:uri="http://schemas.microsoft.com/office/2006/documentManagement/types"/>
    <ds:schemaRef ds:uri="c81fd3e1-4b46-4bb7-aee6-da9f3dad3097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4943</TotalTime>
  <Words>975</Words>
  <Application>Microsoft Macintosh PowerPoint</Application>
  <PresentationFormat>On-screen Show (16:9)</PresentationFormat>
  <Paragraphs>160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Calibri</vt:lpstr>
      <vt:lpstr>Calibri Light</vt:lpstr>
      <vt:lpstr>Consolas</vt:lpstr>
      <vt:lpstr>Arial</vt:lpstr>
      <vt:lpstr>Office Theme</vt:lpstr>
      <vt:lpstr>Developer Training</vt:lpstr>
      <vt:lpstr>Agenda</vt:lpstr>
      <vt:lpstr>Removing empty elements</vt:lpstr>
      <vt:lpstr>Removing empty elements</vt:lpstr>
      <vt:lpstr>Removing empty elements</vt:lpstr>
      <vt:lpstr>Removing empty elements</vt:lpstr>
      <vt:lpstr>Removing empty elements</vt:lpstr>
      <vt:lpstr>Removing empty elements</vt:lpstr>
      <vt:lpstr>Removing empty elements</vt:lpstr>
      <vt:lpstr>Removing empty elements</vt:lpstr>
      <vt:lpstr>Localizing text strings</vt:lpstr>
      <vt:lpstr>Localizing text strings</vt:lpstr>
      <vt:lpstr>Localizing text strings</vt:lpstr>
      <vt:lpstr>Localizing text strings</vt:lpstr>
      <vt:lpstr>Localizing text strings</vt:lpstr>
      <vt:lpstr>Localizing text strings</vt:lpstr>
      <vt:lpstr>Localizing text strings</vt:lpstr>
      <vt:lpstr>Localizing text strings</vt:lpstr>
      <vt:lpstr>Localizing text strings</vt:lpstr>
      <vt:lpstr>Making an ASP.net master page</vt:lpstr>
      <vt:lpstr>Making an ASP.net master page</vt:lpstr>
      <vt:lpstr>Making an ASP.net master page</vt:lpstr>
      <vt:lpstr>Making an ASP.net master page</vt:lpstr>
      <vt:lpstr>Making an ASP.net master page</vt:lpstr>
      <vt:lpstr>Making an ASP.net master page</vt:lpstr>
      <vt:lpstr>Making an ASP.net master page</vt:lpstr>
      <vt:lpstr>Making a custom navigation wrapper</vt:lpstr>
      <vt:lpstr>Making a custom navigation wrapper</vt:lpstr>
      <vt:lpstr>Making a custom navigation wrapper</vt:lpstr>
      <vt:lpstr>Making a custom navigation wrapper</vt:lpstr>
      <vt:lpstr>Thank You!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323</cp:revision>
  <dcterms:created xsi:type="dcterms:W3CDTF">2014-05-29T23:54:45Z</dcterms:created>
  <dcterms:modified xsi:type="dcterms:W3CDTF">2018-01-24T13:09:12Z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