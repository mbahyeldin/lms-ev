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409" r:id="rId5"/>
    <p:sldId id="448" r:id="rId6"/>
    <p:sldId id="449" r:id="rId7"/>
    <p:sldId id="483" r:id="rId8"/>
    <p:sldId id="454" r:id="rId9"/>
    <p:sldId id="457" r:id="rId10"/>
    <p:sldId id="458" r:id="rId11"/>
    <p:sldId id="456" r:id="rId12"/>
    <p:sldId id="461" r:id="rId13"/>
    <p:sldId id="462" r:id="rId14"/>
    <p:sldId id="455" r:id="rId15"/>
    <p:sldId id="459" r:id="rId16"/>
    <p:sldId id="460" r:id="rId17"/>
    <p:sldId id="486" r:id="rId18"/>
    <p:sldId id="487" r:id="rId19"/>
    <p:sldId id="484" r:id="rId20"/>
    <p:sldId id="485" r:id="rId21"/>
    <p:sldId id="488" r:id="rId22"/>
    <p:sldId id="489" r:id="rId23"/>
    <p:sldId id="446" r:id="rId24"/>
    <p:sldId id="447" r:id="rId25"/>
    <p:sldId id="463" r:id="rId26"/>
    <p:sldId id="464" r:id="rId27"/>
    <p:sldId id="465" r:id="rId28"/>
    <p:sldId id="466" r:id="rId29"/>
    <p:sldId id="450" r:id="rId30"/>
    <p:sldId id="467" r:id="rId31"/>
    <p:sldId id="451" r:id="rId32"/>
    <p:sldId id="468" r:id="rId33"/>
    <p:sldId id="469" r:id="rId34"/>
    <p:sldId id="470" r:id="rId35"/>
    <p:sldId id="471" r:id="rId36"/>
    <p:sldId id="472" r:id="rId37"/>
    <p:sldId id="452" r:id="rId38"/>
    <p:sldId id="473" r:id="rId39"/>
    <p:sldId id="474" r:id="rId40"/>
    <p:sldId id="475" r:id="rId41"/>
    <p:sldId id="477" r:id="rId42"/>
    <p:sldId id="478" r:id="rId43"/>
    <p:sldId id="479" r:id="rId44"/>
    <p:sldId id="453" r:id="rId45"/>
    <p:sldId id="480" r:id="rId46"/>
    <p:sldId id="481" r:id="rId47"/>
    <p:sldId id="48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2" pos="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DC1CE"/>
    <a:srgbClr val="FFFFFF"/>
    <a:srgbClr val="E63512"/>
    <a:srgbClr val="001A2A"/>
    <a:srgbClr val="00243A"/>
    <a:srgbClr val="BBD7E4"/>
    <a:srgbClr val="EB5D41"/>
    <a:srgbClr val="F8F9FA"/>
    <a:srgbClr val="B52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90" autoAdjust="0"/>
    <p:restoredTop sz="88462" autoAdjust="0"/>
  </p:normalViewPr>
  <p:slideViewPr>
    <p:cSldViewPr snapToGrid="0" snapToObjects="1">
      <p:cViewPr varScale="1">
        <p:scale>
          <a:sx n="101" d="100"/>
          <a:sy n="101" d="100"/>
        </p:scale>
        <p:origin x="684" y="108"/>
      </p:cViewPr>
      <p:guideLst>
        <p:guide orient="horz" pos="4080"/>
        <p:guide pos="52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F3E1-6EB0-49B2-BE21-95FD6D65287C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8709-76BA-47F5-BE96-E7D79077C6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88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5E8DC-D403-4C3E-9D7C-A5781DFE6FBD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492B2-0604-42AD-A7EE-8F45FD6F85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61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w/ PS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" y="2171"/>
            <a:ext cx="67499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71033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832633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37295440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178173025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2229180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96753313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gradFill>
            <a:gsLst>
              <a:gs pos="0">
                <a:schemeClr val="tx1">
                  <a:lumMod val="90000"/>
                  <a:lumOff val="10000"/>
                </a:schemeClr>
              </a:gs>
              <a:gs pos="54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001A2A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06114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14853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600075" y="5738436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97680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6" y="-12192"/>
            <a:ext cx="12240000" cy="6897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34757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605" y="-14288"/>
            <a:ext cx="12191395" cy="6886576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058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DA93-349A-FE4F-9D40-97DBBA2B1A4C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DDC-89ED-2A40-BF57-81CE12B188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0" r:id="rId3"/>
    <p:sldLayoutId id="2147483661" r:id="rId4"/>
    <p:sldLayoutId id="2147483662" r:id="rId5"/>
    <p:sldLayoutId id="2147483650" r:id="rId6"/>
    <p:sldLayoutId id="2147483671" r:id="rId7"/>
    <p:sldLayoutId id="2147483652" r:id="rId8"/>
    <p:sldLayoutId id="2147483663" r:id="rId9"/>
    <p:sldLayoutId id="2147483664" r:id="rId10"/>
    <p:sldLayoutId id="2147483665" r:id="rId11"/>
    <p:sldLayoutId id="2147483669" r:id="rId12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800" b="1" dirty="0" smtClean="0"/>
              <a:t>Administration</a:t>
            </a:r>
            <a:endParaRPr lang="en-GB" sz="3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GB" sz="2800" dirty="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36882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Publishing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57857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sz="3200" dirty="0" smtClean="0"/>
              <a:t>Publishing usually consists of up to three parts:</a:t>
            </a:r>
          </a:p>
          <a:p>
            <a:pPr lvl="1"/>
            <a:r>
              <a:rPr lang="en-US" dirty="0" smtClean="0"/>
              <a:t>Export SFTP</a:t>
            </a:r>
          </a:p>
          <a:p>
            <a:pPr lvl="1"/>
            <a:r>
              <a:rPr lang="en-US" dirty="0" smtClean="0"/>
              <a:t>Search G2</a:t>
            </a:r>
          </a:p>
          <a:p>
            <a:pPr lvl="1"/>
            <a:r>
              <a:rPr lang="en-US" sz="2400" dirty="0" smtClean="0"/>
              <a:t>Publishing </a:t>
            </a:r>
            <a:r>
              <a:rPr lang="en-US" sz="2400" dirty="0" smtClean="0"/>
              <a:t>Package</a:t>
            </a:r>
          </a:p>
          <a:p>
            <a:pPr lvl="1"/>
            <a:r>
              <a:rPr lang="en-US" dirty="0" smtClean="0"/>
              <a:t>Publishing Properties</a:t>
            </a:r>
            <a:endParaRPr lang="en-US" sz="2400" dirty="0" smtClean="0"/>
          </a:p>
          <a:p>
            <a:r>
              <a:rPr lang="en-US" dirty="0" smtClean="0"/>
              <a:t>Export </a:t>
            </a:r>
            <a:r>
              <a:rPr lang="en-US" dirty="0" smtClean="0"/>
              <a:t>SFTP and Publishing </a:t>
            </a:r>
            <a:r>
              <a:rPr lang="en-US" dirty="0" smtClean="0"/>
              <a:t>Packages </a:t>
            </a:r>
            <a:r>
              <a:rPr lang="en-US" dirty="0" smtClean="0"/>
              <a:t>can </a:t>
            </a:r>
            <a:r>
              <a:rPr lang="en-US" dirty="0" smtClean="0"/>
              <a:t>be set up in V3</a:t>
            </a:r>
            <a:endParaRPr lang="en-US" sz="2800" dirty="0" smtClean="0"/>
          </a:p>
          <a:p>
            <a:pPr lvl="1"/>
            <a:r>
              <a:rPr lang="en-US" sz="2400" dirty="0" smtClean="0"/>
              <a:t>Settings &gt; Publishing &gt; Export SFTP</a:t>
            </a:r>
          </a:p>
          <a:p>
            <a:pPr lvl="1"/>
            <a:r>
              <a:rPr lang="en-US" dirty="0" smtClean="0"/>
              <a:t>Settings &gt; Publishing &gt; </a:t>
            </a:r>
            <a:r>
              <a:rPr lang="en-US" dirty="0" smtClean="0"/>
              <a:t>Packages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342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Publishing Properties can only be configured in Volte</a:t>
            </a:r>
          </a:p>
          <a:p>
            <a:pPr lvl="1"/>
            <a:r>
              <a:rPr lang="en-US" dirty="0" smtClean="0"/>
              <a:t>Use Publishing in the Properties panel on the right rail</a:t>
            </a:r>
            <a:endParaRPr lang="en-US" dirty="0" smtClean="0"/>
          </a:p>
          <a:p>
            <a:r>
              <a:rPr lang="en-US" sz="2800" dirty="0" smtClean="0"/>
              <a:t>Search </a:t>
            </a:r>
            <a:r>
              <a:rPr lang="en-US" sz="2800" dirty="0" smtClean="0"/>
              <a:t>G2 can only be initially configured in Volte</a:t>
            </a:r>
          </a:p>
          <a:p>
            <a:pPr lvl="1"/>
            <a:r>
              <a:rPr lang="en-US" dirty="0" smtClean="0"/>
              <a:t>You must log in as </a:t>
            </a:r>
            <a:r>
              <a:rPr lang="en-US" dirty="0" err="1" smtClean="0"/>
              <a:t>cptadmin</a:t>
            </a:r>
            <a:endParaRPr lang="en-US" dirty="0" smtClean="0"/>
          </a:p>
          <a:p>
            <a:pPr lvl="1"/>
            <a:r>
              <a:rPr lang="en-US" sz="2400" dirty="0" smtClean="0"/>
              <a:t>Settings &gt; Configuration &gt; General Search G2</a:t>
            </a:r>
          </a:p>
        </p:txBody>
      </p:sp>
    </p:spTree>
    <p:extLst>
      <p:ext uri="{BB962C8B-B14F-4D97-AF65-F5344CB8AC3E}">
        <p14:creationId xmlns:p14="http://schemas.microsoft.com/office/powerpoint/2010/main" val="114712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Export SFTP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55" y="1576385"/>
            <a:ext cx="7534275" cy="4924425"/>
          </a:xfrm>
        </p:spPr>
      </p:pic>
    </p:spTree>
    <p:extLst>
      <p:ext uri="{BB962C8B-B14F-4D97-AF65-F5344CB8AC3E}">
        <p14:creationId xmlns:p14="http://schemas.microsoft.com/office/powerpoint/2010/main" val="419831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Export SFTP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55" y="1576385"/>
            <a:ext cx="7534275" cy="4924425"/>
          </a:xfrm>
        </p:spPr>
      </p:pic>
    </p:spTree>
    <p:extLst>
      <p:ext uri="{BB962C8B-B14F-4D97-AF65-F5344CB8AC3E}">
        <p14:creationId xmlns:p14="http://schemas.microsoft.com/office/powerpoint/2010/main" val="15747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Export SFTP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Add one Export SFTP entry for each server target</a:t>
            </a:r>
          </a:p>
          <a:p>
            <a:pPr lvl="1"/>
            <a:r>
              <a:rPr lang="en-US" dirty="0" smtClean="0"/>
              <a:t>Username/password will be provided via Secret </a:t>
            </a:r>
            <a:r>
              <a:rPr lang="en-US" dirty="0" smtClean="0"/>
              <a:t>Server</a:t>
            </a:r>
          </a:p>
          <a:p>
            <a:pPr lvl="1"/>
            <a:r>
              <a:rPr lang="en-US" dirty="0" smtClean="0"/>
              <a:t>Or IT may set these up for you</a:t>
            </a:r>
            <a:endParaRPr lang="en-US" dirty="0" smtClean="0"/>
          </a:p>
          <a:p>
            <a:r>
              <a:rPr lang="en-US" dirty="0" smtClean="0"/>
              <a:t>If multiple environments are on one server, only need one</a:t>
            </a:r>
          </a:p>
          <a:p>
            <a:pPr lvl="1"/>
            <a:r>
              <a:rPr lang="en-US" dirty="0" smtClean="0"/>
              <a:t>Set Root path above the environment folder</a:t>
            </a:r>
          </a:p>
          <a:p>
            <a:r>
              <a:rPr lang="en-US" dirty="0" smtClean="0"/>
              <a:t>Render 1 Publish n needs n entries here</a:t>
            </a:r>
          </a:p>
          <a:p>
            <a:r>
              <a:rPr lang="en-US" dirty="0" smtClean="0"/>
              <a:t>There’s a Test button/link to try it out after creation</a:t>
            </a:r>
          </a:p>
          <a:p>
            <a:pPr lvl="1"/>
            <a:r>
              <a:rPr lang="en-US" dirty="0" smtClean="0"/>
              <a:t>If this fails, go back to Operations with the details that it shows</a:t>
            </a:r>
          </a:p>
        </p:txBody>
      </p:sp>
    </p:spTree>
    <p:extLst>
      <p:ext uri="{BB962C8B-B14F-4D97-AF65-F5344CB8AC3E}">
        <p14:creationId xmlns:p14="http://schemas.microsoft.com/office/powerpoint/2010/main" val="52013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Search G2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12" y="1530284"/>
            <a:ext cx="7688961" cy="5016627"/>
          </a:xfrm>
        </p:spPr>
      </p:pic>
    </p:spTree>
    <p:extLst>
      <p:ext uri="{BB962C8B-B14F-4D97-AF65-F5344CB8AC3E}">
        <p14:creationId xmlns:p14="http://schemas.microsoft.com/office/powerpoint/2010/main" val="123619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Search G2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12" y="1530284"/>
            <a:ext cx="7688961" cy="5016627"/>
          </a:xfrm>
        </p:spPr>
      </p:pic>
    </p:spTree>
    <p:extLst>
      <p:ext uri="{BB962C8B-B14F-4D97-AF65-F5344CB8AC3E}">
        <p14:creationId xmlns:p14="http://schemas.microsoft.com/office/powerpoint/2010/main" val="425300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Search G2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Add one entry for each environment using </a:t>
            </a:r>
            <a:r>
              <a:rPr lang="en-US" dirty="0" err="1" smtClean="0"/>
              <a:t>Realtime</a:t>
            </a:r>
            <a:r>
              <a:rPr lang="en-US" dirty="0" smtClean="0"/>
              <a:t> Indexing</a:t>
            </a:r>
          </a:p>
          <a:p>
            <a:r>
              <a:rPr lang="en-US" dirty="0" smtClean="0"/>
              <a:t>Name the entry the same as the courtesy (without domain)</a:t>
            </a:r>
          </a:p>
          <a:p>
            <a:r>
              <a:rPr lang="en-US" dirty="0" smtClean="0"/>
              <a:t>Check Enabled</a:t>
            </a:r>
          </a:p>
          <a:p>
            <a:r>
              <a:rPr lang="en-US" dirty="0" smtClean="0"/>
              <a:t>DO NOT check Crawl Enabled</a:t>
            </a:r>
          </a:p>
          <a:p>
            <a:r>
              <a:rPr lang="en-US" dirty="0" smtClean="0"/>
              <a:t>Leave the other boxes empty</a:t>
            </a:r>
          </a:p>
          <a:p>
            <a:r>
              <a:rPr lang="en-US" dirty="0" smtClean="0"/>
              <a:t>For private collections, raise a ticket with IT, e.g. CPO-7218</a:t>
            </a:r>
          </a:p>
          <a:p>
            <a:pPr lvl="1"/>
            <a:r>
              <a:rPr lang="en-US" dirty="0" smtClean="0"/>
              <a:t>Copy a proxy page in the relevant language</a:t>
            </a:r>
          </a:p>
          <a:p>
            <a:pPr lvl="1"/>
            <a:r>
              <a:rPr lang="en-US" dirty="0" smtClean="0"/>
              <a:t>E.g. BNY Mellon IM for Java, or S&amp;P Global for ASP.NET</a:t>
            </a:r>
          </a:p>
          <a:p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501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55" y="1576385"/>
            <a:ext cx="7534275" cy="4924425"/>
          </a:xfrm>
        </p:spPr>
      </p:pic>
    </p:spTree>
    <p:extLst>
      <p:ext uri="{BB962C8B-B14F-4D97-AF65-F5344CB8AC3E}">
        <p14:creationId xmlns:p14="http://schemas.microsoft.com/office/powerpoint/2010/main" val="3733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55" y="1562100"/>
            <a:ext cx="7534275" cy="4924425"/>
          </a:xfrm>
        </p:spPr>
      </p:pic>
    </p:spTree>
    <p:extLst>
      <p:ext uri="{BB962C8B-B14F-4D97-AF65-F5344CB8AC3E}">
        <p14:creationId xmlns:p14="http://schemas.microsoft.com/office/powerpoint/2010/main" val="131324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Add one Package for each environment for each site</a:t>
            </a:r>
          </a:p>
          <a:p>
            <a:r>
              <a:rPr lang="en-US" dirty="0" smtClean="0"/>
              <a:t>The Hostname should be the domain for this environment</a:t>
            </a:r>
          </a:p>
          <a:p>
            <a:r>
              <a:rPr lang="en-US" dirty="0" smtClean="0"/>
              <a:t>Typically set the path segment to come after that in the FTP</a:t>
            </a:r>
          </a:p>
          <a:p>
            <a:r>
              <a:rPr lang="en-US" dirty="0" smtClean="0"/>
              <a:t>Add one FTP Server for each R1Pn destination</a:t>
            </a:r>
          </a:p>
          <a:p>
            <a:r>
              <a:rPr lang="en-US" dirty="0" smtClean="0"/>
              <a:t>Choose a Search G2 Server if using </a:t>
            </a:r>
            <a:r>
              <a:rPr lang="en-US" dirty="0" err="1"/>
              <a:t>R</a:t>
            </a:r>
            <a:r>
              <a:rPr lang="en-US" dirty="0" err="1" smtClean="0"/>
              <a:t>ealtime</a:t>
            </a:r>
            <a:r>
              <a:rPr lang="en-US" dirty="0" smtClean="0"/>
              <a:t> Indexing</a:t>
            </a:r>
          </a:p>
          <a:p>
            <a:r>
              <a:rPr lang="en-US" dirty="0" smtClean="0"/>
              <a:t>Choose a DQM connector if that’s licensed/configured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7949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913" y="1562100"/>
            <a:ext cx="6776559" cy="4924425"/>
          </a:xfrm>
        </p:spPr>
      </p:pic>
    </p:spTree>
    <p:extLst>
      <p:ext uri="{BB962C8B-B14F-4D97-AF65-F5344CB8AC3E}">
        <p14:creationId xmlns:p14="http://schemas.microsoft.com/office/powerpoint/2010/main" val="20247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Packages have references to which workflow uses them</a:t>
            </a:r>
          </a:p>
          <a:p>
            <a:r>
              <a:rPr lang="en-US" dirty="0" smtClean="0"/>
              <a:t>Add one row here for each workflow and environment combination</a:t>
            </a:r>
          </a:p>
          <a:p>
            <a:r>
              <a:rPr lang="en-US" dirty="0" smtClean="0"/>
              <a:t>We publish back to all states</a:t>
            </a:r>
          </a:p>
          <a:p>
            <a:r>
              <a:rPr lang="en-US" dirty="0" smtClean="0"/>
              <a:t>So the Live workflow step publishes to the Stage package</a:t>
            </a:r>
          </a:p>
          <a:p>
            <a:pPr lvl="1"/>
            <a:r>
              <a:rPr lang="en-US" dirty="0" smtClean="0"/>
              <a:t>And it uses the Stage Publish State</a:t>
            </a:r>
          </a:p>
          <a:p>
            <a:pPr lvl="1"/>
            <a:r>
              <a:rPr lang="en-US" dirty="0" smtClean="0"/>
              <a:t>This is complex!</a:t>
            </a:r>
          </a:p>
          <a:p>
            <a:r>
              <a:rPr lang="en-US" dirty="0" smtClean="0"/>
              <a:t>This is what keeps all environments in sync</a:t>
            </a:r>
          </a:p>
          <a:p>
            <a:r>
              <a:rPr lang="en-US" dirty="0" smtClean="0"/>
              <a:t>It’s not optional</a:t>
            </a:r>
          </a:p>
          <a:p>
            <a:pPr lvl="1"/>
            <a:r>
              <a:rPr lang="en-US" dirty="0" smtClean="0"/>
              <a:t>If there’s no entry for the Live step, that means </a:t>
            </a:r>
            <a:r>
              <a:rPr lang="en-US" dirty="0" err="1" smtClean="0"/>
              <a:t>Unpublish</a:t>
            </a:r>
            <a:r>
              <a:rPr lang="en-US" dirty="0" smtClean="0"/>
              <a:t> from Stage!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2852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Publishing Properties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66" y="1530284"/>
            <a:ext cx="7665453" cy="5016627"/>
          </a:xfrm>
        </p:spPr>
      </p:pic>
    </p:spTree>
    <p:extLst>
      <p:ext uri="{BB962C8B-B14F-4D97-AF65-F5344CB8AC3E}">
        <p14:creationId xmlns:p14="http://schemas.microsoft.com/office/powerpoint/2010/main" val="114648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Publishing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Typically one entry per environment</a:t>
            </a:r>
          </a:p>
          <a:p>
            <a:r>
              <a:rPr lang="en-US" dirty="0" smtClean="0"/>
              <a:t>Can add multiples to support multiple outputs</a:t>
            </a:r>
          </a:p>
          <a:p>
            <a:r>
              <a:rPr lang="en-US" dirty="0" smtClean="0"/>
              <a:t>Fill in twice – one for templated, one for digital assets</a:t>
            </a:r>
          </a:p>
          <a:p>
            <a:r>
              <a:rPr lang="en-US" dirty="0" smtClean="0"/>
              <a:t>Properties inherit down unless overridden</a:t>
            </a:r>
          </a:p>
          <a:p>
            <a:r>
              <a:rPr lang="en-US" dirty="0" smtClean="0"/>
              <a:t>If you want to turn off publishing for a folder:</a:t>
            </a:r>
          </a:p>
          <a:p>
            <a:pPr lvl="1"/>
            <a:r>
              <a:rPr lang="en-US" dirty="0" smtClean="0"/>
              <a:t>Use the </a:t>
            </a:r>
            <a:r>
              <a:rPr lang="en-US" i="1" dirty="0" err="1" smtClean="0"/>
              <a:t>NoPublish</a:t>
            </a:r>
            <a:r>
              <a:rPr lang="en-US" dirty="0" smtClean="0"/>
              <a:t> package</a:t>
            </a:r>
          </a:p>
          <a:p>
            <a:r>
              <a:rPr lang="en-US" dirty="0" smtClean="0"/>
              <a:t>Publishing Properties can also be set on files</a:t>
            </a:r>
          </a:p>
          <a:p>
            <a:pPr lvl="1"/>
            <a:r>
              <a:rPr lang="en-US" dirty="0" smtClean="0"/>
              <a:t>Try not to do this – it increases complexity!</a:t>
            </a:r>
          </a:p>
          <a:p>
            <a:r>
              <a:rPr lang="en-US" dirty="0" smtClean="0"/>
              <a:t>Reports &gt; Assets &gt; Publishing Properties can help you find them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9449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Still with me?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913" y="1562100"/>
            <a:ext cx="6776559" cy="4924424"/>
          </a:xfrm>
        </p:spPr>
      </p:pic>
    </p:spTree>
    <p:extLst>
      <p:ext uri="{BB962C8B-B14F-4D97-AF65-F5344CB8AC3E}">
        <p14:creationId xmlns:p14="http://schemas.microsoft.com/office/powerpoint/2010/main" val="326113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Filenames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Settings &gt; Publishing &gt; Filenames</a:t>
            </a:r>
          </a:p>
          <a:p>
            <a:r>
              <a:rPr lang="en-US" dirty="0" smtClean="0"/>
              <a:t>Set default extension, and optionally lower case</a:t>
            </a:r>
          </a:p>
          <a:p>
            <a:pPr lvl="1"/>
            <a:r>
              <a:rPr lang="en-US" dirty="0" smtClean="0"/>
              <a:t>Latter sounds like a good idea – but Java requires WEB-XML in capitals</a:t>
            </a:r>
          </a:p>
          <a:p>
            <a:r>
              <a:rPr lang="en-US" dirty="0" smtClean="0"/>
              <a:t>Also global replacements applied to ALL filenames and/or URLs</a:t>
            </a:r>
          </a:p>
          <a:p>
            <a:pPr lvl="1"/>
            <a:r>
              <a:rPr lang="en-US" dirty="0" smtClean="0"/>
              <a:t>Use sparingly – they’re not able to be overridden locally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There’s also the /System/Filenames template folder</a:t>
            </a:r>
          </a:p>
          <a:p>
            <a:pPr lvl="1"/>
            <a:r>
              <a:rPr lang="en-US" dirty="0" smtClean="0"/>
              <a:t>Also /Filenames inside a Project</a:t>
            </a:r>
          </a:p>
          <a:p>
            <a:r>
              <a:rPr lang="en-US" dirty="0" smtClean="0"/>
              <a:t>This lets you apply filename and URL rules to digital assets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284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160" y="245044"/>
            <a:ext cx="2064556" cy="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8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Workflow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Workflows can be created in V3</a:t>
            </a:r>
          </a:p>
          <a:p>
            <a:pPr lvl="1"/>
            <a:r>
              <a:rPr lang="en-US" dirty="0" smtClean="0"/>
              <a:t>System &gt; Workflow &gt; Workflows &gt; New Workflow</a:t>
            </a:r>
          </a:p>
          <a:p>
            <a:pPr lvl="1"/>
            <a:r>
              <a:rPr lang="en-US" dirty="0" smtClean="0"/>
              <a:t>No choice of location – will be in /System/Workflows</a:t>
            </a:r>
          </a:p>
          <a:p>
            <a:pPr lvl="1"/>
            <a:r>
              <a:rPr lang="en-US" dirty="0" smtClean="0"/>
              <a:t>You can </a:t>
            </a:r>
            <a:r>
              <a:rPr lang="en-US" dirty="0" smtClean="0"/>
              <a:t>cut/paste the </a:t>
            </a:r>
            <a:r>
              <a:rPr lang="en-US" dirty="0" smtClean="0"/>
              <a:t>workflow into a </a:t>
            </a:r>
            <a:r>
              <a:rPr lang="en-US" dirty="0" smtClean="0"/>
              <a:t>Project </a:t>
            </a:r>
            <a:r>
              <a:rPr lang="en-US" dirty="0" smtClean="0"/>
              <a:t>after creation</a:t>
            </a:r>
          </a:p>
          <a:p>
            <a:r>
              <a:rPr lang="en-US" dirty="0" smtClean="0"/>
              <a:t>In Volte you can create directly in the project folder if preferred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61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Workflow Creation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396254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Workflow Creation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244158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Workflow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Workflow states are shown as vertical bars</a:t>
            </a:r>
          </a:p>
          <a:p>
            <a:r>
              <a:rPr lang="en-US" dirty="0" smtClean="0"/>
              <a:t>Transitions are horizontal bars joining states</a:t>
            </a:r>
          </a:p>
          <a:p>
            <a:r>
              <a:rPr lang="en-US" dirty="0" smtClean="0"/>
              <a:t>Go to “Edit Steps” to see individual details</a:t>
            </a:r>
          </a:p>
          <a:p>
            <a:r>
              <a:rPr lang="en-US" dirty="0" smtClean="0"/>
              <a:t>Add/remove transitions in here</a:t>
            </a:r>
          </a:p>
          <a:p>
            <a:r>
              <a:rPr lang="en-US" dirty="0" smtClean="0"/>
              <a:t>Also note “Execute File”</a:t>
            </a:r>
          </a:p>
          <a:p>
            <a:pPr lvl="1"/>
            <a:r>
              <a:rPr lang="en-US" dirty="0" smtClean="0"/>
              <a:t>Pick a </a:t>
            </a:r>
            <a:r>
              <a:rPr lang="en-US" dirty="0" err="1" smtClean="0"/>
              <a:t>DeveloperCS</a:t>
            </a:r>
            <a:r>
              <a:rPr lang="en-US" dirty="0" smtClean="0"/>
              <a:t> asset</a:t>
            </a:r>
          </a:p>
          <a:p>
            <a:pPr lvl="1"/>
            <a:r>
              <a:rPr lang="en-US" dirty="0" smtClean="0"/>
              <a:t>More </a:t>
            </a:r>
            <a:r>
              <a:rPr lang="en-US" dirty="0"/>
              <a:t>control </a:t>
            </a:r>
            <a:r>
              <a:rPr lang="en-US" dirty="0" smtClean="0"/>
              <a:t>than using the Email Notification 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43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Workflow Creation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369853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Sites and Projects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160" y="245044"/>
            <a:ext cx="2064556" cy="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Sites and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/>
              <a:t>A Site is the root of a published web site</a:t>
            </a:r>
          </a:p>
          <a:p>
            <a:r>
              <a:rPr lang="en-US" dirty="0"/>
              <a:t>A Project is </a:t>
            </a:r>
            <a:r>
              <a:rPr lang="en-US" dirty="0" smtClean="0"/>
              <a:t>the collection of templates/code used to make it</a:t>
            </a:r>
            <a:endParaRPr lang="en-US" dirty="0"/>
          </a:p>
          <a:p>
            <a:r>
              <a:rPr lang="en-US" dirty="0" smtClean="0"/>
              <a:t>When creating a new site, File &gt; New &gt; Site Root</a:t>
            </a:r>
          </a:p>
          <a:p>
            <a:pPr lvl="1"/>
            <a:r>
              <a:rPr lang="en-US" dirty="0" smtClean="0"/>
              <a:t>Check the box if you’re using Component Library</a:t>
            </a:r>
          </a:p>
          <a:p>
            <a:pPr lvl="1"/>
            <a:r>
              <a:rPr lang="en-US" dirty="0" smtClean="0"/>
              <a:t>Otherwise create a new Project inside the new Site Root</a:t>
            </a:r>
          </a:p>
          <a:p>
            <a:pPr lvl="1"/>
            <a:r>
              <a:rPr lang="en-US" dirty="0" smtClean="0"/>
              <a:t>Or use Site Root under Properties and pick a shared project if applicable</a:t>
            </a:r>
          </a:p>
          <a:p>
            <a:r>
              <a:rPr lang="en-US" dirty="0" smtClean="0"/>
              <a:t>Always use this for any new sites created in the CMS</a:t>
            </a:r>
          </a:p>
          <a:p>
            <a:r>
              <a:rPr lang="en-US" dirty="0" smtClean="0"/>
              <a:t>Create a new access group to control permissions for the Project</a:t>
            </a:r>
          </a:p>
          <a:p>
            <a:r>
              <a:rPr lang="en-US" dirty="0" smtClean="0"/>
              <a:t>Lock it down so content authors don’t see it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667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160" y="245044"/>
            <a:ext cx="2064556" cy="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Currently</a:t>
            </a:r>
            <a:r>
              <a:rPr lang="en-US" sz="3200" dirty="0" smtClean="0"/>
              <a:t> only available in Volte (coming soon in V3)</a:t>
            </a:r>
          </a:p>
          <a:p>
            <a:r>
              <a:rPr lang="en-US" dirty="0" smtClean="0"/>
              <a:t>Right-click</a:t>
            </a:r>
            <a:r>
              <a:rPr lang="en-US" sz="3200" dirty="0" smtClean="0"/>
              <a:t> a Project folder and choose Branch</a:t>
            </a:r>
          </a:p>
          <a:p>
            <a:r>
              <a:rPr lang="en-US" dirty="0" smtClean="0"/>
              <a:t>Branches can be compared to other branches as well as merged</a:t>
            </a:r>
          </a:p>
          <a:p>
            <a:r>
              <a:rPr lang="en-US" dirty="0" smtClean="0"/>
              <a:t>Right-click on source and Compare To &gt; </a:t>
            </a:r>
            <a:r>
              <a:rPr lang="en-US" i="1" dirty="0" smtClean="0"/>
              <a:t>Other Name</a:t>
            </a:r>
          </a:p>
          <a:p>
            <a:r>
              <a:rPr lang="en-US" dirty="0" smtClean="0"/>
              <a:t>Click on rows on modal to see details of change</a:t>
            </a:r>
          </a:p>
          <a:p>
            <a:r>
              <a:rPr lang="en-US" dirty="0" smtClean="0"/>
              <a:t>Right-click on source and Merge Into &gt; </a:t>
            </a:r>
            <a:r>
              <a:rPr lang="en-US" i="1" dirty="0" smtClean="0"/>
              <a:t>Other Name</a:t>
            </a:r>
          </a:p>
          <a:p>
            <a:r>
              <a:rPr lang="en-US" dirty="0" smtClean="0"/>
              <a:t>Choose actions and Include (or not) before continuing</a:t>
            </a:r>
          </a:p>
          <a:p>
            <a:pPr lvl="1"/>
            <a:r>
              <a:rPr lang="en-US" dirty="0" smtClean="0"/>
              <a:t>Conflicts must be resolved (double-click) before merging</a:t>
            </a:r>
          </a:p>
          <a:p>
            <a:r>
              <a:rPr lang="en-US" dirty="0" smtClean="0"/>
              <a:t>Merge is not a true merge – it creates a third branch with the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99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78" y="1641155"/>
            <a:ext cx="7326630" cy="4794885"/>
          </a:xfrm>
        </p:spPr>
      </p:pic>
    </p:spTree>
    <p:extLst>
      <p:ext uri="{BB962C8B-B14F-4D97-AF65-F5344CB8AC3E}">
        <p14:creationId xmlns:p14="http://schemas.microsoft.com/office/powerpoint/2010/main" val="366148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78" y="1641155"/>
            <a:ext cx="7326630" cy="4794885"/>
          </a:xfrm>
        </p:spPr>
      </p:pic>
    </p:spTree>
    <p:extLst>
      <p:ext uri="{BB962C8B-B14F-4D97-AF65-F5344CB8AC3E}">
        <p14:creationId xmlns:p14="http://schemas.microsoft.com/office/powerpoint/2010/main" val="425023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Use Site Root properties to assign a branch to each workflow state</a:t>
            </a:r>
            <a:endParaRPr lang="en-US" dirty="0"/>
          </a:p>
          <a:p>
            <a:r>
              <a:rPr lang="en-US" dirty="0" smtClean="0"/>
              <a:t>The list of workflow states is populated based on content in the site</a:t>
            </a:r>
          </a:p>
          <a:p>
            <a:pPr lvl="1"/>
            <a:r>
              <a:rPr lang="en-US" dirty="0" smtClean="0"/>
              <a:t>You may need to publish things for everything to show up</a:t>
            </a:r>
          </a:p>
          <a:p>
            <a:r>
              <a:rPr lang="en-US" dirty="0" smtClean="0"/>
              <a:t>Don’t forget to click on </a:t>
            </a:r>
            <a:r>
              <a:rPr lang="en-US" dirty="0" smtClean="0"/>
              <a:t>Save!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9849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Branching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331627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User Permissions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160" y="245044"/>
            <a:ext cx="2064556" cy="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7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First, create or modify groups in V3</a:t>
            </a:r>
          </a:p>
          <a:p>
            <a:r>
              <a:rPr lang="en-US" dirty="0" smtClean="0"/>
              <a:t>Each checkbox gives that group the right do to the action </a:t>
            </a:r>
          </a:p>
          <a:p>
            <a:pPr lvl="1"/>
            <a:r>
              <a:rPr lang="en-US" dirty="0" smtClean="0"/>
              <a:t>But most of them still have to be turned on in Access permissions</a:t>
            </a:r>
          </a:p>
          <a:p>
            <a:r>
              <a:rPr lang="en-US" dirty="0" smtClean="0"/>
              <a:t>Assign users to groups to give them the rights</a:t>
            </a:r>
          </a:p>
          <a:p>
            <a:r>
              <a:rPr lang="en-US" dirty="0" smtClean="0"/>
              <a:t>Permissions are additive, so you can’t remove a right that a user has</a:t>
            </a:r>
          </a:p>
          <a:p>
            <a:r>
              <a:rPr lang="en-US" dirty="0" smtClean="0"/>
              <a:t>View groups and roles are efficient for simple sites</a:t>
            </a:r>
          </a:p>
          <a:p>
            <a:r>
              <a:rPr lang="en-US" dirty="0" smtClean="0"/>
              <a:t>Problem is if a user is an Editor of site 1, but only a Viewer of site 2</a:t>
            </a:r>
          </a:p>
          <a:p>
            <a:pPr lvl="1"/>
            <a:r>
              <a:rPr lang="en-US" dirty="0" smtClean="0"/>
              <a:t>Only really solvable using site-specific Editor roles, which gets messy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52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Permissions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146415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Access is currently only configurable through Volte (V3 coming soon)</a:t>
            </a:r>
          </a:p>
          <a:p>
            <a:r>
              <a:rPr lang="en-US" dirty="0" smtClean="0"/>
              <a:t>Permissions set on a folder apply to all subfolders unless overridden</a:t>
            </a:r>
          </a:p>
          <a:p>
            <a:r>
              <a:rPr lang="en-US" dirty="0" smtClean="0"/>
              <a:t>Click on a group heading to expand and see the detail columns</a:t>
            </a:r>
          </a:p>
          <a:p>
            <a:r>
              <a:rPr lang="en-US" dirty="0" smtClean="0"/>
              <a:t>Be careful of “</a:t>
            </a:r>
            <a:r>
              <a:rPr lang="en-GB" dirty="0"/>
              <a:t>Users can manage any asset regardless of asset security settings (admin role</a:t>
            </a:r>
            <a:r>
              <a:rPr lang="en-GB" dirty="0" smtClean="0"/>
              <a:t>)” – keep it to Crownpeak only</a:t>
            </a:r>
            <a:endParaRPr lang="en-US" dirty="0" smtClean="0"/>
          </a:p>
          <a:p>
            <a:r>
              <a:rPr lang="en-US" dirty="0" smtClean="0"/>
              <a:t>If an item has no checkbox, that right is not checked on the Group</a:t>
            </a:r>
          </a:p>
          <a:p>
            <a:r>
              <a:rPr lang="en-US" dirty="0" smtClean="0"/>
              <a:t>No report showing where Access rights are set, so use sparingly</a:t>
            </a:r>
          </a:p>
          <a:p>
            <a:r>
              <a:rPr lang="en-US" dirty="0" smtClean="0"/>
              <a:t>Classic has View &gt; User Folder Visibility when looking at a user</a:t>
            </a:r>
          </a:p>
          <a:p>
            <a:r>
              <a:rPr lang="en-US" dirty="0" smtClean="0"/>
              <a:t>Also has Edit &gt; Assume Identity – this won’t stay forever…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71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Permissions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78" y="1641155"/>
            <a:ext cx="7326630" cy="4794885"/>
          </a:xfrm>
        </p:spPr>
      </p:pic>
    </p:spTree>
    <p:extLst>
      <p:ext uri="{BB962C8B-B14F-4D97-AF65-F5344CB8AC3E}">
        <p14:creationId xmlns:p14="http://schemas.microsoft.com/office/powerpoint/2010/main" val="24653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Permissions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78" y="1641155"/>
            <a:ext cx="7326630" cy="4794885"/>
          </a:xfrm>
        </p:spPr>
      </p:pic>
    </p:spTree>
    <p:extLst>
      <p:ext uri="{BB962C8B-B14F-4D97-AF65-F5344CB8AC3E}">
        <p14:creationId xmlns:p14="http://schemas.microsoft.com/office/powerpoint/2010/main" val="32335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Permissions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4"/>
          </a:xfrm>
        </p:spPr>
      </p:pic>
    </p:spTree>
    <p:extLst>
      <p:ext uri="{BB962C8B-B14F-4D97-AF65-F5344CB8AC3E}">
        <p14:creationId xmlns:p14="http://schemas.microsoft.com/office/powerpoint/2010/main" val="25221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Routing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160" y="245044"/>
            <a:ext cx="2064556" cy="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42447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099"/>
            <a:ext cx="10515600" cy="4606225"/>
          </a:xfrm>
        </p:spPr>
        <p:txBody>
          <a:bodyPr>
            <a:noAutofit/>
          </a:bodyPr>
          <a:lstStyle/>
          <a:p>
            <a:r>
              <a:rPr lang="en-US" dirty="0" smtClean="0"/>
              <a:t>Routing is the ability to select an arbitrary workflow state</a:t>
            </a:r>
          </a:p>
          <a:p>
            <a:r>
              <a:rPr lang="en-US" dirty="0" smtClean="0"/>
              <a:t>Generally kept to administrators only</a:t>
            </a:r>
          </a:p>
          <a:p>
            <a:r>
              <a:rPr lang="en-US" dirty="0" smtClean="0"/>
              <a:t>Controlled by “Users can route workflow documents to any workflow step” right in Group</a:t>
            </a:r>
          </a:p>
          <a:p>
            <a:r>
              <a:rPr lang="en-US" dirty="0" smtClean="0"/>
              <a:t>The “Route Additional Assets” button publishes more at the same time</a:t>
            </a:r>
          </a:p>
          <a:p>
            <a:r>
              <a:rPr lang="en-US" dirty="0" smtClean="0"/>
              <a:t>A good way to ensure that the whole site is published up-front</a:t>
            </a:r>
          </a:p>
          <a:p>
            <a:r>
              <a:rPr lang="en-US" dirty="0" smtClean="0"/>
              <a:t>Usually choose Neighborhood, choose status, and hit return</a:t>
            </a:r>
          </a:p>
          <a:p>
            <a:pPr lvl="1"/>
            <a:r>
              <a:rPr lang="en-US" dirty="0" smtClean="0"/>
              <a:t>Without hitting return, nothing happens</a:t>
            </a:r>
          </a:p>
          <a:p>
            <a:pPr lvl="1"/>
            <a:r>
              <a:rPr lang="en-US" dirty="0" smtClean="0"/>
              <a:t>Be patient – results can take some time</a:t>
            </a:r>
          </a:p>
          <a:p>
            <a:r>
              <a:rPr lang="en-US" dirty="0" smtClean="0"/>
              <a:t>Click Confirm Selection when you’re 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2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Routing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1" y="1602341"/>
            <a:ext cx="6705124" cy="4872513"/>
          </a:xfrm>
        </p:spPr>
      </p:pic>
    </p:spTree>
    <p:extLst>
      <p:ext uri="{BB962C8B-B14F-4D97-AF65-F5344CB8AC3E}">
        <p14:creationId xmlns:p14="http://schemas.microsoft.com/office/powerpoint/2010/main" val="93876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19199"/>
            <a:ext cx="12188386" cy="5638799"/>
          </a:xfrm>
          <a:prstGeom prst="rect">
            <a:avLst/>
          </a:prstGeom>
          <a:gradFill flip="none" rotWithShape="1">
            <a:gsLst>
              <a:gs pos="75000">
                <a:schemeClr val="bg1">
                  <a:alpha val="75000"/>
                </a:schemeClr>
              </a:gs>
              <a:gs pos="99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Routing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632" y="1602341"/>
            <a:ext cx="6705122" cy="4872513"/>
          </a:xfrm>
        </p:spPr>
      </p:pic>
    </p:spTree>
    <p:extLst>
      <p:ext uri="{BB962C8B-B14F-4D97-AF65-F5344CB8AC3E}">
        <p14:creationId xmlns:p14="http://schemas.microsoft.com/office/powerpoint/2010/main" val="12504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rownpeak Brand">
      <a:dk1>
        <a:srgbClr val="003A5A"/>
      </a:dk1>
      <a:lt1>
        <a:sysClr val="window" lastClr="FFFFFF"/>
      </a:lt1>
      <a:dk2>
        <a:srgbClr val="003A5A"/>
      </a:dk2>
      <a:lt2>
        <a:srgbClr val="FFFFFF"/>
      </a:lt2>
      <a:accent1>
        <a:srgbClr val="003A5A"/>
      </a:accent1>
      <a:accent2>
        <a:srgbClr val="B61F7E"/>
      </a:accent2>
      <a:accent3>
        <a:srgbClr val="D9036A"/>
      </a:accent3>
      <a:accent4>
        <a:srgbClr val="E63512"/>
      </a:accent4>
      <a:accent5>
        <a:srgbClr val="1D79A4"/>
      </a:accent5>
      <a:accent6>
        <a:srgbClr val="5B335C"/>
      </a:accent6>
      <a:hlink>
        <a:srgbClr val="1D79A4"/>
      </a:hlink>
      <a:folHlink>
        <a:srgbClr val="1D79A4"/>
      </a:folHlink>
    </a:clrScheme>
    <a:fontScheme name="Crownpeak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6C345D-3CDF-4B9B-8042-546ABB694898}"/>
</file>

<file path=customXml/itemProps2.xml><?xml version="1.0" encoding="utf-8"?>
<ds:datastoreItem xmlns:ds="http://schemas.openxmlformats.org/officeDocument/2006/customXml" ds:itemID="{56A64C90-4A44-4F11-BEC2-8CB76D07F0E0}">
  <ds:schemaRefs>
    <ds:schemaRef ds:uri="http://schemas.openxmlformats.org/package/2006/metadata/core-properties"/>
    <ds:schemaRef ds:uri="631082eb-fd3e-4e0d-a348-9c93b2e913b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FC7FBC2-262F-4150-8BC5-0B38796992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10072</TotalTime>
  <Words>1175</Words>
  <Application>Microsoft Office PowerPoint</Application>
  <PresentationFormat>Widescreen</PresentationFormat>
  <Paragraphs>166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Administration</vt:lpstr>
      <vt:lpstr>Publishing</vt:lpstr>
      <vt:lpstr>Publishing</vt:lpstr>
      <vt:lpstr>Publishing</vt:lpstr>
      <vt:lpstr>Export SFTP</vt:lpstr>
      <vt:lpstr>Export SFTP</vt:lpstr>
      <vt:lpstr>Export SFTP</vt:lpstr>
      <vt:lpstr>Search G2</vt:lpstr>
      <vt:lpstr>Search G2</vt:lpstr>
      <vt:lpstr>Search G2</vt:lpstr>
      <vt:lpstr>Packages</vt:lpstr>
      <vt:lpstr>Packages</vt:lpstr>
      <vt:lpstr>Packages</vt:lpstr>
      <vt:lpstr>Packages</vt:lpstr>
      <vt:lpstr>Packages</vt:lpstr>
      <vt:lpstr>Publishing Properties</vt:lpstr>
      <vt:lpstr>Publishing Properties</vt:lpstr>
      <vt:lpstr>Still with me?</vt:lpstr>
      <vt:lpstr>Filenames</vt:lpstr>
      <vt:lpstr>Workflow</vt:lpstr>
      <vt:lpstr>Workflow Creation</vt:lpstr>
      <vt:lpstr>Workflow Creation</vt:lpstr>
      <vt:lpstr>Workflow Creation</vt:lpstr>
      <vt:lpstr>Workflow Creation</vt:lpstr>
      <vt:lpstr>Workflow Creation</vt:lpstr>
      <vt:lpstr>Sites and Projects</vt:lpstr>
      <vt:lpstr>Sites and Projects</vt:lpstr>
      <vt:lpstr>Project Branching</vt:lpstr>
      <vt:lpstr>Project Branching</vt:lpstr>
      <vt:lpstr>Project Branching</vt:lpstr>
      <vt:lpstr>Project Branching</vt:lpstr>
      <vt:lpstr>Project Branching</vt:lpstr>
      <vt:lpstr>Project Branching</vt:lpstr>
      <vt:lpstr>User Permissions</vt:lpstr>
      <vt:lpstr>User Permissions</vt:lpstr>
      <vt:lpstr>User Permissions</vt:lpstr>
      <vt:lpstr>User Permissions</vt:lpstr>
      <vt:lpstr>User Permissions</vt:lpstr>
      <vt:lpstr>User Permissions</vt:lpstr>
      <vt:lpstr>User Permissions</vt:lpstr>
      <vt:lpstr>Routing</vt:lpstr>
      <vt:lpstr>Routing</vt:lpstr>
      <vt:lpstr>Routing</vt:lpstr>
      <vt:lpstr>Routing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kendall</dc:creator>
  <cp:lastModifiedBy>Richard Lund</cp:lastModifiedBy>
  <cp:revision>435</cp:revision>
  <dcterms:created xsi:type="dcterms:W3CDTF">2016-06-20T21:16:35Z</dcterms:created>
  <dcterms:modified xsi:type="dcterms:W3CDTF">2018-05-31T11:37:49Z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