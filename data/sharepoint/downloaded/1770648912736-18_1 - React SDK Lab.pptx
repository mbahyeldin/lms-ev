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69"/>
  </p:notesMasterIdLst>
  <p:handoutMasterIdLst>
    <p:handoutMasterId r:id="rId70"/>
  </p:handoutMasterIdLst>
  <p:sldIdLst>
    <p:sldId id="256" r:id="rId5"/>
    <p:sldId id="375" r:id="rId6"/>
    <p:sldId id="376" r:id="rId7"/>
    <p:sldId id="440" r:id="rId8"/>
    <p:sldId id="337" r:id="rId9"/>
    <p:sldId id="383" r:id="rId10"/>
    <p:sldId id="409" r:id="rId11"/>
    <p:sldId id="439" r:id="rId12"/>
    <p:sldId id="378" r:id="rId13"/>
    <p:sldId id="384" r:id="rId14"/>
    <p:sldId id="379" r:id="rId15"/>
    <p:sldId id="387" r:id="rId16"/>
    <p:sldId id="390" r:id="rId17"/>
    <p:sldId id="425" r:id="rId18"/>
    <p:sldId id="386" r:id="rId19"/>
    <p:sldId id="419" r:id="rId20"/>
    <p:sldId id="441" r:id="rId21"/>
    <p:sldId id="388" r:id="rId22"/>
    <p:sldId id="389" r:id="rId23"/>
    <p:sldId id="391" r:id="rId24"/>
    <p:sldId id="444" r:id="rId25"/>
    <p:sldId id="392" r:id="rId26"/>
    <p:sldId id="393" r:id="rId27"/>
    <p:sldId id="395" r:id="rId28"/>
    <p:sldId id="442" r:id="rId29"/>
    <p:sldId id="394" r:id="rId30"/>
    <p:sldId id="397" r:id="rId31"/>
    <p:sldId id="396" r:id="rId32"/>
    <p:sldId id="398" r:id="rId33"/>
    <p:sldId id="399" r:id="rId34"/>
    <p:sldId id="443" r:id="rId35"/>
    <p:sldId id="401" r:id="rId36"/>
    <p:sldId id="402" r:id="rId37"/>
    <p:sldId id="403" r:id="rId38"/>
    <p:sldId id="404" r:id="rId39"/>
    <p:sldId id="405" r:id="rId40"/>
    <p:sldId id="407" r:id="rId41"/>
    <p:sldId id="406" r:id="rId42"/>
    <p:sldId id="408" r:id="rId43"/>
    <p:sldId id="410" r:id="rId44"/>
    <p:sldId id="411" r:id="rId45"/>
    <p:sldId id="412" r:id="rId46"/>
    <p:sldId id="413" r:id="rId47"/>
    <p:sldId id="418" r:id="rId48"/>
    <p:sldId id="414" r:id="rId49"/>
    <p:sldId id="420" r:id="rId50"/>
    <p:sldId id="421" r:id="rId51"/>
    <p:sldId id="422" r:id="rId52"/>
    <p:sldId id="423" r:id="rId53"/>
    <p:sldId id="445" r:id="rId54"/>
    <p:sldId id="432" r:id="rId55"/>
    <p:sldId id="433" r:id="rId56"/>
    <p:sldId id="434" r:id="rId57"/>
    <p:sldId id="435" r:id="rId58"/>
    <p:sldId id="424" r:id="rId59"/>
    <p:sldId id="436" r:id="rId60"/>
    <p:sldId id="415" r:id="rId61"/>
    <p:sldId id="437" r:id="rId62"/>
    <p:sldId id="416" r:id="rId63"/>
    <p:sldId id="417" r:id="rId64"/>
    <p:sldId id="438" r:id="rId65"/>
    <p:sldId id="427" r:id="rId66"/>
    <p:sldId id="429" r:id="rId67"/>
    <p:sldId id="431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04DB26-5B08-0B4C-8AFF-FBE702E6C83C}">
          <p14:sldIdLst>
            <p14:sldId id="256"/>
          </p14:sldIdLst>
        </p14:section>
        <p14:section name="Lab - Overview" id="{3C94AB71-3E99-1943-B431-5A9A2AF0BBBC}">
          <p14:sldIdLst>
            <p14:sldId id="375"/>
            <p14:sldId id="376"/>
            <p14:sldId id="440"/>
          </p14:sldIdLst>
        </p14:section>
        <p14:section name="Lab - Getting Started" id="{37CA7751-77BE-DB46-AFAD-C4758106E986}">
          <p14:sldIdLst>
            <p14:sldId id="337"/>
            <p14:sldId id="383"/>
            <p14:sldId id="409"/>
            <p14:sldId id="439"/>
            <p14:sldId id="378"/>
            <p14:sldId id="384"/>
            <p14:sldId id="379"/>
            <p14:sldId id="387"/>
            <p14:sldId id="390"/>
          </p14:sldIdLst>
        </p14:section>
        <p14:section name="Lab - Session Page" id="{1509BF03-FF56-E647-B7C1-F2C612AAE0C0}">
          <p14:sldIdLst>
            <p14:sldId id="425"/>
            <p14:sldId id="386"/>
            <p14:sldId id="419"/>
            <p14:sldId id="441"/>
            <p14:sldId id="388"/>
            <p14:sldId id="389"/>
            <p14:sldId id="391"/>
            <p14:sldId id="444"/>
            <p14:sldId id="392"/>
          </p14:sldIdLst>
        </p14:section>
        <p14:section name="Lab - Track Page" id="{160DE5F5-E876-0240-8B42-6D41096BDE0A}">
          <p14:sldIdLst>
            <p14:sldId id="393"/>
            <p14:sldId id="395"/>
            <p14:sldId id="442"/>
            <p14:sldId id="394"/>
            <p14:sldId id="397"/>
            <p14:sldId id="396"/>
            <p14:sldId id="398"/>
            <p14:sldId id="399"/>
            <p14:sldId id="443"/>
            <p14:sldId id="401"/>
          </p14:sldIdLst>
        </p14:section>
        <p14:section name="Lab - Wrapper" id="{57A011D2-BF6E-D24F-8BDE-BAFCC4303AE9}">
          <p14:sldIdLst>
            <p14:sldId id="402"/>
            <p14:sldId id="403"/>
          </p14:sldIdLst>
        </p14:section>
        <p14:section name="Lab - CMS Scaffolding" id="{542FE85A-32EB-4049-AFF6-77B805244AF3}">
          <p14:sldIdLst>
            <p14:sldId id="404"/>
            <p14:sldId id="405"/>
          </p14:sldIdLst>
        </p14:section>
        <p14:section name="Lab - Creating Content" id="{2A95FB48-019D-374E-8425-4D019A3DBC0E}">
          <p14:sldIdLst>
            <p14:sldId id="407"/>
            <p14:sldId id="406"/>
            <p14:sldId id="408"/>
            <p14:sldId id="410"/>
            <p14:sldId id="411"/>
            <p14:sldId id="412"/>
          </p14:sldIdLst>
        </p14:section>
        <p14:section name="Lab - Using static managed content" id="{5A54C991-7DBB-DF4A-8075-C2EBC3957A81}">
          <p14:sldIdLst>
            <p14:sldId id="413"/>
            <p14:sldId id="418"/>
          </p14:sldIdLst>
        </p14:section>
        <p14:section name="Lab - Routing" id="{6263834D-F2B7-234B-B5A6-0169F0D669C6}">
          <p14:sldIdLst>
            <p14:sldId id="414"/>
            <p14:sldId id="420"/>
            <p14:sldId id="421"/>
            <p14:sldId id="422"/>
            <p14:sldId id="423"/>
            <p14:sldId id="445"/>
          </p14:sldIdLst>
        </p14:section>
        <p14:section name="Lab - Using dynamic managed content" id="{F37671F1-6330-8C4C-B978-AC91B0BD0FF1}">
          <p14:sldIdLst>
            <p14:sldId id="432"/>
            <p14:sldId id="433"/>
            <p14:sldId id="434"/>
            <p14:sldId id="435"/>
            <p14:sldId id="424"/>
            <p14:sldId id="436"/>
          </p14:sldIdLst>
        </p14:section>
        <p14:section name="Refinements" id="{59AA6BC9-7272-BB4C-ACDE-FA372429FB27}">
          <p14:sldIdLst>
            <p14:sldId id="415"/>
          </p14:sldIdLst>
        </p14:section>
        <p14:section name="Refinement: Custom components" id="{18744FB9-993D-FD4E-8433-EB2CC0321394}">
          <p14:sldIdLst>
            <p14:sldId id="437"/>
            <p14:sldId id="416"/>
            <p14:sldId id="417"/>
            <p14:sldId id="438"/>
          </p14:sldIdLst>
        </p14:section>
        <p14:section name="Refinement: Path-based routing" id="{C7BF38B1-F2EC-5C44-82EC-8658156A83E1}">
          <p14:sldIdLst>
            <p14:sldId id="427"/>
            <p14:sldId id="429"/>
            <p14:sldId id="4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98A3A1"/>
    <a:srgbClr val="BC21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C4F1F6-D488-0E4F-A7FD-2DE4AAE3BBCC}" v="2" dt="2020-09-25T12:11:39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 autoAdjust="0"/>
    <p:restoredTop sz="59184" autoAdjust="0"/>
  </p:normalViewPr>
  <p:slideViewPr>
    <p:cSldViewPr snapToGrid="0" snapToObjects="1">
      <p:cViewPr varScale="1">
        <p:scale>
          <a:sx n="97" d="100"/>
          <a:sy n="97" d="100"/>
        </p:scale>
        <p:origin x="2792" y="184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4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9" d="100"/>
          <a:sy n="119" d="100"/>
        </p:scale>
        <p:origin x="5128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Edwards" userId="d713e305-e102-47f4-b84c-1ee8a75b29d0" providerId="ADAL" clId="{F0C4F1F6-D488-0E4F-A7FD-2DE4AAE3BBCC}"/>
    <pc:docChg chg="undo custSel modSld">
      <pc:chgData name="Marcus Edwards" userId="d713e305-e102-47f4-b84c-1ee8a75b29d0" providerId="ADAL" clId="{F0C4F1F6-D488-0E4F-A7FD-2DE4AAE3BBCC}" dt="2020-09-25T12:11:40.778" v="12" actId="20577"/>
      <pc:docMkLst>
        <pc:docMk/>
      </pc:docMkLst>
      <pc:sldChg chg="modNotesTx">
        <pc:chgData name="Marcus Edwards" userId="d713e305-e102-47f4-b84c-1ee8a75b29d0" providerId="ADAL" clId="{F0C4F1F6-D488-0E4F-A7FD-2DE4AAE3BBCC}" dt="2020-09-25T12:11:40.778" v="12" actId="20577"/>
        <pc:sldMkLst>
          <pc:docMk/>
          <pc:sldMk cId="1913861112" sldId="399"/>
        </pc:sldMkLst>
      </pc:sldChg>
      <pc:sldChg chg="modSp mod modNotes">
        <pc:chgData name="Marcus Edwards" userId="d713e305-e102-47f4-b84c-1ee8a75b29d0" providerId="ADAL" clId="{F0C4F1F6-D488-0E4F-A7FD-2DE4AAE3BBCC}" dt="2020-09-25T12:11:39.999" v="11"/>
        <pc:sldMkLst>
          <pc:docMk/>
          <pc:sldMk cId="752249053" sldId="405"/>
        </pc:sldMkLst>
        <pc:graphicFrameChg chg="modGraphic">
          <ac:chgData name="Marcus Edwards" userId="d713e305-e102-47f4-b84c-1ee8a75b29d0" providerId="ADAL" clId="{F0C4F1F6-D488-0E4F-A7FD-2DE4AAE3BBCC}" dt="2020-09-25T12:11:38.175" v="10" actId="20577"/>
          <ac:graphicFrameMkLst>
            <pc:docMk/>
            <pc:sldMk cId="752249053" sldId="405"/>
            <ac:graphicFrameMk id="7" creationId="{C6E04730-7D4C-CD4B-A1E6-9C7C902D75BE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9/25/20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9/24/20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473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&lt;?xml version="1.0"?&gt;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&lt;configuration&gt;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system.webServer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httpProtocol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customHeaders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&lt;clear/&gt;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&lt;add name="Access-Control-Allow-Origin" value="*" /&gt;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customHeaders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httpProtocol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staticContent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&lt;clear/&gt;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mimeMap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fileExtension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=".json" 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mimeType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="application/json" /&gt;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staticContent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system.webServer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&lt;/configuration&gt;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8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474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40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React from 'react';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ReactDOM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'react-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'./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index.css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App from './App';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CmsCore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from 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crownpeak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dxm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-react-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sdk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';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CmsCore.init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process.env.REACT_APP_CMS_STATIC_CONTENT_LOCATION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process.env.REACT_APP_CMS_DYNAMIC_CONTENT_LOCATION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ReactDOM.render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React.StrictMode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&lt;App /&gt;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React.StrictMode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&gt;,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document.getElementById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('root')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768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50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class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RawHTML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extends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React.Component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render()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this.props.className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dangerouslySetInnerHTML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={{__html: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this.props.children.replace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(/\n/g, '&lt;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/&gt;')}}/&gt;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851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parse from 'react-html-parser';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} from 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crownpeak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dxm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-react-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sdk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'./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session.css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class Session extends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('title',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('description',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CmsFieldTypes.WYSIWYG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this.type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('type',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('date',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this.start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this.end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this.img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img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CmsFieldTypes.IMAGE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this.track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CmsFieldTypes.DOCUMENT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render()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&lt;article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sesssion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&lt;h1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="session--title"&gt;{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}&lt;/h1&gt;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="session--schedule"&gt;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&lt;h2&gt;Schedule&lt;/h2&gt;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&lt;table&gt;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&lt;tr&gt;&lt;td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rowspan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="2"&gt;{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}&lt;/td&gt;&lt;td align="right"&gt;{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this.start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}&lt;/td&gt;&lt;/tr&gt;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&lt;tr&gt;&lt;td align="right"&gt;{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this.end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}&lt;/td&gt;&lt;/tr&gt;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&lt;/table&gt;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="session--description"&gt;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&lt;h2&gt;Description&lt;/h2&gt;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{parse(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&lt;/article&gt;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lang="en-GB" sz="800" b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44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.session--schedule table {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width: 100%;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1px solid silver;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.session--schedule table td{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1px solid silver;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191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Session from '../components/session';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CmsStaticPage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'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crownpeak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dxm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-react-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class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CmsStaticPage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this.cmsAssetId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1000;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render() { </a:t>
            </a:r>
          </a:p>
          <a:p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super.render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debugger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 &lt;Session/&gt; 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8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logo from './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logo.svg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'./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App.css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from './pages/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="App container"&gt;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49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{"Session":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"id": 1000,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"title": "Session Title",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"type": "keynote",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"description": "&lt;p&gt;&lt;strong&gt;Session Description&lt;/strong&gt;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Luin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imlad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thavron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amarth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yanta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avari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alata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meleth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 thoron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ithil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Anto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cabed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iant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rochben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ross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tavor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alda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unque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anto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faroth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iaeth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glawar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Talagand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perian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rana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lost. Erin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crann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falf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crann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 ae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cabor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nem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lhaw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thoron fin.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Emerwen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asca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megil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lass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henneth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neder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tengwa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din. Mae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yanta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brethil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rochir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heledir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 lass.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Edhel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neled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iaur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Lebed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aranel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tehta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lost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fenn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menel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or. Talan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alda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imlad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cugu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luin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 him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dor.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&lt;/p&gt;",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"date": "2020-01-01",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start_time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"09:00",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end_time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"09:30"}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344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&lt;link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="stylesheet"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href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cdnjs.cloudflare.com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/ajax/libs/twitter-bootstrap/4.4.1/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bootstrap.min.css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620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076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576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parse from 'react-html-parser';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} from '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crownpeak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dxm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-react-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sdk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'./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track.css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b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class Track extends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this.state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{}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('title',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('description',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CmsFieldTypes.WYSIWYG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render()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&lt;article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&lt;h1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='track--title'&gt;{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}&lt;/h1&gt;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='track--description'&gt;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{parse(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='track--sessions'&gt;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&lt;/article 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lang="en-GB" sz="800" b="0" i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endParaRPr lang="en-GB" sz="800" b="0" i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93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.track--sessions .session {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display: grid;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grid-template-columns: 1fr 3fr;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border-bottom: 1px solid silver;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1rem 0;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58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CmsStaticPage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} from '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crownpeak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dxm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-react-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sdk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Track from '../components/track';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class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CmsStaticPage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this.cmsAssetId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= 2000;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render() { </a:t>
            </a:r>
          </a:p>
          <a:p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super.render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 &lt;Track/&gt; 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50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logo from './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logo.svg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'./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App.css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from './pages/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from './pages/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="App container"&gt;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SessionPage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App;</a:t>
            </a:r>
          </a:p>
          <a:p>
            <a:b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62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{"Track":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"id": 2000,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"title": "Track Title",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"description": "Track Description"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00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21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sz="800" b="0" i="0" kern="120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i="0" kern="120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parse from 'react-html-parser';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from '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CmsStaticDataProvider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} from '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crownpeak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dxm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-react-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sdk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'./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track.css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Intl.DateTimeFormat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-GB',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hour: '2-digit',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minute: '2-digit'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class Track extends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this.state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{}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('title',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('description',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CmsFieldTypes.WYSIWYG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render() {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trackId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CmsDataCache.cmsAssetId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sessions =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CmsStaticDataProvider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getCustomData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trackId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sessions.json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')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.map(s =&gt; {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dts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s.date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s.start_time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s.start_datetime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Date(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dts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return s })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.sort((a, b) =&gt;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a.start_datetime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&gt;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b.start_datetime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.map(s =&gt; &lt;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SessionCard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data={s} key={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s.id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 /&gt;);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&lt;article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&lt;h1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='track--title'&gt;{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}&lt;/h1&gt;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='track--description'&gt;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{parse(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='track--sessions'&gt;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{sessions}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&lt;/article 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SessionCard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(props) {</a:t>
            </a:r>
          </a:p>
          <a:p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session =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props.data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classes =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('session', 'session__' +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session.type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={classes}&gt;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='session--schedule'&gt;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&lt;span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schedule__start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tf.format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(new Date(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session.date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session.start_time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&lt;/span&gt;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&amp;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ndash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&lt;span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schedule__end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tf.format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(new Date(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session.date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session.end_time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))}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&lt;/span&gt;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&lt;p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='card-title'&gt;&lt;a 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href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='#'&gt;{</a:t>
            </a:r>
            <a:r>
              <a:rPr lang="en-GB" sz="800" b="0" i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session.title</a:t>
            </a:r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}&lt;/a&gt;&lt;/p&gt;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br>
              <a:rPr lang="en-GB" sz="800" b="0" i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lang="en-GB" sz="800" b="0" i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93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"id": 1000,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"title": "Session Title 1",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"type": "keynote",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"description": "&lt;p&gt;Lorem ipsum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dolor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sit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amet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consectetuer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adipiscing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elit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diam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nonummy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nibh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euismod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tincidunt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laoreet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dolore magna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aliquam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erat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volutpat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 Ut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wisi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enim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ad minim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veniam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quis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nostrud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exerci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tation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ullamcorper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suscipit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lobortis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nisl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aliquip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ex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commodo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consequat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 Duis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autem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vel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iriure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dolor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hendrerit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vulputate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velit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esse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molestie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consequat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vel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illum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dolore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eu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feugiat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facilisis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vero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eros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accumsan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iusto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odio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dignissim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qui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blandit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praesent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luptatum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zzril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delenit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augue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duis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dolore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feugait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nulla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facilisi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.&lt;/p&gt;",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"date": "2020-01-01",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"09:00",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"09:25"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"id": 1010,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"title": "Session Title 2",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"type": "presentation",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"description": "&lt;p&gt;Nam liber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tempor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cum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soluta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nobis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eleifend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option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congue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nihil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imperdiet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doming id quod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mazim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placerat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facer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possim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assum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habent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claritatem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insitam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usus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legentis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qui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facit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eorum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claritatem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Investigationes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demonstraverunt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lectores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legere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quod ii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legunt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saepius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.&lt;/p&gt;",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"date": "2020-01-01",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"09:30",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"10:25"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"id": 1020,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"title": "Session Title 3",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"description": "&lt;p&gt;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Claritas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etiam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processus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dynamicus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qui sequitur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mutationem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consuetudium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lectorum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 Mirum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notare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quam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littera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gothica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quam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nunc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putamus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claram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anteposuerit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litterarum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formas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humanitatis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per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seacula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quarta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decima et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quinta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decima.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Eodem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modo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typi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qui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nunc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nobis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videntur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clari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fiant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sollemnes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futurum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.&lt;/p&gt;",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"type": "q-and-a",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"date": "2020-01-01",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"10:30",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": "11:25"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07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379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0489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public class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NameHelper</a:t>
            </a:r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string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MakeFilename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 asset,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OutputContext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context)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var filename =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context.PublishPath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var extension =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filename.Substring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filename.LastIndexOf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('.'));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	filename = 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Util.FilterFilename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context.PropertiesFolder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asset.BranchId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+ extension);       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filename;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10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&lt;%@ Import Namespace=”{your-namespace}" %&gt;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&lt;%</a:t>
            </a:r>
          </a:p>
          <a:p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context.PublishPath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NameHelper.MakeFilename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context);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%&gt;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238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2361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8770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903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457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BrowserRouter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as Router, Switch, Route} from 'react-router-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'./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App.css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from './pages/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from './pages/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App()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&lt;Router&gt;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="App container"&gt;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&lt;Switch&gt;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&lt;Route path='/track/: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 component={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}/&gt;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&lt;Route path='/session/: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 component={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}/&gt;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&lt;/Switch&gt;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&lt;/Router&gt;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App;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lang="en-GB" sz="800" b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650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15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113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983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5576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parse from 'react-html-parser';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{Link} from 'react-router-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from 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CmsDynamicDataProvider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CmsDataCache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} from 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crownpeak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dxm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-react-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sdk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'./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track.css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Intl.DateTimeFormat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-GB',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hour: '2-digit',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minute: '2-digit'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});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class Track extends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CmsComponent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constructor(props)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super(props);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this.state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{ }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('title',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CmsFieldTypes.TEXT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('description',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CmsFieldTypes.WYSIWYG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render() { 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CmsDataCache.cmsAssetId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sessions =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CmsDynamicDataProvider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getDynamicQuery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('q=custom_t_json:"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AssetId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'+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+'"&amp;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fq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custom_s_type:"Session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Page"&amp;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fl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id,custom_t_json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:[json]')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response.docs</a:t>
            </a:r>
            <a:endParaRPr lang="en-GB" sz="800" b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.map(s =&gt; 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dts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s.custom_t_json.Session.date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s.custom_t_json.Session.start_time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s.start_datetime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=new Date(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dts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 return s})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.sort((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a,b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=&gt;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a.start_datetime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&gt;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b.start_datetime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.map(s =&gt; &lt;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SessionCard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data={s} key={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s.id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}/&gt;);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&lt;article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='track'&gt; 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&lt;h1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='track--title'&gt;{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}&lt;/h1&gt;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='track--description'&gt;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{parse(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this.description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 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='track--sessions'&gt;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{sessions}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&lt;/article&gt;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SessionCard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(props) {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session =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props.data.custom_t_json.Session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let classes =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classnames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('session', 'session__' +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session.type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={classes}&gt;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&lt;div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='session--schedule'&gt;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&lt;span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schedule__start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tf.format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(new Date(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session.start_time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&lt;/span&gt;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&amp;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ndash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&lt;span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='session--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schedule__end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tf.format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(new Date(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session.date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'T' +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session.end_time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&lt;/span&gt;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&lt;p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='card-title'&gt;&lt;Link to={'/session/'+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props.data.id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session.title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}&lt;/Link&gt;&lt;/p&gt;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&lt;/div&gt;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endParaRPr lang="en-GB" sz="800" b="0" kern="1200" dirty="0">
              <a:solidFill>
                <a:schemeClr val="tx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811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React from 'react';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CmsDynamicDataProvider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} from '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crownpeak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dxm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-react-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sdk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{ Link } from 'react-router-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dom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';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export default function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HomePage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(props) {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results =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CmsDynamicDataProvider.getDynamicQuery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('q=*&amp;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fq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custom_s_type:"Track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Page"');</a:t>
            </a:r>
          </a:p>
          <a:p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const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tracks = results ?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results.response.docs.map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(t =&gt; &lt;li&gt;&lt;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TrackCard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data={t}/&gt;&lt;/li&gt;) : [];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&lt;article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className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="home"&gt;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&lt;h1&gt;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AWSome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One Day Conference&lt;/h1&gt;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&lt;section&gt;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&lt;h2&gt;Tracks&lt;/h2&gt;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&lt;ul&gt;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{tracks}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&lt;/ul&gt;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&lt;/section&gt;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&lt;/article&gt;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b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 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TrackCard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(props) {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 (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&lt;Link to={'/track/'+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props.data.id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}&gt;{</a:t>
            </a:r>
            <a:r>
              <a:rPr lang="en-GB" sz="800" b="0" kern="120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props.data.title</a:t>
            </a:r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}&lt;/Link&gt;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r>
              <a:rPr lang="en-GB" sz="800" b="0" kern="12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768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387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765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3749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public partial class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SessionType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JsonComponentBase</a:t>
            </a:r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	public static Dictionary&lt;string, string&gt; Choices = new Dictionary&lt;string, string&gt;() 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{"Select one...", ""},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	{"Keynote", "keynote"},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{"Presentation", "presentation"},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{"Panel discussion", "panel"},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{"Q &amp; A", "q-and-a"},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{"Break", "break"},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  {"Other", "other"}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override void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ComponentInput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 asset,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InputContext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context, string label, string name)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Input.ShowDropDown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("Session Type", name,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SessionType.Choices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Util.MakeList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(""));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/*comment out "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PostInputBase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context, name, index);" &amp; modify this function if you want to overwrite the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post_input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functionality of the component.*/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override void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ComponentPostInput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 asset,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PostInputContext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context, string name, string index = "")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PostInputBase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context, name, index);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/*comment out "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OutputBase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context, name, index,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isDrag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);" &amp; modify this function if you want to overwrite the output functionality of the component.*/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override string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ComponentOutput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 asset,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OutputContext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context, string name, string index = "", bool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isDrag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OutputBase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context, name, index,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isDrag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/*comment out "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JsonBase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(asset, context, name, index);" &amp; modify this function if you want to overwrite the JSON functionality of the component.*/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public override string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ComponentJson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(Asset asset, 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OutputContext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 context, string name, string index = "")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"\""+</a:t>
            </a:r>
            <a:r>
              <a:rPr lang="en-US" sz="800" b="0" i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asset.Raw</a:t>
            </a:r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[name + index]+"\"";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800" b="0" i="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512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802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800" b="0" i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3742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73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053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39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24 September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24 September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9/24/20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stagecpuk.crownpeak.com/%7byour-site%7d/%7bbranch-id%7d.jso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searchg2.crownpeak.net/cpuk-training-stage/select/?wt=json&amp;indent=true&amp;q=id:%7bbranch-id%7d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Crownpeak React SDK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Overview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49265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conference site</a:t>
            </a:r>
          </a:p>
          <a:p>
            <a:r>
              <a:rPr lang="en-US" dirty="0"/>
              <a:t>Multiple tracks, each composed of multiple sessions</a:t>
            </a:r>
          </a:p>
          <a:p>
            <a:r>
              <a:rPr lang="en-US" dirty="0"/>
              <a:t>Conference alerts that are displayed on the home page</a:t>
            </a:r>
          </a:p>
        </p:txBody>
      </p:sp>
    </p:spTree>
    <p:extLst>
      <p:ext uri="{BB962C8B-B14F-4D97-AF65-F5344CB8AC3E}">
        <p14:creationId xmlns:p14="http://schemas.microsoft.com/office/powerpoint/2010/main" val="92198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6E6D55-1041-F748-9C29-32D0121BA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NodeJS installed (minimum version 12.x, latest version preferred)</a:t>
            </a:r>
          </a:p>
          <a:p>
            <a:r>
              <a:rPr lang="en-US" dirty="0"/>
              <a:t>yarn (minimum version 1.22)</a:t>
            </a:r>
          </a:p>
          <a:p>
            <a:r>
              <a:rPr lang="en-US" dirty="0"/>
              <a:t>Local editor / IDE, example:</a:t>
            </a:r>
          </a:p>
          <a:p>
            <a:pPr lvl="1"/>
            <a:r>
              <a:rPr lang="en-US" dirty="0"/>
              <a:t>Visual Studio Code </a:t>
            </a:r>
          </a:p>
          <a:p>
            <a:pPr lvl="1"/>
            <a:r>
              <a:rPr lang="en-US" dirty="0"/>
              <a:t>Simple React Snippets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72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72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Setting up in the CMS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122332"/>
              </p:ext>
            </p:extLst>
          </p:nvPr>
        </p:nvGraphicFramePr>
        <p:xfrm>
          <a:off x="628650" y="1370013"/>
          <a:ext cx="7886700" cy="362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site root. Ensure that you add Component Library at this step.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/React SDK Training/{your-name}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443665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up ‘HTML’ publishing properties on your site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Package: Stage Training Site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Path: {your-name}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Filename: 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Extension: json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Handler: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output_json.aspx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Set up ‘Media’ publishing properties on your site root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Package: Stage Training Site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Path: {your-name}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Filename: 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Extension: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Handler: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  <p:sp>
        <p:nvSpPr>
          <p:cNvPr id="9" name="Round Same-side Corner of Rectangle 8">
            <a:extLst>
              <a:ext uri="{FF2B5EF4-FFF2-40B4-BE49-F238E27FC236}">
                <a16:creationId xmlns:a16="http://schemas.microsoft.com/office/drawing/2014/main" id="{3BA95265-5375-4645-A509-F569C94107C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42943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Setting up in the CMS contd.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704011"/>
              </p:ext>
            </p:extLst>
          </p:nvPr>
        </p:nvGraphicFramePr>
        <p:xfrm>
          <a:off x="628650" y="1370013"/>
          <a:ext cx="7886700" cy="2979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 a new Developer CS asset and copy in the provided configuration to enable CORS and to have JSON served with the correct MIME type.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File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Filename: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web.config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Template: Developer CS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Workflow: Basic Workflow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a note of:</a:t>
                      </a:r>
                    </a:p>
                    <a:p>
                      <a:pPr marL="6286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Site Root folder asset id</a:t>
                      </a:r>
                    </a:p>
                    <a:p>
                      <a:pPr marL="6286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Project folder asset id</a:t>
                      </a:r>
                    </a:p>
                    <a:p>
                      <a:pPr marL="6286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Workflow id</a:t>
                      </a:r>
                      <a:br>
                        <a:rPr lang="en-US" dirty="0"/>
                      </a:br>
                      <a:r>
                        <a:rPr lang="en-US" sz="1400" dirty="0"/>
                        <a:t>(You can find this by creating an asset, assigning the required workflow and checking the “Info” panel for the workflow id.)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</a:tbl>
          </a:graphicData>
        </a:graphic>
      </p:graphicFrame>
      <p:sp>
        <p:nvSpPr>
          <p:cNvPr id="9" name="Round Same-side Corner of Rectangle 8">
            <a:extLst>
              <a:ext uri="{FF2B5EF4-FFF2-40B4-BE49-F238E27FC236}">
                <a16:creationId xmlns:a16="http://schemas.microsoft.com/office/drawing/2014/main" id="{3BA95265-5375-4645-A509-F569C94107C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159022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2: Patch Component Library.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596518"/>
              </p:ext>
            </p:extLst>
          </p:nvPr>
        </p:nvGraphicFramePr>
        <p:xfrm>
          <a:off x="628650" y="1370013"/>
          <a:ext cx="78867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E4FF7EA8-DBFA-534F-92D0-1860465DDD0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158927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3: Add the SDK to your React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5DB89-AB39-CA4D-87F9-DF4518AD3AE3}"/>
              </a:ext>
            </a:extLst>
          </p:cNvPr>
          <p:cNvSpPr txBox="1"/>
          <p:nvPr/>
        </p:nvSpPr>
        <p:spPr>
          <a:xfrm>
            <a:off x="1156226" y="4223325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SDK works best with yarn but you should still be able to use other NodeJS package manages like </a:t>
            </a:r>
            <a:r>
              <a:rPr lang="en-US" dirty="0" err="1"/>
              <a:t>npm</a:t>
            </a:r>
            <a:r>
              <a:rPr lang="en-US" dirty="0"/>
              <a:t>.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3481731-2849-5D4A-8025-B6E089514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240149"/>
              </p:ext>
            </p:extLst>
          </p:nvPr>
        </p:nvGraphicFramePr>
        <p:xfrm>
          <a:off x="628650" y="1370013"/>
          <a:ext cx="7886700" cy="1986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React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npx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create-react-app react-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sdk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to the new project folder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cd react-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sdk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-training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the Crownpeak React SDK and other dependencies you will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add react-html-parser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classnames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crownpeak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dxm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-react-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sdk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A30CDA2C-F8F9-2F46-A4A8-099FF8AE71C4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47123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4: Configure the SDK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3481731-2849-5D4A-8025-B6E089514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7082511"/>
              </p:ext>
            </p:extLst>
          </p:nvPr>
        </p:nvGraphicFramePr>
        <p:xfrm>
          <a:off x="628650" y="1370013"/>
          <a:ext cx="7886700" cy="1929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908662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452143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 in the project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.env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up the environment variables (see next page)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AA29DF-B4B5-B14A-AD25-E3CD80A26F7D}"/>
              </a:ext>
            </a:extLst>
          </p:cNvPr>
          <p:cNvSpPr txBox="1"/>
          <p:nvPr/>
        </p:nvSpPr>
        <p:spPr>
          <a:xfrm>
            <a:off x="1011225" y="3748738"/>
            <a:ext cx="648392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We recommend that this file is NOT added to your revision control system if this is public, e.g. </a:t>
            </a:r>
            <a:r>
              <a:rPr lang="en-US" dirty="0" err="1"/>
              <a:t>github.com</a:t>
            </a:r>
            <a:r>
              <a:rPr lang="en-US" dirty="0"/>
              <a:t>, as it often has sensitive properties like passwords and API keys in it.</a:t>
            </a:r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92C7FE8F-1331-B944-BDCC-5955F66C3C87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7340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.env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29E5-6C6A-754E-9883-4E539842D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046F72-9345-8C47-A87A-58531B76F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29800"/>
              </p:ext>
            </p:extLst>
          </p:nvPr>
        </p:nvGraphicFramePr>
        <p:xfrm>
          <a:off x="628650" y="989970"/>
          <a:ext cx="7886700" cy="36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7287">
                  <a:extLst>
                    <a:ext uri="{9D8B030D-6E8A-4147-A177-3AD203B41FA5}">
                      <a16:colId xmlns:a16="http://schemas.microsoft.com/office/drawing/2014/main" val="2126521601"/>
                    </a:ext>
                  </a:extLst>
                </a:gridCol>
                <a:gridCol w="2780513">
                  <a:extLst>
                    <a:ext uri="{9D8B030D-6E8A-4147-A177-3AD203B41FA5}">
                      <a16:colId xmlns:a16="http://schemas.microsoft.com/office/drawing/2014/main" val="23182164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8105407"/>
                    </a:ext>
                  </a:extLst>
                </a:gridCol>
              </a:tblGrid>
              <a:tr h="614144">
                <a:tc>
                  <a:txBody>
                    <a:bodyPr/>
                    <a:lstStyle/>
                    <a:p>
                      <a:r>
                        <a:rPr lang="en-US" sz="800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570805"/>
                  </a:ext>
                </a:extLst>
              </a:tr>
              <a:tr h="247357">
                <a:tc>
                  <a:txBody>
                    <a:bodyPr/>
                    <a:lstStyle/>
                    <a:p>
                      <a:r>
                        <a:rPr lang="en-GB" sz="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CMS_INSTANCE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name of the CMS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CPUK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929013"/>
                  </a:ext>
                </a:extLst>
              </a:tr>
              <a:tr h="319727">
                <a:tc>
                  <a:txBody>
                    <a:bodyPr/>
                    <a:lstStyle/>
                    <a:p>
                      <a:r>
                        <a:rPr lang="en-US" sz="800" dirty="0"/>
                        <a:t>CMS_USERNAME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username of the account that will be used to interact with the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/>
                        <a:t>service.account</a:t>
                      </a:r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26604"/>
                  </a:ext>
                </a:extLst>
              </a:tr>
              <a:tr h="441508">
                <a:tc>
                  <a:txBody>
                    <a:bodyPr/>
                    <a:lstStyle/>
                    <a:p>
                      <a:r>
                        <a:rPr lang="en-US" sz="800" dirty="0"/>
                        <a:t>CMS_PASSWORD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password associated with the given 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178086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CMS_API_KEY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Access API developer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4219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CMS_SITE_ROOT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asset id of your site root in the 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5871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CMS_PROJECT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The asset id of your project in the CMS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572401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CMS_WORKFLOW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Workflow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51275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REACT_APP_CMS_STATIC_CONTENT_LOCATION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filesystem location to use when resolving static resource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/content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65810"/>
                  </a:ext>
                </a:extLst>
              </a:tr>
              <a:tr h="325557">
                <a:tc>
                  <a:txBody>
                    <a:bodyPr/>
                    <a:lstStyle/>
                    <a:p>
                      <a:r>
                        <a:rPr lang="en-US" sz="800" dirty="0"/>
                        <a:t>REACT_APP_CMS_DYNAMIC_CONTENT_LOCATION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SearchG2 URL to use when resolving dynamic resource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//searchg2.crownpeak.net/</a:t>
                      </a:r>
                      <a:r>
                        <a:rPr lang="en-US" sz="800" dirty="0" err="1"/>
                        <a:t>cpuk</a:t>
                      </a:r>
                      <a:r>
                        <a:rPr lang="en-US" sz="800" dirty="0"/>
                        <a:t>-training-stage/select/?</a:t>
                      </a:r>
                      <a:r>
                        <a:rPr lang="en-US" sz="800" dirty="0" err="1"/>
                        <a:t>wt</a:t>
                      </a:r>
                      <a:r>
                        <a:rPr lang="en-US" sz="800" dirty="0"/>
                        <a:t>=</a:t>
                      </a:r>
                      <a:r>
                        <a:rPr lang="en-US" sz="800" dirty="0" err="1"/>
                        <a:t>json&amp;indent</a:t>
                      </a:r>
                      <a:r>
                        <a:rPr lang="en-US" sz="800" dirty="0"/>
                        <a:t>=true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8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42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5: Initialize the SDK code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3481731-2849-5D4A-8025-B6E089514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374463"/>
              </p:ext>
            </p:extLst>
          </p:nvPr>
        </p:nvGraphicFramePr>
        <p:xfrm>
          <a:off x="628650" y="1370013"/>
          <a:ext cx="7886700" cy="2516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908662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452143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app entry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code to initialize the SDK core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CmsCore.init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process.env.REACT_APP_CMS_STATIC_CONTENT_LOCATION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process.env.REACT_APP_CMS_DYNAMIC_CONTENT_LOCATION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1227F8F4-D275-6D40-8BF5-7406A8A303D8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298574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6: Verify &amp; Tidy up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3481731-2849-5D4A-8025-B6E089514E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70013"/>
          <a:ext cx="7886700" cy="1929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908662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452143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that the React SDK is installed and configured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crownpeak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that the React starter app is working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0689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554494A7-90ED-5344-BFCF-D8C8AD150608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040160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Session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548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Helpers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629723"/>
              </p:ext>
            </p:extLst>
          </p:nvPr>
        </p:nvGraphicFramePr>
        <p:xfrm>
          <a:off x="628650" y="1370013"/>
          <a:ext cx="7886700" cy="327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folder under </a:t>
                      </a:r>
                      <a:r>
                        <a:rPr lang="en-US" dirty="0" err="1"/>
                        <a:t>src</a:t>
                      </a:r>
                      <a:r>
                        <a:rPr lang="en-US" dirty="0"/>
                        <a:t> for our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helpers.js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Copy in the code to create the </a:t>
                      </a:r>
                      <a:r>
                        <a:rPr lang="en-US" dirty="0" err="1"/>
                        <a:t>RawHTML</a:t>
                      </a:r>
                      <a:r>
                        <a:rPr lang="en-US" dirty="0"/>
                        <a:t> helper component. This will be required to render WYSIWYG fields.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4AFD412C-ADCB-3547-A73D-4195E4ED277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9F537-8A35-4B4C-92DF-8DB6586267F7}"/>
              </a:ext>
            </a:extLst>
          </p:cNvPr>
          <p:cNvSpPr txBox="1"/>
          <p:nvPr/>
        </p:nvSpPr>
        <p:spPr>
          <a:xfrm>
            <a:off x="1050427" y="3819287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CONSTRAINT – All components must currently extend </a:t>
            </a:r>
            <a:r>
              <a:rPr lang="en-US" dirty="0" err="1"/>
              <a:t>CmsComponent</a:t>
            </a:r>
            <a:r>
              <a:rPr lang="en-US" dirty="0"/>
              <a:t>, even if they don’t represent content components.</a:t>
            </a:r>
          </a:p>
        </p:txBody>
      </p:sp>
    </p:spTree>
    <p:extLst>
      <p:ext uri="{BB962C8B-B14F-4D97-AF65-F5344CB8AC3E}">
        <p14:creationId xmlns:p14="http://schemas.microsoft.com/office/powerpoint/2010/main" val="2841426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Component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387657"/>
              </p:ext>
            </p:extLst>
          </p:nvPr>
        </p:nvGraphicFramePr>
        <p:xfrm>
          <a:off x="628650" y="1370013"/>
          <a:ext cx="7886700" cy="306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skeleton React class component for Session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[snippet </a:t>
                      </a:r>
                      <a:r>
                        <a:rPr lang="en-US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imrc</a:t>
                      </a:r>
                      <a:r>
                        <a:rPr lang="en-US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, ccc]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session markup to the render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React SDK 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</a:t>
                      </a:r>
                      <a:r>
                        <a:rPr lang="en-US" dirty="0" err="1"/>
                        <a:t>CmsFields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the component to extend </a:t>
                      </a:r>
                      <a:r>
                        <a:rPr lang="en-US" dirty="0" err="1"/>
                        <a:t>CmsComponent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4AFD412C-ADCB-3547-A73D-4195E4ED277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472252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CSS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283492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session.css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4AFD412C-ADCB-3547-A73D-4195E4ED277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669944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381832"/>
              </p:ext>
            </p:extLst>
          </p:nvPr>
        </p:nvGraphicFramePr>
        <p:xfrm>
          <a:off x="628650" y="1370013"/>
          <a:ext cx="7886700" cy="293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folder under </a:t>
                      </a:r>
                      <a:r>
                        <a:rPr lang="en-US" dirty="0" err="1"/>
                        <a:t>src</a:t>
                      </a:r>
                      <a:r>
                        <a:rPr lang="en-US" dirty="0"/>
                        <a:t> for our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skeleton React class component for </a:t>
                      </a:r>
                      <a:r>
                        <a:rPr lang="en-US" dirty="0" err="1"/>
                        <a:t>SessionPage</a:t>
                      </a:r>
                      <a:endParaRPr lang="en-US" dirty="0"/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[snippet </a:t>
                      </a:r>
                      <a:r>
                        <a:rPr lang="en-US" dirty="0" err="1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imrc</a:t>
                      </a:r>
                      <a:r>
                        <a:rPr lang="en-US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, ccc]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session markup to the render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React SDK 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the component to extend </a:t>
                      </a:r>
                      <a:r>
                        <a:rPr lang="en-US" dirty="0" err="1"/>
                        <a:t>CmsStaticPage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the property </a:t>
                      </a:r>
                      <a:r>
                        <a:rPr lang="en-US" dirty="0" err="1"/>
                        <a:t>cmsAssetId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this.cmsAssetId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= 1000;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F890728D-CF35-744D-8AC0-144E5346D035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379692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App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565940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and edit the default </a:t>
                      </a:r>
                      <a:r>
                        <a:rPr lang="en-US" dirty="0" err="1"/>
                        <a:t>App.js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generated markup to render a </a:t>
                      </a:r>
                      <a:r>
                        <a:rPr lang="en-US" dirty="0" err="1"/>
                        <a:t>SessionPage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876501F7-5150-FF43-ABF2-2717F91F19A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905652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dummy data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618242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JSON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/public/content/1000.json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placeholder JSON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98534B91-0DC0-0B45-A68D-3227068D936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4293773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CSS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623476"/>
              </p:ext>
            </p:extLst>
          </p:nvPr>
        </p:nvGraphicFramePr>
        <p:xfrm>
          <a:off x="628650" y="1370013"/>
          <a:ext cx="7886700" cy="3596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existing default HTML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/public/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index.html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in </a:t>
                      </a:r>
                      <a:r>
                        <a:rPr lang="en-US" dirty="0" err="1"/>
                        <a:t>Boostrap</a:t>
                      </a:r>
                      <a:r>
                        <a:rPr lang="en-US" dirty="0"/>
                        <a:t> CSS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&lt;link</a:t>
                      </a:r>
                    </a:p>
                    <a:p>
                      <a:pPr marL="0" algn="l" defTabSz="685800" rtl="0" eaLnBrk="1" latinLnBrk="0" hangingPunct="1"/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rel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="stylesheet"</a:t>
                      </a:r>
                    </a:p>
                    <a:p>
                      <a:pPr marL="0" algn="l" defTabSz="685800" rtl="0" eaLnBrk="1" latinLnBrk="0" hangingPunct="1"/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href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="https://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cdnjs.cloudflare.com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/ajax/libs/twitter-bootstrap/4.4.1/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css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bootstrap.min.css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</a:t>
                      </a:r>
                    </a:p>
                    <a:p>
                      <a:pPr marL="0" algn="l" defTabSz="685800" rtl="0" eaLnBrk="1" latinLnBrk="0" hangingPunct="1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/&gt;</a:t>
                      </a: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98534B91-0DC0-0B45-A68D-3227068D936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984142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Preview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245255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the local dev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app running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http://localhost:3000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75962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Track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576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 Component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89962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skeleton React class component for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markup to the render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React SDK 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</a:t>
                      </a:r>
                      <a:r>
                        <a:rPr lang="en-US" dirty="0" err="1"/>
                        <a:t>CmsFields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the component to extend </a:t>
                      </a:r>
                      <a:r>
                        <a:rPr lang="en-US" dirty="0" err="1"/>
                        <a:t>CmsComponent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4AFD412C-ADCB-3547-A73D-4195E4ED277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404076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 CSS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870407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track.css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4AFD412C-ADCB-3547-A73D-4195E4ED2770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593789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274273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file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skeleton React class component for </a:t>
                      </a:r>
                      <a:r>
                        <a:rPr lang="en-US" dirty="0" err="1"/>
                        <a:t>SessionPage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session markup to the render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React SDK 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the component to extend </a:t>
                      </a:r>
                      <a:r>
                        <a:rPr lang="en-US" dirty="0" err="1"/>
                        <a:t>CmsStaticPage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the property </a:t>
                      </a:r>
                      <a:r>
                        <a:rPr lang="en-US" dirty="0" err="1"/>
                        <a:t>cmsAssetId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this.cmsAssetId</a:t>
                      </a:r>
                      <a:r>
                        <a:rPr lang="en-US" sz="1200" dirty="0"/>
                        <a:t> = 2000;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51BA627B-EA44-DD4D-A70C-34F58CE4CE98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348025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App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741459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and edit the default </a:t>
                      </a:r>
                      <a:r>
                        <a:rPr lang="en-US" dirty="0" err="1"/>
                        <a:t>App.js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markup to render a </a:t>
                      </a:r>
                      <a:r>
                        <a:rPr lang="en-US" dirty="0" err="1"/>
                        <a:t>TrackPage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876501F7-5150-FF43-ABF2-2717F91F19A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095378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dummy track data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9952433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JSON resource.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/public/content/2000.json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placeholder JSON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another new JSON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/public/content/2000-sessions.json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Copy in the placeholder JSON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98534B91-0DC0-0B45-A68D-3227068D936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489088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Preview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the local dev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app running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http://localhost:3000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617898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Track component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460341"/>
              </p:ext>
            </p:extLst>
          </p:nvPr>
        </p:nvGraphicFramePr>
        <p:xfrm>
          <a:off x="628650" y="1370013"/>
          <a:ext cx="7886700" cy="299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 new class property and populate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this.sessions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CmsStaticDataProvider.getCustomData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2000—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sessions.json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 the render method to include session markup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51BA627B-EA44-DD4D-A70C-34F58CE4CE98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913861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dummy track session data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456248"/>
              </p:ext>
            </p:extLst>
          </p:nvPr>
        </p:nvGraphicFramePr>
        <p:xfrm>
          <a:off x="628650" y="1370013"/>
          <a:ext cx="788670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another new JSON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/public/content/2000-sessions.json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Copy in the placeholder JSON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98534B91-0DC0-0B45-A68D-3227068D9366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961288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Preview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the local dev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app running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http://localhost:3000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719356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Nav Wrapper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4544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Nav Wrapper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04635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app host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index.html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data attribute to the div that will contain the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cms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-wrapper-name=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Conference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773688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CMS Scaffolding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6880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Scaffolding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257069"/>
              </p:ext>
            </p:extLst>
          </p:nvPr>
        </p:nvGraphicFramePr>
        <p:xfrm>
          <a:off x="628650" y="1370013"/>
          <a:ext cx="7886700" cy="4373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Scaffold the CMS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crownpeak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Confirm that the following are created by examining the log: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wrapper Conference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component Session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component Track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template </a:t>
                      </a:r>
                      <a:r>
                        <a:rPr lang="en-US" dirty="0" err="1"/>
                        <a:t>SessionPage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template </a:t>
                      </a:r>
                      <a:r>
                        <a:rPr lang="en-US" dirty="0" err="1"/>
                        <a:t>TrackPage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model </a:t>
                      </a:r>
                      <a:r>
                        <a:rPr lang="en-US" dirty="0" err="1"/>
                        <a:t>SessionPage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model </a:t>
                      </a:r>
                      <a:r>
                        <a:rPr lang="en-US" dirty="0" err="1"/>
                        <a:t>TrackPage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4984D-7B30-A84A-964F-CC93997AD687}"/>
              </a:ext>
            </a:extLst>
          </p:cNvPr>
          <p:cNvSpPr txBox="1"/>
          <p:nvPr/>
        </p:nvSpPr>
        <p:spPr>
          <a:xfrm>
            <a:off x="1156226" y="4223325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Components must be used in the “page” render method for the scaffolding to pick them up.</a:t>
            </a:r>
          </a:p>
        </p:txBody>
      </p:sp>
    </p:spTree>
    <p:extLst>
      <p:ext uri="{BB962C8B-B14F-4D97-AF65-F5344CB8AC3E}">
        <p14:creationId xmlns:p14="http://schemas.microsoft.com/office/powerpoint/2010/main" val="752249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Creating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8246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Tracks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188489"/>
              </p:ext>
            </p:extLst>
          </p:nvPr>
        </p:nvGraphicFramePr>
        <p:xfrm>
          <a:off x="628650" y="1370013"/>
          <a:ext cx="7886700" cy="374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content folder for Tracks.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{site-root}/Track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Use the model to create a new Track called ‘Conference’. This will be the main conference track.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 asset and populate the content.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the process to create another track called ‘Ask An Expert’.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your track assets in the CMS using the ‘Preview’ button on the content toolbar.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the JSON output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switching to the output 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switching the view selector from ‘Output’ to ‘JSON Feed’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View &gt;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1349837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636300"/>
              </p:ext>
            </p:extLst>
          </p:nvPr>
        </p:nvGraphicFramePr>
        <p:xfrm>
          <a:off x="628650" y="1370013"/>
          <a:ext cx="7886700" cy="353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content folder for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{site-root}/Session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Use the model to create a new Session called ‘Opening Keynote’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Opening Keynote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 asset and populate the content. Be sure to select the main ‘Conference’ track for the session and set the session type to ‘keynote’.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the process to create a few more sessions in the ‘Conference’ track and set their type to ‘presentation’.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session called ‘Ask an Expert’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Ask an Expert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asset and set the track to ‘Ask an Expert’ and the type to ‘q-and-a’.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2989087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Fixing up filenames: </a:t>
            </a:r>
            <a:r>
              <a:rPr lang="en-US" dirty="0" err="1"/>
              <a:t>NameHelper</a:t>
            </a: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329476"/>
              </p:ext>
            </p:extLst>
          </p:nvPr>
        </p:nvGraphicFramePr>
        <p:xfrm>
          <a:off x="628650" y="1370013"/>
          <a:ext cx="78867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library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{site-root}/Component Library/Library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Create a new class called ‘</a:t>
                      </a:r>
                      <a:r>
                        <a:rPr lang="en-US" dirty="0" err="1"/>
                        <a:t>NameHelper</a:t>
                      </a:r>
                      <a:r>
                        <a:rPr lang="en-US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NameHelper.cs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file and copy in the provided 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the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0F6FA-AE74-6748-8222-CDC301561A39}"/>
              </a:ext>
            </a:extLst>
          </p:cNvPr>
          <p:cNvSpPr txBox="1"/>
          <p:nvPr/>
        </p:nvSpPr>
        <p:spPr>
          <a:xfrm>
            <a:off x="1156226" y="4223325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Publishing static JSON to a file based on the branch id is an enhancement coming in the React SDK code.</a:t>
            </a:r>
          </a:p>
        </p:txBody>
      </p:sp>
    </p:spTree>
    <p:extLst>
      <p:ext uri="{BB962C8B-B14F-4D97-AF65-F5344CB8AC3E}">
        <p14:creationId xmlns:p14="http://schemas.microsoft.com/office/powerpoint/2010/main" val="3271469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Fixing up filenames: </a:t>
            </a:r>
            <a:r>
              <a:rPr lang="en-US" dirty="0" err="1"/>
              <a:t>filename.aspx</a:t>
            </a: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242008"/>
              </p:ext>
            </p:extLst>
          </p:nvPr>
        </p:nvGraphicFramePr>
        <p:xfrm>
          <a:off x="628650" y="1370013"/>
          <a:ext cx="7886700" cy="281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Session Page template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{site-root}/Component Library/Templates/Session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Create a new handler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filename.aspx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file and copy in the provided 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the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the </a:t>
                      </a:r>
                      <a:r>
                        <a:rPr lang="en-US" dirty="0" err="1"/>
                        <a:t>filename.aspx</a:t>
                      </a:r>
                      <a:r>
                        <a:rPr lang="en-US" dirty="0"/>
                        <a:t> handler to the Track Page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0F6FA-AE74-6748-8222-CDC301561A39}"/>
              </a:ext>
            </a:extLst>
          </p:cNvPr>
          <p:cNvSpPr txBox="1"/>
          <p:nvPr/>
        </p:nvSpPr>
        <p:spPr>
          <a:xfrm>
            <a:off x="1156226" y="4223325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Publishing static JSON to a file based on the branch id is an enhancement coming in the React SDK code.</a:t>
            </a:r>
          </a:p>
        </p:txBody>
      </p:sp>
    </p:spTree>
    <p:extLst>
      <p:ext uri="{BB962C8B-B14F-4D97-AF65-F5344CB8AC3E}">
        <p14:creationId xmlns:p14="http://schemas.microsoft.com/office/powerpoint/2010/main" val="3167750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Publishing all assets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527336"/>
              </p:ext>
            </p:extLst>
          </p:nvPr>
        </p:nvGraphicFramePr>
        <p:xfrm>
          <a:off x="628650" y="1370013"/>
          <a:ext cx="7886700" cy="3449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the “Route” command to advance all track and session assets to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Verify that the JSON files can be accessed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  <a:hlinkClick r:id="rId3"/>
                        </a:rPr>
                        <a:t>http://stagecpuk.crownpeak.com/{your-site}/{branch-id}.json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that JSON was published to Search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  <a:hlinkClick r:id="rId4"/>
                        </a:rPr>
                        <a:t>http://searchg2.crownpeak.net/cpuk-training-stage/select/?wt=json&amp;indent=true&amp;q=id:{branch-id}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38858304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Using static managed content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18269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Configuration changes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868825"/>
              </p:ext>
            </p:extLst>
          </p:nvPr>
        </p:nvGraphicFramePr>
        <p:xfrm>
          <a:off x="628650" y="1370013"/>
          <a:ext cx="7886700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.env file and set the following property.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REACT_APP_CMS_STATIC_CONTENT_LOCATION = //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stagecpuk.crownpeak.com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/{your-site}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</a:t>
                      </a:r>
                      <a:r>
                        <a:rPr lang="en-US" dirty="0" err="1"/>
                        <a:t>trackPage.js</a:t>
                      </a:r>
                      <a:r>
                        <a:rPr lang="en-US" dirty="0"/>
                        <a:t> and update the asset 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this.cmsAssetId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{branch-id}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</a:t>
                      </a:r>
                      <a:r>
                        <a:rPr lang="en-US" dirty="0" err="1"/>
                        <a:t>sessionPage.js</a:t>
                      </a:r>
                      <a:r>
                        <a:rPr lang="en-US" dirty="0"/>
                        <a:t> and update the asset 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this.cmsAssetId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{branch-id}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6651665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Routing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791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routing support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765462"/>
              </p:ext>
            </p:extLst>
          </p:nvPr>
        </p:nvGraphicFramePr>
        <p:xfrm>
          <a:off x="628650" y="1370013"/>
          <a:ext cx="7886700" cy="268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Adding routing packages to the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add react-router-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dom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react-router-config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0070620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routing code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92945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main app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router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 that your imports include references to the new router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6285086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 Session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2069371"/>
              </p:ext>
            </p:extLst>
          </p:nvPr>
        </p:nvGraphicFramePr>
        <p:xfrm>
          <a:off x="628650" y="1370013"/>
          <a:ext cx="7886700" cy="2865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Session Page source and open for 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how the </a:t>
                      </a:r>
                      <a:r>
                        <a:rPr lang="en-US" dirty="0" err="1"/>
                        <a:t>cmsAssetId</a:t>
                      </a:r>
                      <a:r>
                        <a:rPr lang="en-US" dirty="0"/>
                        <a:t> property value is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this.cmsAssetId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props.match.params.sessionid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4148103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 Track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112264"/>
              </p:ext>
            </p:extLst>
          </p:nvPr>
        </p:nvGraphicFramePr>
        <p:xfrm>
          <a:off x="628650" y="1370013"/>
          <a:ext cx="7886700" cy="318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Track Page source and open for edit.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how the </a:t>
                      </a:r>
                      <a:r>
                        <a:rPr lang="en-US" dirty="0" err="1"/>
                        <a:t>cmsAssetId</a:t>
                      </a:r>
                      <a:r>
                        <a:rPr lang="en-US" dirty="0"/>
                        <a:t> property value is assigned.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this.cmsAssetId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props.match.params.trackid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&lt;a&gt; tag in the </a:t>
                      </a:r>
                      <a:r>
                        <a:rPr lang="en-US" dirty="0" err="1"/>
                        <a:t>SessionCard</a:t>
                      </a:r>
                      <a:r>
                        <a:rPr lang="en-US" dirty="0"/>
                        <a:t> with a Router Link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&lt;Link to={'/session/' +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props.data.id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}&gt;{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session.title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}&lt;/Link&gt;</a:t>
                      </a: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7392874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Previewing the changes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520141"/>
              </p:ext>
            </p:extLst>
          </p:nvPr>
        </p:nvGraphicFramePr>
        <p:xfrm>
          <a:off x="628650" y="1372368"/>
          <a:ext cx="7886700" cy="2951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session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https://stagecpuk.crownpeak.com/Training/{your-site}/session/{id}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track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https://stagecpuk.crownpeak.com/Training/{your-site}/track/{id}</a:t>
                      </a: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0670411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Using dynamic managed content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7877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 Session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978535"/>
              </p:ext>
            </p:extLst>
          </p:nvPr>
        </p:nvGraphicFramePr>
        <p:xfrm>
          <a:off x="628650" y="1370013"/>
          <a:ext cx="7886700" cy="291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Session Page source and open for 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the component to populate its content from Search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export default class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SessionPage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extends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CmsDynamicPage</a:t>
                      </a:r>
                      <a:endParaRPr lang="en-GB" sz="135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41794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 Track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110079"/>
              </p:ext>
            </p:extLst>
          </p:nvPr>
        </p:nvGraphicFramePr>
        <p:xfrm>
          <a:off x="628650" y="1370013"/>
          <a:ext cx="7886700" cy="2727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Track Page source and open for edit.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the component to populate its content from Search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export default class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TrackPage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extends 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CmsDynamicPage</a:t>
                      </a:r>
                      <a:endParaRPr lang="en-GB" sz="135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0411268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 Track Component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3651174"/>
              </p:ext>
            </p:extLst>
          </p:nvPr>
        </p:nvGraphicFramePr>
        <p:xfrm>
          <a:off x="628650" y="1370013"/>
          <a:ext cx="7886700" cy="3065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Track component source and open for edit.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track.js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how the track’s session content is retrieved. Copy in the code to use </a:t>
                      </a:r>
                      <a:r>
                        <a:rPr lang="en-US" dirty="0" err="1"/>
                        <a:t>CmsDynamicDataProvider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35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n-US" sz="1200" b="0" i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24860-EE14-A54A-81FC-77D8B4DE2E05}"/>
              </a:ext>
            </a:extLst>
          </p:cNvPr>
          <p:cNvSpPr txBox="1"/>
          <p:nvPr/>
        </p:nvSpPr>
        <p:spPr>
          <a:xfrm>
            <a:off x="1156225" y="3946326"/>
            <a:ext cx="6483927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We are searching an embedded JSON text field to find a match. This isn’t ideal and will be replaced once we can mark fields as being indexable.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02FC0-CB2E-9D42-9309-75B198333431}"/>
              </a:ext>
            </a:extLst>
          </p:cNvPr>
          <p:cNvSpPr txBox="1"/>
          <p:nvPr/>
        </p:nvSpPr>
        <p:spPr>
          <a:xfrm>
            <a:off x="1156226" y="2791474"/>
            <a:ext cx="6483927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Specifying {field}:[json] in the field list (</a:t>
            </a:r>
            <a:r>
              <a:rPr lang="en-US" dirty="0" err="1"/>
              <a:t>fl</a:t>
            </a:r>
            <a:r>
              <a:rPr lang="en-US" dirty="0"/>
              <a:t> parameter) is a </a:t>
            </a:r>
            <a:r>
              <a:rPr lang="en-US" dirty="0" err="1"/>
              <a:t>Solr</a:t>
            </a:r>
            <a:r>
              <a:rPr lang="en-US" dirty="0"/>
              <a:t> feature to expand embedded JSON strings into actual JSON/</a:t>
            </a:r>
            <a:r>
              <a:rPr lang="en-US" dirty="0" err="1"/>
              <a:t>Javascript</a:t>
            </a:r>
            <a:r>
              <a:rPr lang="en-US" dirty="0"/>
              <a:t> fields.</a:t>
            </a:r>
          </a:p>
        </p:txBody>
      </p:sp>
    </p:spTree>
    <p:extLst>
      <p:ext uri="{BB962C8B-B14F-4D97-AF65-F5344CB8AC3E}">
        <p14:creationId xmlns:p14="http://schemas.microsoft.com/office/powerpoint/2010/main" val="4979793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 Page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957754"/>
              </p:ext>
            </p:extLst>
          </p:nvPr>
        </p:nvGraphicFramePr>
        <p:xfrm>
          <a:off x="628650" y="1370013"/>
          <a:ext cx="7886700" cy="2933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source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/pages/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homePage.js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react component that uses </a:t>
                      </a:r>
                      <a:r>
                        <a:rPr lang="en-US" dirty="0" err="1"/>
                        <a:t>CmsDynamicDataProvider</a:t>
                      </a:r>
                      <a:r>
                        <a:rPr lang="en-US" dirty="0"/>
                        <a:t> to find all conference tracks and render them.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269462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the routing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4728784"/>
              </p:ext>
            </p:extLst>
          </p:nvPr>
        </p:nvGraphicFramePr>
        <p:xfrm>
          <a:off x="628650" y="1370013"/>
          <a:ext cx="7886700" cy="291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primary React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App.js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another route for the homepage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&lt;Route exact path='/' component={</a:t>
                      </a:r>
                      <a:r>
                        <a:rPr lang="en-GB" sz="135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HomePage</a:t>
                      </a:r>
                      <a:r>
                        <a:rPr lang="en-GB" sz="135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}&gt;&lt;/Route&gt;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66DB477F-31BB-3642-BE24-19AFD4A0AAAF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8150788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Refinements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310B98-DFA7-1A47-95F6-49374ECA3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6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Refinement: Custom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97356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Component: </a:t>
            </a:r>
            <a:r>
              <a:rPr lang="en-US" dirty="0" err="1"/>
              <a:t>SessionType</a:t>
            </a: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227542"/>
              </p:ext>
            </p:extLst>
          </p:nvPr>
        </p:nvGraphicFramePr>
        <p:xfrm>
          <a:off x="628650" y="1370013"/>
          <a:ext cx="7886700" cy="3489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 Definitions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{project-root}/Component Library/Component 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Create a new Enhanced Component.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Leave the pattern space blank, save the component and then click on the link to the generated 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Component_SessionType.cs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in the code to customize the input control.</a:t>
                      </a:r>
                      <a:br>
                        <a:rPr lang="en-US" dirty="0"/>
                      </a:br>
                      <a:r>
                        <a:rPr lang="en-US" dirty="0"/>
                        <a:t>Be careful to replace just the class definition and not the surrounding namespace, imports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</a:t>
                      </a:r>
                      <a:r>
                        <a:rPr lang="en-US" dirty="0" err="1"/>
                        <a:t>ComponentJson</a:t>
                      </a:r>
                      <a:r>
                        <a:rPr lang="en-US" dirty="0"/>
                        <a:t> method to override the default JSON output.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return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asset.Raw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[name + index];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40534540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Component: Session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246900"/>
              </p:ext>
            </p:extLst>
          </p:nvPr>
        </p:nvGraphicFramePr>
        <p:xfrm>
          <a:off x="628650" y="1370013"/>
          <a:ext cx="7886700" cy="299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and open for 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/components/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session.js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Update the </a:t>
                      </a:r>
                      <a:r>
                        <a:rPr lang="en-US" dirty="0" err="1"/>
                        <a:t>CmsField</a:t>
                      </a:r>
                      <a:r>
                        <a:rPr lang="en-US" dirty="0"/>
                        <a:t> code for session type to use the CMS component class name.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this.type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= new 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CmsField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('type', '</a:t>
                      </a:r>
                      <a:r>
                        <a:rPr lang="en-GB" sz="1200" b="0" i="0" kern="12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SessionType</a:t>
                      </a: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');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Re-scaffold the CMS but exclude pages and wrappers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yarn 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crownpeak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--no-templates --no-wrappers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5" name="Round Same-side Corner of Rectangle 4">
            <a:extLst>
              <a:ext uri="{FF2B5EF4-FFF2-40B4-BE49-F238E27FC236}">
                <a16:creationId xmlns:a16="http://schemas.microsoft.com/office/drawing/2014/main" id="{99E30C53-D0B5-C748-B937-74E100E37D15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2846171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3E060-80A3-684D-A07D-739624F0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content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6E04730-7D4C-CD4B-A1E6-9C7C902D7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815197"/>
              </p:ext>
            </p:extLst>
          </p:nvPr>
        </p:nvGraphicFramePr>
        <p:xfrm>
          <a:off x="628650" y="1370013"/>
          <a:ext cx="7886700" cy="355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00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62989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Session Pages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{site-root}/Session 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Edit each session asset to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AutoNum type="arabicPeriod"/>
                      </a:pPr>
                      <a:r>
                        <a:rPr lang="en-US" dirty="0"/>
                        <a:t>Verify that the scaffolding has changed the input control from a text field to a dropdown; and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AutoNum type="arabicPeriod"/>
                      </a:pPr>
                      <a:r>
                        <a:rPr lang="en-US" dirty="0"/>
                        <a:t>Set the session type to one of the values from the drop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Session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Republish all modified session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03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087244"/>
                  </a:ext>
                </a:extLst>
              </a:tr>
            </a:tbl>
          </a:graphicData>
        </a:graphic>
      </p:graphicFrame>
      <p:sp>
        <p:nvSpPr>
          <p:cNvPr id="6" name="Round Same-side Corner of Rectangle 5">
            <a:extLst>
              <a:ext uri="{FF2B5EF4-FFF2-40B4-BE49-F238E27FC236}">
                <a16:creationId xmlns:a16="http://schemas.microsoft.com/office/drawing/2014/main" id="{357DC47C-1FDF-4944-90A7-01261CFE2863}"/>
              </a:ext>
            </a:extLst>
          </p:cNvPr>
          <p:cNvSpPr/>
          <p:nvPr/>
        </p:nvSpPr>
        <p:spPr>
          <a:xfrm>
            <a:off x="7534354" y="0"/>
            <a:ext cx="1609646" cy="408193"/>
          </a:xfrm>
          <a:prstGeom prst="round2SameRect">
            <a:avLst>
              <a:gd name="adj1" fmla="val 0"/>
              <a:gd name="adj2" fmla="val 333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CMS</a:t>
            </a:r>
          </a:p>
        </p:txBody>
      </p:sp>
    </p:spTree>
    <p:extLst>
      <p:ext uri="{BB962C8B-B14F-4D97-AF65-F5344CB8AC3E}">
        <p14:creationId xmlns:p14="http://schemas.microsoft.com/office/powerpoint/2010/main" val="1407788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Refinement: Routing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BAE2B-C565-5848-9F52-F7AD32241D7E}"/>
              </a:ext>
            </a:extLst>
          </p:cNvPr>
          <p:cNvSpPr txBox="1"/>
          <p:nvPr/>
        </p:nvSpPr>
        <p:spPr>
          <a:xfrm>
            <a:off x="1507100" y="4180795"/>
            <a:ext cx="648392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UNDER DEVELOPMENT</a:t>
            </a:r>
          </a:p>
        </p:txBody>
      </p:sp>
    </p:spTree>
    <p:extLst>
      <p:ext uri="{BB962C8B-B14F-4D97-AF65-F5344CB8AC3E}">
        <p14:creationId xmlns:p14="http://schemas.microsoft.com/office/powerpoint/2010/main" val="10426865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Routing so far has used the underlying asset branch ID: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&lt;Route path=”/track/: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 component={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}/&gt;</a:t>
            </a:r>
          </a:p>
          <a:p>
            <a:r>
              <a:rPr lang="en-GB" dirty="0"/>
              <a:t>How can we replace this with paths that are more SEO friendly?</a:t>
            </a:r>
          </a:p>
          <a:p>
            <a:endParaRPr lang="en-GB" dirty="0"/>
          </a:p>
          <a:p>
            <a:r>
              <a:rPr lang="en-GB" dirty="0"/>
              <a:t>Switch to path-based routing:</a:t>
            </a:r>
          </a:p>
          <a:p>
            <a:pPr lvl="1"/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&lt;Route {path: ‘/track/conference’,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component: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cmsAssetId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0000 }/&gt;</a:t>
            </a:r>
          </a:p>
          <a:p>
            <a:pPr marL="342900" lvl="1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33454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Path-based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&lt;Route {path: ‘/track/conference’,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component: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TrackPage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cmsAssetId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nnnn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}/&gt;</a:t>
            </a:r>
          </a:p>
          <a:p>
            <a:pPr marL="342900" lvl="1" indent="0">
              <a:buNone/>
            </a:pPr>
            <a:endParaRPr lang="en-GB" dirty="0"/>
          </a:p>
          <a:p>
            <a:r>
              <a:rPr lang="en-GB" dirty="0"/>
              <a:t>Hard-coded into your application; or</a:t>
            </a:r>
          </a:p>
          <a:p>
            <a:r>
              <a:rPr lang="en-GB" dirty="0"/>
              <a:t>Published from the CMS as a configuration resource and loaded by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6327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8A7410-A7F7-4148-B700-E9738C1947C6}">
  <ds:schemaRefs>
    <ds:schemaRef ds:uri="9f05f533-87d1-4f38-9402-182c267fffbc"/>
    <ds:schemaRef ds:uri="http://purl.org/dc/terms/"/>
    <ds:schemaRef ds:uri="http://www.w3.org/XML/1998/namespace"/>
    <ds:schemaRef ds:uri="631082eb-fd3e-4e0d-a348-9c93b2e913b5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97299-4B06-47FE-A748-16394B110628}"/>
</file>

<file path=docProps/app.xml><?xml version="1.0" encoding="utf-8"?>
<Properties xmlns="http://schemas.openxmlformats.org/officeDocument/2006/extended-properties" xmlns:vt="http://schemas.openxmlformats.org/officeDocument/2006/docPropsVTypes">
  <TotalTime>42441</TotalTime>
  <Words>5921</Words>
  <Application>Microsoft Macintosh PowerPoint</Application>
  <PresentationFormat>On-screen Show (16:9)</PresentationFormat>
  <Paragraphs>1030</Paragraphs>
  <Slides>64</Slides>
  <Notes>49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Consolas</vt:lpstr>
      <vt:lpstr>Courier New</vt:lpstr>
      <vt:lpstr>Office Theme</vt:lpstr>
      <vt:lpstr>Crownpeak React SDK</vt:lpstr>
      <vt:lpstr>Lab</vt:lpstr>
      <vt:lpstr>Overview</vt:lpstr>
      <vt:lpstr>Pre-requisites</vt:lpstr>
      <vt:lpstr>Getting Started</vt:lpstr>
      <vt:lpstr>Step 1: Setting up in the CMS</vt:lpstr>
      <vt:lpstr>Step 1: Setting up in the CMS contd.</vt:lpstr>
      <vt:lpstr>Step 2: Patch Component Library.</vt:lpstr>
      <vt:lpstr>Step 3: Add the SDK to your React project</vt:lpstr>
      <vt:lpstr>Step 4: Configure the SDK</vt:lpstr>
      <vt:lpstr>.env variables</vt:lpstr>
      <vt:lpstr>Step 5: Initialize the SDK code</vt:lpstr>
      <vt:lpstr>Step 6: Verify &amp; Tidy up</vt:lpstr>
      <vt:lpstr>Session Page</vt:lpstr>
      <vt:lpstr>Helpers</vt:lpstr>
      <vt:lpstr>Session Component</vt:lpstr>
      <vt:lpstr>Session CSS</vt:lpstr>
      <vt:lpstr>Session Page</vt:lpstr>
      <vt:lpstr>Update App</vt:lpstr>
      <vt:lpstr>Setup dummy data</vt:lpstr>
      <vt:lpstr>Global CSS</vt:lpstr>
      <vt:lpstr>Preview</vt:lpstr>
      <vt:lpstr>Track Page</vt:lpstr>
      <vt:lpstr>Track Component</vt:lpstr>
      <vt:lpstr>Track CSS</vt:lpstr>
      <vt:lpstr>Track Page</vt:lpstr>
      <vt:lpstr>Update App</vt:lpstr>
      <vt:lpstr>Setup dummy track data</vt:lpstr>
      <vt:lpstr>Preview</vt:lpstr>
      <vt:lpstr>Update Track component</vt:lpstr>
      <vt:lpstr>Setup dummy track session data</vt:lpstr>
      <vt:lpstr>Preview</vt:lpstr>
      <vt:lpstr>Nav Wrapper</vt:lpstr>
      <vt:lpstr>Nav Wrapper</vt:lpstr>
      <vt:lpstr>CMS Scaffolding</vt:lpstr>
      <vt:lpstr>Scaffolding</vt:lpstr>
      <vt:lpstr>Creating Content</vt:lpstr>
      <vt:lpstr>Tracks</vt:lpstr>
      <vt:lpstr>Sessions</vt:lpstr>
      <vt:lpstr>Fixing up filenames: NameHelper</vt:lpstr>
      <vt:lpstr>Fixing up filenames: filename.aspx</vt:lpstr>
      <vt:lpstr>Publishing all assets</vt:lpstr>
      <vt:lpstr>Using static managed content data</vt:lpstr>
      <vt:lpstr>Configuration changes</vt:lpstr>
      <vt:lpstr>Routing</vt:lpstr>
      <vt:lpstr>Add routing support</vt:lpstr>
      <vt:lpstr>Add routing code</vt:lpstr>
      <vt:lpstr>Adapt Session Page</vt:lpstr>
      <vt:lpstr>Adapt Track Page</vt:lpstr>
      <vt:lpstr>Previewing the changes</vt:lpstr>
      <vt:lpstr>Using dynamic managed content data</vt:lpstr>
      <vt:lpstr>Adapt Session Page</vt:lpstr>
      <vt:lpstr>Adapt Track Page</vt:lpstr>
      <vt:lpstr>Adapt Track Component</vt:lpstr>
      <vt:lpstr>Home Page</vt:lpstr>
      <vt:lpstr>Update the routing</vt:lpstr>
      <vt:lpstr>Refinements</vt:lpstr>
      <vt:lpstr>Refinement: Custom Components</vt:lpstr>
      <vt:lpstr>Component: SessionType</vt:lpstr>
      <vt:lpstr>Component: Session</vt:lpstr>
      <vt:lpstr>Update content</vt:lpstr>
      <vt:lpstr>Refinement: Routing</vt:lpstr>
      <vt:lpstr>Routing</vt:lpstr>
      <vt:lpstr>Path-based Routing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504</cp:revision>
  <dcterms:created xsi:type="dcterms:W3CDTF">2014-05-29T23:54:45Z</dcterms:created>
  <dcterms:modified xsi:type="dcterms:W3CDTF">2020-09-25T12:11:58Z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