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17"/>
  </p:notesMasterIdLst>
  <p:handoutMasterIdLst>
    <p:handoutMasterId r:id="rId18"/>
  </p:handoutMasterIdLst>
  <p:sldIdLst>
    <p:sldId id="256" r:id="rId5"/>
    <p:sldId id="329" r:id="rId6"/>
    <p:sldId id="334" r:id="rId7"/>
    <p:sldId id="335" r:id="rId8"/>
    <p:sldId id="336" r:id="rId9"/>
    <p:sldId id="369" r:id="rId10"/>
    <p:sldId id="370" r:id="rId11"/>
    <p:sldId id="372" r:id="rId12"/>
    <p:sldId id="373" r:id="rId13"/>
    <p:sldId id="374" r:id="rId14"/>
    <p:sldId id="380" r:id="rId15"/>
    <p:sldId id="371" r:id="rId16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704DB26-5B08-0B4C-8AFF-FBE702E6C83C}">
          <p14:sldIdLst>
            <p14:sldId id="256"/>
          </p14:sldIdLst>
        </p14:section>
        <p14:section name="Introduction" id="{CF4F41F0-8631-0749-A9F8-7D3731149F4C}">
          <p14:sldIdLst>
            <p14:sldId id="329"/>
            <p14:sldId id="334"/>
            <p14:sldId id="335"/>
            <p14:sldId id="336"/>
          </p14:sldIdLst>
        </p14:section>
        <p14:section name="React SDK Elements" id="{94C90FE4-6976-774C-BECF-D90BD69EDC97}">
          <p14:sldIdLst>
            <p14:sldId id="369"/>
            <p14:sldId id="370"/>
            <p14:sldId id="372"/>
            <p14:sldId id="373"/>
            <p14:sldId id="374"/>
            <p14:sldId id="380"/>
            <p14:sldId id="37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98A3A1"/>
    <a:srgbClr val="BC217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15" autoAdjust="0"/>
    <p:restoredTop sz="59184" autoAdjust="0"/>
  </p:normalViewPr>
  <p:slideViewPr>
    <p:cSldViewPr snapToGrid="0" snapToObjects="1">
      <p:cViewPr varScale="1">
        <p:scale>
          <a:sx n="97" d="100"/>
          <a:sy n="97" d="100"/>
        </p:scale>
        <p:origin x="2792" y="184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19" d="100"/>
          <a:sy n="119" d="100"/>
        </p:scale>
        <p:origin x="5128" y="1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9/15/20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9/15/20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085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15 September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15 September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9/15/20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Crownpeak React SDK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227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2EF6C-F671-AE49-8784-6E9084EA2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SDK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F2EF2-C72F-A840-8053-230450455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Use CMS declarations in your React codebase</a:t>
            </a:r>
          </a:p>
          <a:p>
            <a:r>
              <a:rPr lang="en-US" dirty="0"/>
              <a:t>Scaffold CMS elements automatically</a:t>
            </a:r>
          </a:p>
          <a:p>
            <a:pPr lvl="1"/>
            <a:r>
              <a:rPr lang="en-US" dirty="0"/>
              <a:t>Component Definition (and generated component classes)</a:t>
            </a:r>
          </a:p>
          <a:p>
            <a:pPr lvl="1"/>
            <a:r>
              <a:rPr lang="en-US" dirty="0"/>
              <a:t>Nav Wrapper Definition (and generated nav wrapper template)</a:t>
            </a:r>
          </a:p>
          <a:p>
            <a:pPr lvl="1"/>
            <a:r>
              <a:rPr lang="en-US" dirty="0"/>
              <a:t>Template Definition (and generated template)</a:t>
            </a:r>
          </a:p>
          <a:p>
            <a:pPr lvl="1"/>
            <a:r>
              <a:rPr lang="en-US" dirty="0"/>
              <a:t>Model</a:t>
            </a:r>
          </a:p>
          <a:p>
            <a:r>
              <a:rPr lang="en-US" dirty="0"/>
              <a:t>Support content-as-data</a:t>
            </a:r>
          </a:p>
          <a:p>
            <a:pPr lvl="1"/>
            <a:r>
              <a:rPr lang="en-US" dirty="0"/>
              <a:t>JSON files</a:t>
            </a:r>
          </a:p>
          <a:p>
            <a:pPr lvl="1"/>
            <a:r>
              <a:rPr lang="en-US" dirty="0"/>
              <a:t>Search G2</a:t>
            </a:r>
          </a:p>
          <a:p>
            <a:r>
              <a:rPr lang="en-US" dirty="0"/>
              <a:t>Use your React code to create an in-CMS preview</a:t>
            </a:r>
          </a:p>
        </p:txBody>
      </p:sp>
    </p:spTree>
    <p:extLst>
      <p:ext uri="{BB962C8B-B14F-4D97-AF65-F5344CB8AC3E}">
        <p14:creationId xmlns:p14="http://schemas.microsoft.com/office/powerpoint/2010/main" val="11630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3DA6A-0747-7B4C-AED0-9925D2098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or flexibility?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A0713-0D7A-3341-A267-ED8DD21EE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Performance:</a:t>
            </a:r>
          </a:p>
          <a:p>
            <a:pPr lvl="1"/>
            <a:r>
              <a:rPr lang="en-US" dirty="0"/>
              <a:t>Always fastest to keep JSON files on your local device</a:t>
            </a:r>
          </a:p>
          <a:p>
            <a:pPr lvl="1"/>
            <a:r>
              <a:rPr lang="en-US" dirty="0"/>
              <a:t>The CMS can publish files to any SFTP/FTPS endpoint</a:t>
            </a:r>
          </a:p>
          <a:p>
            <a:pPr lvl="1"/>
            <a:r>
              <a:rPr lang="en-US" dirty="0"/>
              <a:t>Or an S3 bucket served via CloudFront</a:t>
            </a:r>
          </a:p>
          <a:p>
            <a:r>
              <a:rPr lang="en-US" dirty="0"/>
              <a:t>Flexibility</a:t>
            </a:r>
          </a:p>
          <a:p>
            <a:pPr lvl="1"/>
            <a:r>
              <a:rPr lang="en-US" dirty="0"/>
              <a:t>When you need to perform complex operations (filter, facet, etc.)</a:t>
            </a:r>
          </a:p>
          <a:p>
            <a:pPr lvl="1"/>
            <a:r>
              <a:rPr lang="en-US" dirty="0"/>
              <a:t>Publish records to Search G2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849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G2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B19-02FB-DB42-AEBA-2005B087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high-bandwidth areas, you can run dynamic queries in real time</a:t>
            </a:r>
          </a:p>
          <a:p>
            <a:r>
              <a:rPr lang="en-US" dirty="0"/>
              <a:t>Elsewhere you might want to run when you must, and cache locally</a:t>
            </a:r>
          </a:p>
          <a:p>
            <a:r>
              <a:rPr lang="en-US" dirty="0"/>
              <a:t>When you’ve got it working, tune your query for performance and bandwidth</a:t>
            </a:r>
          </a:p>
          <a:p>
            <a:pPr lvl="1"/>
            <a:r>
              <a:rPr lang="en-US" dirty="0"/>
              <a:t>Put debug=true to get a wealth of debugging and timing information back from </a:t>
            </a:r>
            <a:r>
              <a:rPr lang="en-US" dirty="0" err="1"/>
              <a:t>Solr</a:t>
            </a:r>
            <a:endParaRPr lang="en-US" dirty="0"/>
          </a:p>
          <a:p>
            <a:pPr lvl="1"/>
            <a:r>
              <a:rPr lang="en-US" dirty="0"/>
              <a:t>Select just the fields that you need</a:t>
            </a:r>
          </a:p>
          <a:p>
            <a:pPr lvl="1"/>
            <a:r>
              <a:rPr lang="en-US" dirty="0"/>
              <a:t>Not so good if your query is super-quick but returns 10MB of data you don’t need!</a:t>
            </a:r>
          </a:p>
        </p:txBody>
      </p:sp>
    </p:spTree>
    <p:extLst>
      <p:ext uri="{BB962C8B-B14F-4D97-AF65-F5344CB8AC3E}">
        <p14:creationId xmlns:p14="http://schemas.microsoft.com/office/powerpoint/2010/main" val="2425027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 SDK Elements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7AE562-FD78-DA45-B30D-4EF7DA5426C6}"/>
              </a:ext>
            </a:extLst>
          </p:cNvPr>
          <p:cNvSpPr/>
          <p:nvPr/>
        </p:nvSpPr>
        <p:spPr>
          <a:xfrm>
            <a:off x="628650" y="1412562"/>
            <a:ext cx="1904370" cy="52899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CmsStaticPage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BB9221-3320-4E42-9C6F-F1A9818BAA6D}"/>
              </a:ext>
            </a:extLst>
          </p:cNvPr>
          <p:cNvSpPr/>
          <p:nvPr/>
        </p:nvSpPr>
        <p:spPr>
          <a:xfrm>
            <a:off x="628650" y="2042757"/>
            <a:ext cx="1904370" cy="52899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CmsDynamicPage</a:t>
            </a:r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AC721D1-D56D-5647-9FBD-5771016CB2F5}"/>
              </a:ext>
            </a:extLst>
          </p:cNvPr>
          <p:cNvSpPr/>
          <p:nvPr/>
        </p:nvSpPr>
        <p:spPr>
          <a:xfrm>
            <a:off x="3431597" y="1700030"/>
            <a:ext cx="1904370" cy="52899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Template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1B9BB6-641B-AF4A-9943-9F82ECC65964}"/>
              </a:ext>
            </a:extLst>
          </p:cNvPr>
          <p:cNvSpPr/>
          <p:nvPr/>
        </p:nvSpPr>
        <p:spPr>
          <a:xfrm>
            <a:off x="628650" y="3201945"/>
            <a:ext cx="1904370" cy="52899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CmsComponent</a:t>
            </a:r>
            <a:endParaRPr lang="en-US" dirty="0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89FF9AF-722B-CF42-87A1-993230C8A170}"/>
              </a:ext>
            </a:extLst>
          </p:cNvPr>
          <p:cNvSpPr/>
          <p:nvPr/>
        </p:nvSpPr>
        <p:spPr>
          <a:xfrm>
            <a:off x="628650" y="3832141"/>
            <a:ext cx="1904370" cy="52899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CmsField</a:t>
            </a:r>
            <a:endParaRPr lang="en-US" dirty="0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ABBFE44-6BC7-8A41-A53B-79A73999CBE3}"/>
              </a:ext>
            </a:extLst>
          </p:cNvPr>
          <p:cNvSpPr/>
          <p:nvPr/>
        </p:nvSpPr>
        <p:spPr>
          <a:xfrm>
            <a:off x="3431597" y="3466441"/>
            <a:ext cx="1904370" cy="52899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Component</a:t>
            </a:r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FB82E89-648A-F044-A750-C0638D0A04D2}"/>
              </a:ext>
            </a:extLst>
          </p:cNvPr>
          <p:cNvSpPr/>
          <p:nvPr/>
        </p:nvSpPr>
        <p:spPr>
          <a:xfrm>
            <a:off x="2750756" y="1268016"/>
            <a:ext cx="158699" cy="13930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B916C582-8B38-7542-AF99-44889D79BC9F}"/>
              </a:ext>
            </a:extLst>
          </p:cNvPr>
          <p:cNvSpPr/>
          <p:nvPr/>
        </p:nvSpPr>
        <p:spPr>
          <a:xfrm>
            <a:off x="2750755" y="3034427"/>
            <a:ext cx="158699" cy="13930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C0EC76-BF7F-8140-BE96-1D7CBABA33A5}"/>
              </a:ext>
            </a:extLst>
          </p:cNvPr>
          <p:cNvSpPr/>
          <p:nvPr/>
        </p:nvSpPr>
        <p:spPr>
          <a:xfrm>
            <a:off x="6610980" y="1700030"/>
            <a:ext cx="1904370" cy="52899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 Asset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FC1A660-358C-9F4D-8E3A-39A32483E865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4383782" y="2229022"/>
            <a:ext cx="0" cy="1237419"/>
          </a:xfrm>
          <a:prstGeom prst="straightConnector1">
            <a:avLst/>
          </a:prstGeom>
          <a:ln w="127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35DC6AD-EB3A-094C-8DBA-38D736E562C0}"/>
              </a:ext>
            </a:extLst>
          </p:cNvPr>
          <p:cNvCxnSpPr>
            <a:cxnSpLocks/>
            <a:stCxn id="13" idx="1"/>
            <a:endCxn id="6" idx="3"/>
          </p:cNvCxnSpPr>
          <p:nvPr/>
        </p:nvCxnSpPr>
        <p:spPr>
          <a:xfrm flipH="1">
            <a:off x="5335967" y="1964526"/>
            <a:ext cx="1275013" cy="0"/>
          </a:xfrm>
          <a:prstGeom prst="straightConnector1">
            <a:avLst/>
          </a:prstGeom>
          <a:ln w="1270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6230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CmsStaticPage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B19-02FB-DB42-AEBA-2005B087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data equivalent of a DXM templated asset</a:t>
            </a:r>
          </a:p>
          <a:p>
            <a:r>
              <a:rPr lang="en-GB" dirty="0"/>
              <a:t>Loads content from JSON file on filesystem</a:t>
            </a:r>
          </a:p>
          <a:p>
            <a:r>
              <a:rPr lang="en-GB" dirty="0"/>
              <a:t>Expects knowledge of DXM </a:t>
            </a:r>
            <a:r>
              <a:rPr lang="en-GB" dirty="0" err="1"/>
              <a:t>AssetId</a:t>
            </a:r>
            <a:r>
              <a:rPr lang="en-GB" dirty="0"/>
              <a:t> in order to find file with corresponding name</a:t>
            </a:r>
          </a:p>
          <a:p>
            <a:pPr lvl="1"/>
            <a:r>
              <a:rPr lang="en-GB" dirty="0"/>
              <a:t>Set </a:t>
            </a:r>
            <a:r>
              <a:rPr lang="en-GB" dirty="0" err="1"/>
              <a:t>cmsAssetId</a:t>
            </a:r>
            <a:r>
              <a:rPr lang="en-GB" dirty="0"/>
              <a:t> class property</a:t>
            </a:r>
          </a:p>
          <a:p>
            <a:pPr lvl="1"/>
            <a:r>
              <a:rPr lang="en-GB" dirty="0"/>
              <a:t>Location of JSON file specified in .env using property REACT_APP_CMS_STATIC_CONTENT_LOCATION, e.g. /content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2A065-0D99-DD4F-92F2-E277168E0A48}"/>
              </a:ext>
            </a:extLst>
          </p:cNvPr>
          <p:cNvSpPr txBox="1"/>
          <p:nvPr/>
        </p:nvSpPr>
        <p:spPr>
          <a:xfrm>
            <a:off x="1405607" y="4087595"/>
            <a:ext cx="574333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SDK parser will only detect pages if exported directly, i.e.</a:t>
            </a:r>
          </a:p>
          <a:p>
            <a:r>
              <a:rPr lang="en-US" dirty="0"/>
              <a:t>export default class </a:t>
            </a:r>
            <a:r>
              <a:rPr lang="en-US" dirty="0" err="1"/>
              <a:t>SomePage</a:t>
            </a:r>
            <a:r>
              <a:rPr lang="en-US" dirty="0"/>
              <a:t> extends </a:t>
            </a:r>
            <a:r>
              <a:rPr lang="en-US" dirty="0" err="1"/>
              <a:t>CmsStaticPage</a:t>
            </a:r>
            <a:r>
              <a:rPr lang="en-US" dirty="0"/>
              <a:t> { … }</a:t>
            </a:r>
          </a:p>
        </p:txBody>
      </p:sp>
    </p:spTree>
    <p:extLst>
      <p:ext uri="{BB962C8B-B14F-4D97-AF65-F5344CB8AC3E}">
        <p14:creationId xmlns:p14="http://schemas.microsoft.com/office/powerpoint/2010/main" val="2364785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CmsDynamicPage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B19-02FB-DB42-AEBA-2005B087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data equivalent of a DXM templated asset</a:t>
            </a:r>
          </a:p>
          <a:p>
            <a:r>
              <a:rPr lang="en-GB" dirty="0"/>
              <a:t>Loads content from JSON resource published to Search  G2</a:t>
            </a:r>
          </a:p>
          <a:p>
            <a:r>
              <a:rPr lang="en-GB" dirty="0"/>
              <a:t>Expects knowledge of DXM </a:t>
            </a:r>
            <a:r>
              <a:rPr lang="en-GB" dirty="0" err="1"/>
              <a:t>AssetId</a:t>
            </a:r>
            <a:r>
              <a:rPr lang="en-GB" dirty="0"/>
              <a:t> in order to find file with corresponding name</a:t>
            </a:r>
          </a:p>
          <a:p>
            <a:pPr lvl="1"/>
            <a:r>
              <a:rPr lang="en-GB" dirty="0"/>
              <a:t>Set </a:t>
            </a:r>
            <a:r>
              <a:rPr lang="en-GB" dirty="0" err="1"/>
              <a:t>cmsAssetId</a:t>
            </a:r>
            <a:r>
              <a:rPr lang="en-GB" dirty="0"/>
              <a:t> class property</a:t>
            </a:r>
          </a:p>
          <a:p>
            <a:pPr lvl="1"/>
            <a:r>
              <a:rPr lang="en-GB" dirty="0"/>
              <a:t>SearchG2 URL specified in .env using property REACT_APP_CMS_DYNAMIC_CONTENT_LOCATION</a:t>
            </a:r>
            <a:br>
              <a:rPr lang="en-GB" dirty="0"/>
            </a:br>
            <a:r>
              <a:rPr lang="en-GB" dirty="0"/>
              <a:t>e.g. //searchg2.crownpeak.net/</a:t>
            </a:r>
            <a:r>
              <a:rPr lang="en-GB" dirty="0" err="1"/>
              <a:t>cpuk</a:t>
            </a:r>
            <a:r>
              <a:rPr lang="en-GB" dirty="0"/>
              <a:t>-training-stage/select/?</a:t>
            </a:r>
            <a:r>
              <a:rPr lang="en-GB" dirty="0" err="1"/>
              <a:t>wt</a:t>
            </a:r>
            <a:r>
              <a:rPr lang="en-GB" dirty="0"/>
              <a:t>=</a:t>
            </a:r>
            <a:r>
              <a:rPr lang="en-GB" dirty="0" err="1"/>
              <a:t>json&amp;indent</a:t>
            </a:r>
            <a:r>
              <a:rPr lang="en-GB" dirty="0"/>
              <a:t>=true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722BC-3101-A54B-959B-2107044B1C3C}"/>
              </a:ext>
            </a:extLst>
          </p:cNvPr>
          <p:cNvSpPr txBox="1"/>
          <p:nvPr/>
        </p:nvSpPr>
        <p:spPr>
          <a:xfrm>
            <a:off x="1382936" y="4309557"/>
            <a:ext cx="5970049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SDK parser will only detect pages if exported directly, i.e.</a:t>
            </a:r>
          </a:p>
          <a:p>
            <a:r>
              <a:rPr lang="en-US" dirty="0"/>
              <a:t>export default class </a:t>
            </a:r>
            <a:r>
              <a:rPr lang="en-US" dirty="0" err="1"/>
              <a:t>SomePage</a:t>
            </a:r>
            <a:r>
              <a:rPr lang="en-US" dirty="0"/>
              <a:t> extends </a:t>
            </a:r>
            <a:r>
              <a:rPr lang="en-US" dirty="0" err="1"/>
              <a:t>CmsDynamicPage</a:t>
            </a:r>
            <a:r>
              <a:rPr lang="en-US" dirty="0"/>
              <a:t> { … }</a:t>
            </a:r>
          </a:p>
        </p:txBody>
      </p:sp>
    </p:spTree>
    <p:extLst>
      <p:ext uri="{BB962C8B-B14F-4D97-AF65-F5344CB8AC3E}">
        <p14:creationId xmlns:p14="http://schemas.microsoft.com/office/powerpoint/2010/main" val="299029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CmsComponent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B19-02FB-DB42-AEBA-2005B087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data equivalent of a DXM component</a:t>
            </a:r>
          </a:p>
          <a:p>
            <a:r>
              <a:rPr lang="en-GB" dirty="0"/>
              <a:t>Declare fields using </a:t>
            </a:r>
            <a:r>
              <a:rPr lang="en-GB" dirty="0" err="1"/>
              <a:t>CmsField</a:t>
            </a:r>
            <a:r>
              <a:rPr lang="en-GB" dirty="0"/>
              <a:t> </a:t>
            </a:r>
          </a:p>
          <a:p>
            <a:pPr lvl="1"/>
            <a:r>
              <a:rPr lang="en-GB" dirty="0"/>
              <a:t>Typically done in the class constructor</a:t>
            </a:r>
          </a:p>
          <a:p>
            <a:pPr lvl="1"/>
            <a:r>
              <a:rPr lang="en-GB" dirty="0"/>
              <a:t>Can be placed in-line in the render() method</a:t>
            </a:r>
          </a:p>
          <a:p>
            <a:pPr lvl="1"/>
            <a:r>
              <a:rPr lang="en-GB" dirty="0"/>
              <a:t>Field type specified using </a:t>
            </a:r>
            <a:r>
              <a:rPr lang="en-GB" dirty="0" err="1"/>
              <a:t>enum</a:t>
            </a:r>
            <a:r>
              <a:rPr lang="en-GB" dirty="0"/>
              <a:t> </a:t>
            </a:r>
            <a:r>
              <a:rPr lang="en-GB" dirty="0" err="1"/>
              <a:t>CmsFieldType</a:t>
            </a:r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939AD7-788F-274B-ADFE-1627E260B0D4}"/>
              </a:ext>
            </a:extLst>
          </p:cNvPr>
          <p:cNvSpPr txBox="1"/>
          <p:nvPr/>
        </p:nvSpPr>
        <p:spPr>
          <a:xfrm>
            <a:off x="1156226" y="3986392"/>
            <a:ext cx="6483927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SDK parser will only detect components if exported directly, i.e.</a:t>
            </a:r>
          </a:p>
          <a:p>
            <a:r>
              <a:rPr lang="en-US" dirty="0"/>
              <a:t>export default class </a:t>
            </a:r>
            <a:r>
              <a:rPr lang="en-US" dirty="0" err="1"/>
              <a:t>SomeComponent</a:t>
            </a:r>
            <a:r>
              <a:rPr lang="en-US" dirty="0"/>
              <a:t> extends </a:t>
            </a:r>
            <a:r>
              <a:rPr lang="en-US" dirty="0" err="1"/>
              <a:t>CmsComponent</a:t>
            </a:r>
            <a:r>
              <a:rPr lang="en-US" dirty="0"/>
              <a:t> { … }</a:t>
            </a:r>
          </a:p>
        </p:txBody>
      </p:sp>
    </p:spTree>
    <p:extLst>
      <p:ext uri="{BB962C8B-B14F-4D97-AF65-F5344CB8AC3E}">
        <p14:creationId xmlns:p14="http://schemas.microsoft.com/office/powerpoint/2010/main" val="32186755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CmsFieldType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98963D-BD42-484D-B256-984DFE643F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9199173"/>
              </p:ext>
            </p:extLst>
          </p:nvPr>
        </p:nvGraphicFramePr>
        <p:xfrm>
          <a:off x="628650" y="1370013"/>
          <a:ext cx="78867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281164796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0264377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86785035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CmsFieldType</a:t>
                      </a:r>
                      <a:r>
                        <a:rPr lang="en-US" dirty="0"/>
                        <a:t>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DXM Input control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59577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Plain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Input.ShowTextBox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53930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WYSIWYG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Richtext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Input.ShowWysiwyg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532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Input.ShowSelectDate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4317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DOCUMENT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Asset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Input.ShowAcquireDocument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614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Asset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Input.ShowAcquireImage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965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1826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Providers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E9B19-02FB-DB42-AEBA-2005B0870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These are SDK classes that help you retrieve data:</a:t>
            </a:r>
          </a:p>
          <a:p>
            <a:pPr lvl="1"/>
            <a:r>
              <a:rPr lang="en-GB" dirty="0"/>
              <a:t>That represents a list or collection of data; or</a:t>
            </a:r>
          </a:p>
          <a:p>
            <a:pPr lvl="1"/>
            <a:r>
              <a:rPr lang="en-GB" dirty="0"/>
              <a:t>Isn’t being created by the SDK-generated CMS elements.</a:t>
            </a:r>
          </a:p>
          <a:p>
            <a:r>
              <a:rPr lang="en-GB" dirty="0"/>
              <a:t>There are two data providers:</a:t>
            </a:r>
          </a:p>
          <a:p>
            <a:pPr lvl="1"/>
            <a:r>
              <a:rPr lang="en-GB" dirty="0" err="1"/>
              <a:t>CmsStaticDataProvider</a:t>
            </a:r>
            <a:endParaRPr lang="en-GB" dirty="0"/>
          </a:p>
          <a:p>
            <a:pPr lvl="2"/>
            <a:r>
              <a:rPr lang="en-GB" dirty="0"/>
              <a:t>provides a mechanism to retrieve JSON resources relative to the location the SDK is initialised with, e.g. /content</a:t>
            </a:r>
          </a:p>
          <a:p>
            <a:pPr lvl="2"/>
            <a:r>
              <a:rPr lang="en-GB" dirty="0">
                <a:highlight>
                  <a:srgbClr val="FFFF00"/>
                </a:highlight>
              </a:rPr>
              <a:t>How is this better than fetch?</a:t>
            </a:r>
          </a:p>
          <a:p>
            <a:pPr lvl="1"/>
            <a:r>
              <a:rPr lang="en-GB" dirty="0" err="1"/>
              <a:t>CmsDynamicDataProvider</a:t>
            </a:r>
            <a:endParaRPr lang="en-GB" dirty="0"/>
          </a:p>
          <a:p>
            <a:pPr lvl="2"/>
            <a:r>
              <a:rPr lang="en-GB" dirty="0"/>
              <a:t>provides a mechanism to retrieve arbitrary content from Search G2.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40982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6B6D702-D77A-224E-B703-E4C5B022CAAC}"/>
              </a:ext>
            </a:extLst>
          </p:cNvPr>
          <p:cNvSpPr/>
          <p:nvPr/>
        </p:nvSpPr>
        <p:spPr>
          <a:xfrm>
            <a:off x="5511434" y="3459550"/>
            <a:ext cx="2244436" cy="1398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Search G2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75A61C-CB44-334D-B887-ED4A2FC6BE11}"/>
              </a:ext>
            </a:extLst>
          </p:cNvPr>
          <p:cNvSpPr/>
          <p:nvPr/>
        </p:nvSpPr>
        <p:spPr>
          <a:xfrm>
            <a:off x="5511434" y="1268016"/>
            <a:ext cx="2244436" cy="13980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dirty="0"/>
              <a:t>File system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D91DA1-86AB-1149-807A-F7AFE9633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Providers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47AE562-FD78-DA45-B30D-4EF7DA5426C6}"/>
              </a:ext>
            </a:extLst>
          </p:cNvPr>
          <p:cNvSpPr/>
          <p:nvPr/>
        </p:nvSpPr>
        <p:spPr>
          <a:xfrm>
            <a:off x="628650" y="1903620"/>
            <a:ext cx="2734227" cy="52899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CmsStaticDataProvider</a:t>
            </a:r>
            <a:endParaRPr lang="en-US" dirty="0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3BB9221-3320-4E42-9C6F-F1A9818BAA6D}"/>
              </a:ext>
            </a:extLst>
          </p:cNvPr>
          <p:cNvSpPr/>
          <p:nvPr/>
        </p:nvSpPr>
        <p:spPr>
          <a:xfrm>
            <a:off x="628650" y="4158575"/>
            <a:ext cx="2734226" cy="528992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CmsDynamicDataProvider</a:t>
            </a:r>
            <a:endParaRPr lang="en-US" dirty="0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06C0EC76-BF7F-8140-BE96-1D7CBABA33A5}"/>
              </a:ext>
            </a:extLst>
          </p:cNvPr>
          <p:cNvSpPr/>
          <p:nvPr/>
        </p:nvSpPr>
        <p:spPr>
          <a:xfrm>
            <a:off x="5681467" y="1903620"/>
            <a:ext cx="1904370" cy="52899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 Asset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3AA6E43-3B4A-9E4C-9326-520779103362}"/>
              </a:ext>
            </a:extLst>
          </p:cNvPr>
          <p:cNvSpPr/>
          <p:nvPr/>
        </p:nvSpPr>
        <p:spPr>
          <a:xfrm>
            <a:off x="5589522" y="3973899"/>
            <a:ext cx="1904370" cy="52899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 Asset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62F6D590-1281-A144-A825-E5F1B32E55F5}"/>
              </a:ext>
            </a:extLst>
          </p:cNvPr>
          <p:cNvCxnSpPr>
            <a:cxnSpLocks/>
            <a:stCxn id="13" idx="1"/>
            <a:endCxn id="4" idx="3"/>
          </p:cNvCxnSpPr>
          <p:nvPr/>
        </p:nvCxnSpPr>
        <p:spPr>
          <a:xfrm flipH="1">
            <a:off x="3362877" y="2168116"/>
            <a:ext cx="2318590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A0312C5-3915-6D49-B9B4-9A722EE1CBC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3362876" y="4423071"/>
            <a:ext cx="2318590" cy="0"/>
          </a:xfrm>
          <a:prstGeom prst="straightConnector1">
            <a:avLst/>
          </a:prstGeom>
          <a:ln w="190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088F229-D4D3-6841-8DD4-3C019E3CB984}"/>
              </a:ext>
            </a:extLst>
          </p:cNvPr>
          <p:cNvSpPr/>
          <p:nvPr/>
        </p:nvSpPr>
        <p:spPr>
          <a:xfrm>
            <a:off x="5667610" y="4051359"/>
            <a:ext cx="1904370" cy="52899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 Asset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B360B7E1-815F-CD41-8FA2-A6FC90EA38AA}"/>
              </a:ext>
            </a:extLst>
          </p:cNvPr>
          <p:cNvSpPr/>
          <p:nvPr/>
        </p:nvSpPr>
        <p:spPr>
          <a:xfrm>
            <a:off x="5745698" y="4151254"/>
            <a:ext cx="1904370" cy="528992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Content Asset</a:t>
            </a:r>
          </a:p>
        </p:txBody>
      </p:sp>
    </p:spTree>
    <p:extLst>
      <p:ext uri="{BB962C8B-B14F-4D97-AF65-F5344CB8AC3E}">
        <p14:creationId xmlns:p14="http://schemas.microsoft.com/office/powerpoint/2010/main" val="13951177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Props1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02D9395-AFC3-487A-B6C2-CB5B02E98255}"/>
</file>

<file path=customXml/itemProps3.xml><?xml version="1.0" encoding="utf-8"?>
<ds:datastoreItem xmlns:ds="http://schemas.openxmlformats.org/officeDocument/2006/customXml" ds:itemID="{4D8A7410-A7F7-4148-B700-E9738C1947C6}">
  <ds:schemaRefs>
    <ds:schemaRef ds:uri="http://purl.org/dc/terms/"/>
    <ds:schemaRef ds:uri="http://purl.org/dc/dcmitype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9f05f533-87d1-4f38-9402-182c267fffbc"/>
    <ds:schemaRef ds:uri="631082eb-fd3e-4e0d-a348-9c93b2e913b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41314</TotalTime>
  <Words>577</Words>
  <Application>Microsoft Macintosh PowerPoint</Application>
  <PresentationFormat>On-screen Show (16:9)</PresentationFormat>
  <Paragraphs>100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Crownpeak React SDK</vt:lpstr>
      <vt:lpstr>Introduction</vt:lpstr>
      <vt:lpstr>SDK Objectives</vt:lpstr>
      <vt:lpstr>Performance or flexibility?</vt:lpstr>
      <vt:lpstr>Search G2</vt:lpstr>
      <vt:lpstr>React SDK Elements</vt:lpstr>
      <vt:lpstr>CmsStaticPage</vt:lpstr>
      <vt:lpstr>CmsDynamicPage</vt:lpstr>
      <vt:lpstr>CmsComponent</vt:lpstr>
      <vt:lpstr>CmsFieldType</vt:lpstr>
      <vt:lpstr>Data Providers</vt:lpstr>
      <vt:lpstr>Data Providers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505</cp:revision>
  <dcterms:created xsi:type="dcterms:W3CDTF">2014-05-29T23:54:45Z</dcterms:created>
  <dcterms:modified xsi:type="dcterms:W3CDTF">2020-09-15T16:58:14Z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